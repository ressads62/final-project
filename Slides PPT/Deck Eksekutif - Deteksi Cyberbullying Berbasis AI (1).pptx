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4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970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Pembukaan. Posisikan ini sebagai briefing bisnis, bukan laporan teknis.</a:t>
            </a:r>
          </a:p>
          <a:p>
            <a:endParaRPr/>
          </a:p>
          <a:p>
            <a:r>
              <a:t>Katakan: "Kami diminta menjawab apakah interaksi online yang berbahaya bisa</a:t>
            </a:r>
          </a:p>
          <a:p>
            <a:r>
              <a:t>dideteksi secara otomatis dalam skala besar. Jawaban singkatnya bisa — kami sudah</a:t>
            </a:r>
          </a:p>
          <a:p>
            <a:r>
              <a:t>membangunnya, mengujinya pada 8.716 pesan yang belum pernah dilihat model, dan</a:t>
            </a:r>
          </a:p>
          <a:p>
            <a:r>
              <a:t>akurasinya 87,49%. Sisa deck ini menjelaskan bagaimana kami sampai di sana dan</a:t>
            </a:r>
          </a:p>
          <a:p>
            <a:r>
              <a:t>apa rekomendasi kami."</a:t>
            </a:r>
          </a:p>
          <a:p>
            <a:endParaRPr/>
          </a:p>
          <a:p>
            <a:r>
              <a:t>Jangan buka dengan dataset. Buka dengan keputusan yang Anda inginkan dari mereka.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 keseluruhan cerita dalam satu slide. Kalau mereka hanya membaca satu halaman,</a:t>
            </a:r>
          </a:p>
          <a:p>
            <a:r>
              <a:t>inilah halamannya.</a:t>
            </a:r>
          </a:p>
          <a:p>
            <a:endParaRPr/>
          </a:p>
          <a:p>
            <a:r>
              <a:t>Bacakan empat kotak dari kiri ke kanan — tantangan, temuan, hasil, peluang — lalu</a:t>
            </a:r>
          </a:p>
          <a:p>
            <a:r>
              <a:t>berhenti. Jangan menjelaskan metode di sini; slide 6 sampai 10 yang mengerjakannya.</a:t>
            </a:r>
          </a:p>
          <a:p>
            <a:endParaRPr/>
          </a:p>
          <a:p>
            <a:r>
              <a:t>Antisipasi pertanyaan: "Apakah 87,49% sudah cukup?" Jawabannya bergantung</a:t>
            </a:r>
          </a:p>
          <a:p>
            <a:r>
              <a:t>kategori, dan justru di situ kekuatan jujur model ini — 0,8843 sampai 0,9779 pada</a:t>
            </a:r>
          </a:p>
          <a:p>
            <a:r>
              <a:t>empat kategori berbasis identitas yang membawa risiko hukum. Rinciannya di slide 10.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Tujuan: menegaskan ini masalah bisnis, sebelum model disebut sama sekali.</a:t>
            </a:r>
          </a:p>
          <a:p>
            <a:endParaRPr/>
          </a:p>
          <a:p>
            <a:r>
              <a:t>Angka yang harus mendarat adalah 83,3%. Bahaya bukan kasus pinggiran — itu bagian</a:t>
            </a:r>
          </a:p>
          <a:p>
            <a:r>
              <a:t>terbesar dari arus yang ditandai.</a:t>
            </a:r>
          </a:p>
          <a:p>
            <a:endParaRPr/>
          </a:p>
          <a:p>
            <a:r>
              <a:t>Poin kedua yang harus dinyatakan eksplisit: kategorinya memetakan ke atribut yang</a:t>
            </a:r>
          </a:p>
          <a:p>
            <a:r>
              <a:t>dilindungi. Itulah yang memindahkan isu ini dari "community management" menjadi</a:t>
            </a:r>
          </a:p>
          <a:p>
            <a:r>
              <a:t>risiko hukum dan reputasi — alasan mengapa topik ini layak dibawa ke forum ini.</a:t>
            </a:r>
          </a:p>
          <a:p>
            <a:endParaRPr/>
          </a:p>
          <a:p>
            <a:r>
              <a:t>Jika ditanya soal volume produksi: jujur saja — 47.692 adalah korpus riset, bukan</a:t>
            </a:r>
          </a:p>
          <a:p>
            <a:r>
              <a:t>angka trafik harian. Telemetri produksi tidak masuk dalam scope.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 slide pivot. Cerita yang mudah adalah "volume terlalu besar untuk orang yang</a:t>
            </a:r>
          </a:p>
          <a:p>
            <a:r>
              <a:t>terlalu sedikit". Data bercerita lebih tajam: teks yang sama mendapat label berbeda</a:t>
            </a:r>
          </a:p>
          <a:p>
            <a:r>
              <a:t>sebanyak 1.639 kali.</a:t>
            </a:r>
          </a:p>
          <a:p>
            <a:endParaRPr/>
          </a:p>
          <a:p>
            <a:r>
              <a:t>Katakan terus terang: "Sebelum kita bertanya apakah mesin bisa akurat, perlu</a:t>
            </a:r>
          </a:p>
          <a:p>
            <a:r>
              <a:t>dicatat bahwa manusia pun tidak konsisten satu sama lain pada 6,9% korpus ini."</a:t>
            </a:r>
          </a:p>
          <a:p>
            <a:endParaRPr/>
          </a:p>
          <a:p>
            <a:r>
              <a:t>Ini membingkai ulang kelemahan model di slide 10 sebagai masalah pelabelan bersama,</a:t>
            </a:r>
          </a:p>
          <a:p>
            <a:r>
              <a:t>bukan cacat model — dan menyiapkan rekomendasi jangka menengah di slide 14.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singkat. Tugasnya menunjukkan disiplin penerjemahan: sasaran bisnis ke tujuan</a:t>
            </a:r>
          </a:p>
          <a:p>
            <a:r>
              <a:t>analitik ke pilihan teknis, dalam urutan itu.</a:t>
            </a:r>
          </a:p>
          <a:p>
            <a:endParaRPr/>
          </a:p>
          <a:p>
            <a:r>
              <a:t>Yang perlu diberi jeda adalah metriknya. Kalau nanti ada yang mempersoalkan model</a:t>
            </a:r>
          </a:p>
          <a:p>
            <a:r>
              <a:t>pada kategori lemah, jawabannya: kami memilih metrik yang menolak menyembunyikannya</a:t>
            </a:r>
          </a:p>
          <a:p>
            <a:r>
              <a:t>— kelemahan itu tidak kami temukan terlambat, evaluasinya memang dirancang untuk</a:t>
            </a:r>
          </a:p>
          <a:p>
            <a:r>
              <a:t>memunculkannya.</a:t>
            </a:r>
          </a:p>
          <a:p>
            <a:endParaRPr/>
          </a:p>
          <a:p>
            <a:r>
              <a:t>Catat juga kontrol kebocoran data: vectoriser di-fit hanya pada data train. Itu</a:t>
            </a:r>
          </a:p>
          <a:p>
            <a:r>
              <a:t>alasan angka 87,49% di slide 9 benar-benar out-of-sample.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Jangan bacakan ketujuh langkah. Telusuri funnel-nya dengan tangan: 47.692 masuk di</a:t>
            </a:r>
          </a:p>
          <a:p>
            <a:r>
              <a:t>kiri, satu artifact siap deploy keluar di kanan.</a:t>
            </a:r>
          </a:p>
          <a:p>
            <a:endParaRPr/>
          </a:p>
          <a:p>
            <a:r>
              <a:t>Dua kotak di bawah adalah kredibilitas seluruh deck ini:</a:t>
            </a:r>
          </a:p>
          <a:p>
            <a:r>
              <a:t>- atrisi 8,6%, diungkap dan bukan disembunyikan;</a:t>
            </a:r>
          </a:p>
          <a:p>
            <a:r>
              <a:t>- split sebelum fit, sehingga akurasinya benar-benar out-of-sample.</a:t>
            </a:r>
          </a:p>
          <a:p>
            <a:endParaRPr/>
          </a:p>
          <a:p>
            <a:r>
              <a:t>Kalau ada stakeholder teknis di ruangan, slide inilah yang akan mereka teliti.</a:t>
            </a:r>
          </a:p>
          <a:p>
            <a:r>
              <a:t>Kalau hanya eksekutif, cukup 30 detik di sini lalu lanjut.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Beri peringatan sebelum menampilkannya: kolom kata penanda memuat kata kasar dan</a:t>
            </a:r>
          </a:p>
          <a:p>
            <a:r>
              <a:t>rasial. Kata-kata itu ada di deck karena itulah buktinya — token inilah yang</a:t>
            </a:r>
          </a:p>
          <a:p>
            <a:r>
              <a:t>dijadikan pegangan model.</a:t>
            </a:r>
          </a:p>
          <a:p>
            <a:endParaRPr/>
          </a:p>
          <a:p>
            <a:r>
              <a:t>Dua temuan, dalam urutan ini:</a:t>
            </a:r>
          </a:p>
          <a:p>
            <a:r>
              <a:t>1. Setelah pembersihan kelasnya hampir seimbang (13,79% sampai 18,22%), jadi</a:t>
            </a:r>
          </a:p>
          <a:p>
            <a:r>
              <a:t>   akurasi tidak terdongkrak oleh satu kelas dominan.</a:t>
            </a:r>
          </a:p>
          <a:p>
            <a:r>
              <a:t>2. Panjang pesan saja sudah memisahkan berbahaya dari netral — 198 karakter untuk</a:t>
            </a:r>
          </a:p>
          <a:p>
            <a:r>
              <a:t>   religion versus 83 untuk netral. Pesan berbahaya diperdebatkan; pesan netral</a:t>
            </a:r>
          </a:p>
          <a:p>
            <a:r>
              <a:t>   sekadar lewat.</a:t>
            </a:r>
          </a:p>
          <a:p>
            <a:endParaRPr/>
          </a:p>
          <a:p>
            <a:r>
              <a:t>Temuan entitas biasanya yang paling memancing reaksi eksekutif: bahaya diarahkan ke</a:t>
            </a:r>
          </a:p>
          <a:p>
            <a:r>
              <a:t>orang dan organisasi bernama, bukan keluhan yang mengawang.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Pakai contoh yang tertera — itu baris nyata dari data, bukan ilustrasi.</a:t>
            </a:r>
          </a:p>
          <a:p>
            <a:endParaRPr/>
          </a:p>
          <a:p>
            <a:r>
              <a:t>Yang penting secara komersial adalah pilihan desain di bagian bawah. Naluri</a:t>
            </a:r>
          </a:p>
          <a:p>
            <a:r>
              <a:t>umumnya membuang kata kasar dan istilah identitas agar teks "bersih". Itu justru</a:t>
            </a:r>
          </a:p>
          <a:p>
            <a:r>
              <a:t>akan menghancurkan sinyalnya. Kami mempertahankannya dan hanya membuang noise.</a:t>
            </a:r>
          </a:p>
          <a:p>
            <a:endParaRPr/>
          </a:p>
          <a:p>
            <a:r>
              <a:t>Kalau ditanya mengapa "crapilicious" tetap dipertahankan: TF-IDF tidak butuh kamus.</a:t>
            </a:r>
          </a:p>
          <a:p>
            <a:r>
              <a:t>Kata baru pun tetap berbobot bila muncul bersama konteks berbahaya saat training.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Judulnya bukan "kami memilih model terbaik" — melainkan "tiga dari empat model</a:t>
            </a:r>
          </a:p>
          <a:p>
            <a:r>
              <a:t>sepakat", yang berarti hasil ini properti data, bukan keberuntungan memilih algoritma.</a:t>
            </a:r>
          </a:p>
          <a:p>
            <a:endParaRPr/>
          </a:p>
          <a:p>
            <a:r>
              <a:t>Naive Bayes adalah pembanding yang berguna: satu-satunya model yang asumsinya</a:t>
            </a:r>
          </a:p>
          <a:p>
            <a:r>
              <a:t>dilanggar oleh data, dan ia kehilangan 12,6 poin. Itu bukti fitur bigram memuat</a:t>
            </a:r>
          </a:p>
          <a:p>
            <a:r>
              <a:t>struktur saling bergantung yang nyata.</a:t>
            </a:r>
          </a:p>
          <a:p>
            <a:endParaRPr/>
          </a:p>
          <a:p>
            <a:r>
              <a:t>Penentu akhirnya praktis, bukan statistik: Logistic Regression memberi probabilitas,</a:t>
            </a:r>
          </a:p>
          <a:p>
            <a:r>
              <a:t>dan antrean berbasis threshold tidak bisa dibangun tanpa itu.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paling penting untuk kredibilitas. Mulai dari kelemahannya, baru bingkai ulang.</a:t>
            </a:r>
          </a:p>
          <a:p>
            <a:endParaRPr/>
          </a:p>
          <a:p>
            <a:r>
              <a:t>Katakan: "Akurasi keseluruhan 87,49%. Tapi rata-rata menyembunyikan fakta yang</a:t>
            </a:r>
          </a:p>
          <a:p>
            <a:r>
              <a:t>berguna. Pada empat kategori yang terkait atribut dilindungi, F1-nya 0,8843 sampai</a:t>
            </a:r>
          </a:p>
          <a:p>
            <a:r>
              <a:t>0,9779. Dua kategori yang lemah adalah not_cyberbullying dan other_cyberbullying —</a:t>
            </a:r>
          </a:p>
          <a:p>
            <a:r>
              <a:t>dan 44,4% dari seluruh error kami adalah model mengacaukan keduanya."</a:t>
            </a:r>
          </a:p>
          <a:p>
            <a:endParaRPr/>
          </a:p>
          <a:p>
            <a:r>
              <a:t>Lalu hubungkan ke slide 4: manusia berbeda pendapat pada batas yang sama sebanyak</a:t>
            </a:r>
          </a:p>
          <a:p>
            <a:r>
              <a:t>3.278 kali. "other_cyberbullying" adalah keranjang sisa, bukan konsep yang jelas —</a:t>
            </a:r>
          </a:p>
          <a:p>
            <a:r>
              <a:t>jadi solusinya label yang lebih baik, bukan model yang lebih besar. Itu tepat yang</a:t>
            </a:r>
          </a:p>
          <a:p>
            <a:r>
              <a:t>dibiayai oleh rekomendasi jangka menengah.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 bagian yang bisa Anda klaim dengan percaya diri: pipeline-nya bukan hanya</a:t>
            </a:r>
          </a:p>
          <a:p>
            <a:r>
              <a:t>terlatih, tetapi sudah berjalan sebagai aplikasi di Streamlit Community Cloud.</a:t>
            </a:r>
          </a:p>
          <a:p>
            <a:endParaRPr/>
          </a:p>
          <a:p>
            <a:r>
              <a:t>Yang paling penting untuk disebut: fungsi clean_text() yang sama dipakai saat</a:t>
            </a:r>
          </a:p>
          <a:p>
            <a:r>
              <a:t>training dan saat serving. Justru di titik itulah ML produksi paling sering rusak —</a:t>
            </a:r>
          </a:p>
          <a:p>
            <a:r>
              <a:t>model dilatih pada teks yang diproses satu cara, lalu dilayani dengan cara lain.</a:t>
            </a:r>
          </a:p>
          <a:p>
            <a:endParaRPr/>
          </a:p>
          <a:p>
            <a:r>
              <a:t>PERIKSA SEBELUM PRESENTASI: akses aplikasi saat ini masih privat, membuka URL-nya</a:t>
            </a:r>
          </a:p>
          <a:p>
            <a:r>
              <a:t>mengarah ke halaman login Streamlit. Ubah ke publik di pengaturan Streamlit Cloud,</a:t>
            </a:r>
          </a:p>
          <a:p>
            <a:r>
              <a:t>atau pastikan Anda sudah login di browser yang dipakai demo.</a:t>
            </a:r>
          </a:p>
          <a:p>
            <a:endParaRPr/>
          </a:p>
          <a:p>
            <a:r>
              <a:t>Satu catatan teknis yang layak disampaikan: modified_huber dipilih karena mendukung</a:t>
            </a:r>
          </a:p>
          <a:p>
            <a:r>
              <a:t>estimasi probabilitas. Itu yang memungkinkan threshold keyakinan di slide 14.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Masukkan screenshot-nya sebelum Anda mempresentasikan ini — cukup buka aplikasinya,</a:t>
            </a:r>
          </a:p>
          <a:p>
            <a:r>
              <a:t>masukkan satu pesan contoh, lalu tangkap layarnya. Membiarkan placeholder merah di</a:t>
            </a:r>
          </a:p>
          <a:p>
            <a:r>
              <a:t>depan jajaran manajemen akan melemahkan seluruh slide 11.</a:t>
            </a:r>
          </a:p>
          <a:p>
            <a:endParaRPr/>
          </a:p>
          <a:p>
            <a:r>
              <a:t>Kalau memungkinkan, demo langsung jauh lebih kuat daripada screenshot. Syaratnya</a:t>
            </a:r>
          </a:p>
          <a:p>
            <a:r>
              <a:t>akses aplikasi sudah diubah ke publik, dan siapkan satu pesan yang aman untuk</a:t>
            </a:r>
          </a:p>
          <a:p>
            <a:r>
              <a:t>diketik di depan forum.</a:t>
            </a:r>
          </a:p>
          <a:p>
            <a:endParaRPr/>
          </a:p>
          <a:p>
            <a:r>
              <a:t>Ketiga prediksi itu keluaran nyata dari model tersimpan, bukan rekaan. Bacakan yang</a:t>
            </a:r>
          </a:p>
          <a:p>
            <a:r>
              <a:t>tengah — "I hope everyone has a great day" menghasilkan not_cyberbullying adalah</a:t>
            </a:r>
          </a:p>
          <a:p>
            <a:r>
              <a:t>bukti model tidak menandai semuanya sebagai berbahaya.</a:t>
            </a:r>
          </a:p>
          <a:p>
            <a:endParaRPr/>
          </a:p>
          <a:p>
            <a:r>
              <a:t>Catatan jujur bila didesak: contoh pertama dan ketiga benar ditandai berbahaya,</a:t>
            </a:r>
          </a:p>
          <a:p>
            <a:r>
              <a:t>tetapi masuk ke other_cyberbullying alih-alih kategori spesifik — persis batas</a:t>
            </a:r>
          </a:p>
          <a:p>
            <a:r>
              <a:t>lemah yang dijelaskan di slide 10.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Antisipasi pertanyaan: "Berapa penghematannya?" Jawab sebelum ditanya, gunakan kotak</a:t>
            </a:r>
          </a:p>
          <a:p>
            <a:r>
              <a:t>merah. Kami tidak punya baseline biaya, jadi kami tidak akan mengarangnya.</a:t>
            </a:r>
          </a:p>
          <a:p>
            <a:endParaRPr/>
          </a:p>
          <a:p>
            <a:r>
              <a:t>Yang bisa kami pertahankan adalah pergeseran kapabilitas, dan itu isi tabelnya.</a:t>
            </a:r>
          </a:p>
          <a:p>
            <a:r>
              <a:t>Baris yang paling penting adalah Beban manusia: dari mereview 100% volume menjadi</a:t>
            </a:r>
          </a:p>
          <a:p>
            <a:r>
              <a:t>memutuskan 12,51%.</a:t>
            </a:r>
          </a:p>
          <a:p>
            <a:endParaRPr/>
          </a:p>
          <a:p>
            <a:r>
              <a:t>Kalau mereka tetap ingin angka penghematan, permintaan lanjutannya sederhana: beri</a:t>
            </a:r>
          </a:p>
          <a:p>
            <a:r>
              <a:t>kami jumlah reviewer, biaya per review dan throughput saat ini, dan kami bisa</a:t>
            </a:r>
          </a:p>
          <a:p>
            <a:r>
              <a:t>menyusunnya dalam sepekan.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Inilah slide yang sebenarnya Anda minta untuk disetujui.</a:t>
            </a:r>
          </a:p>
          <a:p>
            <a:endParaRPr/>
          </a:p>
          <a:p>
            <a:r>
              <a:t>Urutkan argumennya: langkah jangka pendek tidak butuh perubahan platform, karena</a:t>
            </a:r>
          </a:p>
          <a:p>
            <a:r>
              <a:t>model sudah terbungkus dan empat kategori kuatnya sudah cukup baik untuk dipakai</a:t>
            </a:r>
          </a:p>
          <a:p>
            <a:r>
              <a:t>sekarang.</a:t>
            </a:r>
          </a:p>
          <a:p>
            <a:endParaRPr/>
          </a:p>
          <a:p>
            <a:r>
              <a:t>Item jangka menengah yang paling perlu dipertahankan — melabeli ulang 3.278 baris</a:t>
            </a:r>
          </a:p>
          <a:p>
            <a:r>
              <a:t>terdengar tidak menarik dibanding "model yang lebih bagus". Bangun argumennya: 44,4%</a:t>
            </a:r>
          </a:p>
          <a:p>
            <a:r>
              <a:t>dari seluruh error ada di satu batas itu, jadi pelabelan adalah tempat paling murah</a:t>
            </a:r>
          </a:p>
          <a:p>
            <a:r>
              <a:t>untuk mendapat tambahan akurasi berikutnya.</a:t>
            </a:r>
          </a:p>
          <a:p>
            <a:endParaRPr/>
          </a:p>
          <a:p>
            <a:r>
              <a:t>Sampaikan sendiri keterbatasan bahasa Inggris-saja. Kalau platform ini melayani</a:t>
            </a:r>
          </a:p>
          <a:p>
            <a:r>
              <a:t>pengguna Indonesia, itu celah nyata dan lebih baik kita yang mengangkatnya daripada</a:t>
            </a:r>
          </a:p>
          <a:p>
            <a:r>
              <a:t>mereka yang menemukannya.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Tutup dengan permintaan, bukan dengan ringkasan. Tiga pesan itu rekapnya; strip</a:t>
            </a:r>
          </a:p>
          <a:p>
            <a:r>
              <a:t>kuning adalah keputusan yang Anda inginkan keluar dari ruangan ini.</a:t>
            </a:r>
          </a:p>
          <a:p>
            <a:endParaRPr/>
          </a:p>
          <a:p>
            <a:r>
              <a:t>Dua kalimat yang harus mendarat: "Analisisnya sudah selesai dan modelnya sudah</a:t>
            </a:r>
          </a:p>
          <a:p>
            <a:r>
              <a:t>terbungkus. Yang kami butuhkan dari Bapak/Ibu adalah persetujuan menjalankannya</a:t>
            </a:r>
          </a:p>
          <a:p>
            <a:r>
              <a:t>berdampingan dengan reviewer manusia pada empat kategori yang sudah kuat, dan</a:t>
            </a:r>
          </a:p>
          <a:p>
            <a:r>
              <a:t>anggaran pelabelan kecil untuk memperbaiki satu batas yang belum kuat."</a:t>
            </a:r>
          </a:p>
          <a:p>
            <a:endParaRPr/>
          </a:p>
          <a:p>
            <a:r>
              <a:t>Setelah itu berhenti bicara dan beri mereka ruang menanggapi.</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Lengkapi sebelum presentasi — nama placeholder di lampiran pun tetap terlihat.</a:t>
            </a:r>
          </a:p>
          <a:p>
            <a:endParaRPr/>
          </a:p>
          <a:p>
            <a:r>
              <a:t>Kalau waktu mepet, lewati slide ini saat sesi live dan tinggalkan sebagai halaman</a:t>
            </a:r>
          </a:p>
          <a:p>
            <a:r>
              <a:t>handout.</a:t>
            </a:r>
          </a:p>
          <a:p>
            <a:endParaRPr/>
          </a:p>
          <a:p>
            <a:r>
              <a:t>Layak disampaikan sekali bila ditanya soal kerapian metode: setiap angka dalam deck</a:t>
            </a:r>
          </a:p>
          <a:p>
            <a:r>
              <a:t>tertelusur ke sel notebook tertentu, dan notebook-nya berjalan dari awal sampai</a:t>
            </a:r>
          </a:p>
          <a:p>
            <a:r>
              <a:t>akhir tanpa intervensi manual.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cyberbullying-detector-thewizardgroup3.streamlit.app/"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cyberbullying-detector-thewizardgroup3.streamlit.ap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097280" y="-5120640"/>
            <a:ext cx="16230600" cy="7854696"/>
          </a:xfrm>
          <a:prstGeom prst="rect">
            <a:avLst/>
          </a:prstGeom>
        </p:spPr>
      </p:pic>
      <p:sp>
        <p:nvSpPr>
          <p:cNvPr id="3" name="Rounded Rectangle 2"/>
          <p:cNvSpPr/>
          <p:nvPr/>
        </p:nvSpPr>
        <p:spPr>
          <a:xfrm>
            <a:off x="822960" y="3017520"/>
            <a:ext cx="4937760" cy="329184"/>
          </a:xfrm>
          <a:prstGeom prst="roundRect">
            <a:avLst>
              <a:gd name="adj" fmla="val 42000"/>
            </a:avLst>
          </a:prstGeom>
          <a:solidFill>
            <a:srgbClr val="FFEC3D"/>
          </a:solidFill>
          <a:ln w="635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822960" y="3086100"/>
            <a:ext cx="4937760" cy="219456"/>
          </a:xfrm>
          <a:prstGeom prst="rect">
            <a:avLst/>
          </a:prstGeom>
          <a:noFill/>
        </p:spPr>
        <p:txBody>
          <a:bodyPr wrap="square" lIns="0" tIns="0" rIns="0" bIns="0" anchor="t">
            <a:spAutoFit/>
          </a:bodyPr>
          <a:lstStyle/>
          <a:p>
            <a:pPr algn="ctr">
              <a:lnSpc>
                <a:spcPct val="118000"/>
              </a:lnSpc>
            </a:pPr>
            <a:r>
              <a:rPr sz="1300" b="1" i="0">
                <a:solidFill>
                  <a:srgbClr val="0038BF"/>
                </a:solidFill>
                <a:latin typeface="Segoe UI"/>
              </a:rPr>
              <a:t>FINAL PROJECT  ·  DATA SCIENCE BATCH 62</a:t>
            </a:r>
          </a:p>
        </p:txBody>
      </p:sp>
      <p:sp>
        <p:nvSpPr>
          <p:cNvPr id="5" name="TextBox 4"/>
          <p:cNvSpPr txBox="1"/>
          <p:nvPr/>
        </p:nvSpPr>
        <p:spPr>
          <a:xfrm>
            <a:off x="822960" y="3584448"/>
            <a:ext cx="15179040" cy="2377440"/>
          </a:xfrm>
          <a:prstGeom prst="rect">
            <a:avLst/>
          </a:prstGeom>
          <a:noFill/>
        </p:spPr>
        <p:txBody>
          <a:bodyPr wrap="square" lIns="0" tIns="0" rIns="0" bIns="0" anchor="t">
            <a:spAutoFit/>
          </a:bodyPr>
          <a:lstStyle/>
          <a:p>
            <a:pPr algn="l">
              <a:lnSpc>
                <a:spcPct val="106000"/>
              </a:lnSpc>
            </a:pPr>
            <a:r>
              <a:rPr sz="4800" b="0" i="0">
                <a:solidFill>
                  <a:srgbClr val="FFFFFF"/>
                </a:solidFill>
                <a:latin typeface="Segoe UI Black"/>
              </a:rPr>
              <a:t>Membangun Sistem Deteksi Cyberbullying</a:t>
            </a:r>
          </a:p>
          <a:p>
            <a:pPr algn="l">
              <a:lnSpc>
                <a:spcPct val="106000"/>
              </a:lnSpc>
            </a:pPr>
            <a:r>
              <a:rPr sz="4800" b="0" i="0">
                <a:solidFill>
                  <a:srgbClr val="FFFFFF"/>
                </a:solidFill>
                <a:latin typeface="Segoe UI Black"/>
              </a:rPr>
              <a:t>Berbasis AI untuk Interaksi Digital</a:t>
            </a:r>
          </a:p>
          <a:p>
            <a:pPr algn="l">
              <a:lnSpc>
                <a:spcPct val="106000"/>
              </a:lnSpc>
            </a:pPr>
            <a:r>
              <a:rPr sz="4800" b="0" i="0">
                <a:solidFill>
                  <a:srgbClr val="FFFFFF"/>
                </a:solidFill>
                <a:latin typeface="Segoe UI Black"/>
              </a:rPr>
              <a:t>yang Lebih Aman</a:t>
            </a:r>
          </a:p>
        </p:txBody>
      </p:sp>
      <p:sp>
        <p:nvSpPr>
          <p:cNvPr id="7" name="Rectangle 6"/>
          <p:cNvSpPr/>
          <p:nvPr/>
        </p:nvSpPr>
        <p:spPr>
          <a:xfrm>
            <a:off x="822960" y="6967728"/>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822960" y="7269480"/>
            <a:ext cx="3931920" cy="237744"/>
          </a:xfrm>
          <a:prstGeom prst="rect">
            <a:avLst/>
          </a:prstGeom>
          <a:noFill/>
        </p:spPr>
        <p:txBody>
          <a:bodyPr wrap="square" lIns="0" tIns="0" rIns="0" bIns="0" anchor="t">
            <a:spAutoFit/>
          </a:bodyPr>
          <a:lstStyle/>
          <a:p>
            <a:pPr algn="l">
              <a:lnSpc>
                <a:spcPct val="118000"/>
              </a:lnSpc>
            </a:pPr>
            <a:r>
              <a:rPr sz="1150" b="1" i="0">
                <a:solidFill>
                  <a:srgbClr val="FFC629"/>
                </a:solidFill>
                <a:latin typeface="Segoe UI"/>
              </a:rPr>
              <a:t>PROYEK</a:t>
            </a:r>
          </a:p>
        </p:txBody>
      </p:sp>
      <p:sp>
        <p:nvSpPr>
          <p:cNvPr id="9" name="TextBox 8"/>
          <p:cNvSpPr txBox="1"/>
          <p:nvPr/>
        </p:nvSpPr>
        <p:spPr>
          <a:xfrm>
            <a:off x="822960" y="7571231"/>
            <a:ext cx="4023360" cy="1097280"/>
          </a:xfrm>
          <a:prstGeom prst="rect">
            <a:avLst/>
          </a:prstGeom>
          <a:noFill/>
        </p:spPr>
        <p:txBody>
          <a:bodyPr wrap="square" lIns="0" tIns="0" rIns="0" bIns="0" anchor="t">
            <a:spAutoFit/>
          </a:bodyPr>
          <a:lstStyle/>
          <a:p>
            <a:pPr algn="l">
              <a:lnSpc>
                <a:spcPct val="122000"/>
              </a:lnSpc>
            </a:pPr>
            <a:r>
              <a:rPr sz="1500" b="1" i="0">
                <a:solidFill>
                  <a:srgbClr val="FFFFFF"/>
                </a:solidFill>
                <a:latin typeface="Segoe UI"/>
              </a:rPr>
              <a:t>Sistem Klasifikasi Cyberbullying</a:t>
            </a:r>
          </a:p>
          <a:p>
            <a:pPr algn="l">
              <a:lnSpc>
                <a:spcPct val="122000"/>
              </a:lnSpc>
            </a:pPr>
            <a:r>
              <a:rPr sz="1500" b="1" i="0">
                <a:solidFill>
                  <a:srgbClr val="FFFFFF"/>
                </a:solidFill>
                <a:latin typeface="Segoe UI"/>
              </a:rPr>
              <a:t>Berbasis AI</a:t>
            </a:r>
          </a:p>
        </p:txBody>
      </p:sp>
      <p:sp>
        <p:nvSpPr>
          <p:cNvPr id="10" name="TextBox 9"/>
          <p:cNvSpPr txBox="1"/>
          <p:nvPr/>
        </p:nvSpPr>
        <p:spPr>
          <a:xfrm>
            <a:off x="4983480" y="7269480"/>
            <a:ext cx="3931920" cy="237744"/>
          </a:xfrm>
          <a:prstGeom prst="rect">
            <a:avLst/>
          </a:prstGeom>
          <a:noFill/>
        </p:spPr>
        <p:txBody>
          <a:bodyPr wrap="square" lIns="0" tIns="0" rIns="0" bIns="0" anchor="t">
            <a:spAutoFit/>
          </a:bodyPr>
          <a:lstStyle/>
          <a:p>
            <a:pPr algn="l">
              <a:lnSpc>
                <a:spcPct val="118000"/>
              </a:lnSpc>
            </a:pPr>
            <a:r>
              <a:rPr sz="1150" b="1" i="0">
                <a:solidFill>
                  <a:srgbClr val="FFC629"/>
                </a:solidFill>
                <a:latin typeface="Segoe UI"/>
              </a:rPr>
              <a:t>DISUSUN OLEH</a:t>
            </a:r>
          </a:p>
        </p:txBody>
      </p:sp>
      <p:sp>
        <p:nvSpPr>
          <p:cNvPr id="11" name="TextBox 10"/>
          <p:cNvSpPr txBox="1"/>
          <p:nvPr/>
        </p:nvSpPr>
        <p:spPr>
          <a:xfrm>
            <a:off x="4983480" y="7571231"/>
            <a:ext cx="4023360" cy="1097280"/>
          </a:xfrm>
          <a:prstGeom prst="rect">
            <a:avLst/>
          </a:prstGeom>
          <a:noFill/>
        </p:spPr>
        <p:txBody>
          <a:bodyPr wrap="square" lIns="0" tIns="0" rIns="0" bIns="0" anchor="t">
            <a:spAutoFit/>
          </a:bodyPr>
          <a:lstStyle/>
          <a:p>
            <a:pPr algn="l">
              <a:lnSpc>
                <a:spcPct val="122000"/>
              </a:lnSpc>
            </a:pPr>
            <a:r>
              <a:rPr sz="1500" b="1" i="0">
                <a:solidFill>
                  <a:srgbClr val="FFFFFF"/>
                </a:solidFill>
                <a:latin typeface="Segoe UI"/>
              </a:rPr>
              <a:t>Group 3 · Data Science Batch 62</a:t>
            </a:r>
          </a:p>
          <a:p>
            <a:pPr algn="l">
              <a:lnSpc>
                <a:spcPct val="122000"/>
              </a:lnSpc>
            </a:pPr>
            <a:r>
              <a:rPr sz="1500" b="1" i="0">
                <a:solidFill>
                  <a:srgbClr val="FFFFFF"/>
                </a:solidFill>
                <a:latin typeface="Segoe UI"/>
              </a:rPr>
              <a:t>[Anggota 1] · [Anggota 2]</a:t>
            </a:r>
          </a:p>
          <a:p>
            <a:pPr algn="l">
              <a:lnSpc>
                <a:spcPct val="122000"/>
              </a:lnSpc>
            </a:pPr>
            <a:r>
              <a:rPr sz="1500" b="1" i="0">
                <a:solidFill>
                  <a:srgbClr val="FFFFFF"/>
                </a:solidFill>
                <a:latin typeface="Segoe UI"/>
              </a:rPr>
              <a:t>[Anggota 3] · [Anggota 4]</a:t>
            </a:r>
          </a:p>
        </p:txBody>
      </p:sp>
      <p:sp>
        <p:nvSpPr>
          <p:cNvPr id="12" name="TextBox 11"/>
          <p:cNvSpPr txBox="1"/>
          <p:nvPr/>
        </p:nvSpPr>
        <p:spPr>
          <a:xfrm>
            <a:off x="9144000" y="7269480"/>
            <a:ext cx="3931920" cy="237744"/>
          </a:xfrm>
          <a:prstGeom prst="rect">
            <a:avLst/>
          </a:prstGeom>
          <a:noFill/>
        </p:spPr>
        <p:txBody>
          <a:bodyPr wrap="square" lIns="0" tIns="0" rIns="0" bIns="0" anchor="t">
            <a:spAutoFit/>
          </a:bodyPr>
          <a:lstStyle/>
          <a:p>
            <a:pPr algn="l">
              <a:lnSpc>
                <a:spcPct val="118000"/>
              </a:lnSpc>
            </a:pPr>
            <a:r>
              <a:rPr sz="1150" b="1" i="0" dirty="0">
                <a:solidFill>
                  <a:srgbClr val="FFC629"/>
                </a:solidFill>
                <a:latin typeface="Segoe UI"/>
              </a:rPr>
              <a:t>AUDIENS</a:t>
            </a:r>
          </a:p>
        </p:txBody>
      </p:sp>
      <p:sp>
        <p:nvSpPr>
          <p:cNvPr id="13" name="TextBox 12"/>
          <p:cNvSpPr txBox="1"/>
          <p:nvPr/>
        </p:nvSpPr>
        <p:spPr>
          <a:xfrm>
            <a:off x="9144000" y="7571231"/>
            <a:ext cx="4023360" cy="254750"/>
          </a:xfrm>
          <a:prstGeom prst="rect">
            <a:avLst/>
          </a:prstGeom>
          <a:noFill/>
        </p:spPr>
        <p:txBody>
          <a:bodyPr wrap="square" lIns="0" tIns="0" rIns="0" bIns="0" anchor="t">
            <a:spAutoFit/>
          </a:bodyPr>
          <a:lstStyle/>
          <a:p>
            <a:pPr algn="l">
              <a:lnSpc>
                <a:spcPct val="122000"/>
              </a:lnSpc>
            </a:pPr>
            <a:r>
              <a:rPr lang="en-US" sz="1500" b="1" i="0" dirty="0">
                <a:solidFill>
                  <a:srgbClr val="FFFFFF"/>
                </a:solidFill>
                <a:latin typeface="Segoe UI"/>
              </a:rPr>
              <a:t>xxx</a:t>
            </a:r>
            <a:endParaRPr sz="1500" b="1" i="0" dirty="0">
              <a:solidFill>
                <a:srgbClr val="FFFFFF"/>
              </a:solidFill>
              <a:latin typeface="Segoe UI"/>
            </a:endParaRPr>
          </a:p>
        </p:txBody>
      </p:sp>
      <p:sp>
        <p:nvSpPr>
          <p:cNvPr id="14" name="TextBox 13"/>
          <p:cNvSpPr txBox="1"/>
          <p:nvPr/>
        </p:nvSpPr>
        <p:spPr>
          <a:xfrm>
            <a:off x="13304520" y="7269480"/>
            <a:ext cx="3931920" cy="237744"/>
          </a:xfrm>
          <a:prstGeom prst="rect">
            <a:avLst/>
          </a:prstGeom>
          <a:noFill/>
        </p:spPr>
        <p:txBody>
          <a:bodyPr wrap="square" lIns="0" tIns="0" rIns="0" bIns="0" anchor="t">
            <a:spAutoFit/>
          </a:bodyPr>
          <a:lstStyle/>
          <a:p>
            <a:pPr algn="l">
              <a:lnSpc>
                <a:spcPct val="118000"/>
              </a:lnSpc>
            </a:pPr>
            <a:r>
              <a:rPr sz="1150" b="1" i="0">
                <a:solidFill>
                  <a:srgbClr val="FFC629"/>
                </a:solidFill>
                <a:latin typeface="Segoe UI"/>
              </a:rPr>
              <a:t>TANGGAL</a:t>
            </a:r>
          </a:p>
        </p:txBody>
      </p:sp>
      <p:sp>
        <p:nvSpPr>
          <p:cNvPr id="15" name="TextBox 14"/>
          <p:cNvSpPr txBox="1"/>
          <p:nvPr/>
        </p:nvSpPr>
        <p:spPr>
          <a:xfrm>
            <a:off x="13304520" y="7571231"/>
            <a:ext cx="4023360" cy="1097280"/>
          </a:xfrm>
          <a:prstGeom prst="rect">
            <a:avLst/>
          </a:prstGeom>
          <a:noFill/>
        </p:spPr>
        <p:txBody>
          <a:bodyPr wrap="square" lIns="0" tIns="0" rIns="0" bIns="0" anchor="t">
            <a:spAutoFit/>
          </a:bodyPr>
          <a:lstStyle/>
          <a:p>
            <a:pPr algn="l">
              <a:lnSpc>
                <a:spcPct val="122000"/>
              </a:lnSpc>
            </a:pPr>
            <a:r>
              <a:rPr sz="1500" b="1" i="0">
                <a:solidFill>
                  <a:srgbClr val="FFFFFF"/>
                </a:solidFill>
                <a:latin typeface="Segoe UI"/>
              </a:rPr>
              <a:t>10 September 2026</a:t>
            </a:r>
          </a:p>
        </p:txBody>
      </p:sp>
      <p:sp>
        <p:nvSpPr>
          <p:cNvPr id="16" name="TextBox 15"/>
          <p:cNvSpPr txBox="1"/>
          <p:nvPr/>
        </p:nvSpPr>
        <p:spPr>
          <a:xfrm>
            <a:off x="822960" y="9528048"/>
            <a:ext cx="15087600"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Disusun dari notebook proyek: Cyberbullying Tweet Classification (n = 47.692 pesan, 6 kategori bahaya).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RINGKASAN EKSEKUTIF</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Model klasifikasi AI memungkinkan deteksi interaksi</a:t>
            </a:r>
          </a:p>
          <a:p>
            <a:pPr algn="l">
              <a:lnSpc>
                <a:spcPct val="112000"/>
              </a:lnSpc>
            </a:pPr>
            <a:r>
              <a:rPr sz="3300" b="0" i="0">
                <a:solidFill>
                  <a:srgbClr val="FFFFFF"/>
                </a:solidFill>
                <a:latin typeface="Segoe UI Black"/>
              </a:rPr>
              <a:t>berbahaya secara scalable</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3927348" cy="512064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7" name="Picture 6" descr="card_header.png"/>
          <p:cNvPicPr>
            <a:picLocks noChangeAspect="1"/>
          </p:cNvPicPr>
          <p:nvPr/>
        </p:nvPicPr>
        <p:blipFill>
          <a:blip r:embed="rId4"/>
          <a:stretch>
            <a:fillRect/>
          </a:stretch>
        </p:blipFill>
        <p:spPr>
          <a:xfrm>
            <a:off x="822960" y="2644444"/>
            <a:ext cx="3927348" cy="402336"/>
          </a:xfrm>
          <a:prstGeom prst="rect">
            <a:avLst/>
          </a:prstGeom>
        </p:spPr>
      </p:pic>
      <p:sp>
        <p:nvSpPr>
          <p:cNvPr id="8" name="TextBox 7"/>
          <p:cNvSpPr txBox="1"/>
          <p:nvPr/>
        </p:nvSpPr>
        <p:spPr>
          <a:xfrm>
            <a:off x="1298448" y="2724912"/>
            <a:ext cx="3305556"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TANTANGAN BISNIS</a:t>
            </a:r>
          </a:p>
        </p:txBody>
      </p:sp>
      <p:sp>
        <p:nvSpPr>
          <p:cNvPr id="9" name="TextBox 8"/>
          <p:cNvSpPr txBox="1"/>
          <p:nvPr/>
        </p:nvSpPr>
        <p:spPr>
          <a:xfrm>
            <a:off x="1005840"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1</a:t>
            </a:r>
          </a:p>
        </p:txBody>
      </p:sp>
      <p:sp>
        <p:nvSpPr>
          <p:cNvPr id="10" name="TextBox 9"/>
          <p:cNvSpPr txBox="1"/>
          <p:nvPr/>
        </p:nvSpPr>
        <p:spPr>
          <a:xfrm>
            <a:off x="1097280" y="3273552"/>
            <a:ext cx="3378708" cy="731520"/>
          </a:xfrm>
          <a:prstGeom prst="rect">
            <a:avLst/>
          </a:prstGeom>
          <a:noFill/>
        </p:spPr>
        <p:txBody>
          <a:bodyPr wrap="square" lIns="0" tIns="0" rIns="0" bIns="0" anchor="t">
            <a:spAutoFit/>
          </a:bodyPr>
          <a:lstStyle/>
          <a:p>
            <a:pPr algn="l">
              <a:lnSpc>
                <a:spcPct val="118000"/>
              </a:lnSpc>
            </a:pPr>
            <a:r>
              <a:rPr sz="4000" b="0" i="0">
                <a:solidFill>
                  <a:srgbClr val="FFC629"/>
                </a:solidFill>
                <a:latin typeface="Segoe UI Black"/>
              </a:rPr>
              <a:t>83,3%</a:t>
            </a:r>
          </a:p>
        </p:txBody>
      </p:sp>
      <p:sp>
        <p:nvSpPr>
          <p:cNvPr id="11" name="TextBox 10"/>
          <p:cNvSpPr txBox="1"/>
          <p:nvPr/>
        </p:nvSpPr>
        <p:spPr>
          <a:xfrm>
            <a:off x="1097280" y="4005072"/>
            <a:ext cx="3378708"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PESAN YANG DIAUDIT MENGANDUNG BAHAYA</a:t>
            </a:r>
          </a:p>
        </p:txBody>
      </p:sp>
      <p:sp>
        <p:nvSpPr>
          <p:cNvPr id="12" name="Rectangle 11"/>
          <p:cNvSpPr/>
          <p:nvPr/>
        </p:nvSpPr>
        <p:spPr>
          <a:xfrm>
            <a:off x="1097280" y="4517136"/>
            <a:ext cx="3378708"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Rectangle 12"/>
          <p:cNvSpPr/>
          <p:nvPr/>
        </p:nvSpPr>
        <p:spPr>
          <a:xfrm>
            <a:off x="1097280"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316736" y="4700016"/>
            <a:ext cx="3159252" cy="569214"/>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47.692 pesan publik diaudit ke dalam 6 kategori bahaya.</a:t>
            </a:r>
          </a:p>
        </p:txBody>
      </p:sp>
      <p:sp>
        <p:nvSpPr>
          <p:cNvPr id="15" name="Rectangle 14"/>
          <p:cNvSpPr/>
          <p:nvPr/>
        </p:nvSpPr>
        <p:spPr>
          <a:xfrm>
            <a:off x="1097280" y="552983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316736" y="5433822"/>
            <a:ext cx="3159252" cy="569214"/>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Review manual per pesan tidak mampu mengimbangi volume tersebut.</a:t>
            </a:r>
          </a:p>
        </p:txBody>
      </p:sp>
      <p:sp>
        <p:nvSpPr>
          <p:cNvPr id="17" name="Rectangle 16"/>
          <p:cNvSpPr/>
          <p:nvPr/>
        </p:nvSpPr>
        <p:spPr>
          <a:xfrm>
            <a:off x="1097280" y="6263640"/>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316736" y="6167628"/>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Volume dan keragaman sekaligus membuat aturan keyword tetap tidak memadai.</a:t>
            </a:r>
          </a:p>
        </p:txBody>
      </p:sp>
      <p:sp>
        <p:nvSpPr>
          <p:cNvPr id="19" name="Rounded Rectangle 18"/>
          <p:cNvSpPr/>
          <p:nvPr/>
        </p:nvSpPr>
        <p:spPr>
          <a:xfrm>
            <a:off x="5061204" y="2633472"/>
            <a:ext cx="3927348" cy="512064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0" name="Picture 19" descr="card_header.png"/>
          <p:cNvPicPr>
            <a:picLocks noChangeAspect="1"/>
          </p:cNvPicPr>
          <p:nvPr/>
        </p:nvPicPr>
        <p:blipFill>
          <a:blip r:embed="rId4"/>
          <a:stretch>
            <a:fillRect/>
          </a:stretch>
        </p:blipFill>
        <p:spPr>
          <a:xfrm>
            <a:off x="5061204" y="2644444"/>
            <a:ext cx="3927348" cy="402336"/>
          </a:xfrm>
          <a:prstGeom prst="rect">
            <a:avLst/>
          </a:prstGeom>
        </p:spPr>
      </p:pic>
      <p:sp>
        <p:nvSpPr>
          <p:cNvPr id="21" name="TextBox 20"/>
          <p:cNvSpPr txBox="1"/>
          <p:nvPr/>
        </p:nvSpPr>
        <p:spPr>
          <a:xfrm>
            <a:off x="5536692" y="2724912"/>
            <a:ext cx="3305556"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TEMUAN DATA</a:t>
            </a:r>
          </a:p>
        </p:txBody>
      </p:sp>
      <p:sp>
        <p:nvSpPr>
          <p:cNvPr id="22" name="TextBox 21"/>
          <p:cNvSpPr txBox="1"/>
          <p:nvPr/>
        </p:nvSpPr>
        <p:spPr>
          <a:xfrm>
            <a:off x="5244084"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2</a:t>
            </a:r>
          </a:p>
        </p:txBody>
      </p:sp>
      <p:sp>
        <p:nvSpPr>
          <p:cNvPr id="23" name="TextBox 22"/>
          <p:cNvSpPr txBox="1"/>
          <p:nvPr/>
        </p:nvSpPr>
        <p:spPr>
          <a:xfrm>
            <a:off x="5335524" y="3273552"/>
            <a:ext cx="3378708" cy="731520"/>
          </a:xfrm>
          <a:prstGeom prst="rect">
            <a:avLst/>
          </a:prstGeom>
          <a:noFill/>
        </p:spPr>
        <p:txBody>
          <a:bodyPr wrap="square" lIns="0" tIns="0" rIns="0" bIns="0" anchor="t">
            <a:spAutoFit/>
          </a:bodyPr>
          <a:lstStyle/>
          <a:p>
            <a:pPr algn="l">
              <a:lnSpc>
                <a:spcPct val="118000"/>
              </a:lnSpc>
            </a:pPr>
            <a:r>
              <a:rPr sz="4000" b="0" i="0">
                <a:solidFill>
                  <a:srgbClr val="FFC629"/>
                </a:solidFill>
                <a:latin typeface="Segoe UI Black"/>
              </a:rPr>
              <a:t>6</a:t>
            </a:r>
          </a:p>
        </p:txBody>
      </p:sp>
      <p:sp>
        <p:nvSpPr>
          <p:cNvPr id="24" name="TextBox 23"/>
          <p:cNvSpPr txBox="1"/>
          <p:nvPr/>
        </p:nvSpPr>
        <p:spPr>
          <a:xfrm>
            <a:off x="5335524" y="4005072"/>
            <a:ext cx="3378708"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KATEGORI BAHAYA TERPISAH SECARA LINGUISTIK</a:t>
            </a:r>
          </a:p>
        </p:txBody>
      </p:sp>
      <p:sp>
        <p:nvSpPr>
          <p:cNvPr id="25" name="Rectangle 24"/>
          <p:cNvSpPr/>
          <p:nvPr/>
        </p:nvSpPr>
        <p:spPr>
          <a:xfrm>
            <a:off x="5335524" y="4517136"/>
            <a:ext cx="3378708"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5335524"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5554980" y="4700016"/>
            <a:ext cx="3159252" cy="569214"/>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Setiap kategori punya kosakata dan panjang pesan yang khas.</a:t>
            </a:r>
          </a:p>
        </p:txBody>
      </p:sp>
      <p:sp>
        <p:nvSpPr>
          <p:cNvPr id="28" name="Rectangle 27"/>
          <p:cNvSpPr/>
          <p:nvPr/>
        </p:nvSpPr>
        <p:spPr>
          <a:xfrm>
            <a:off x="5335524" y="552983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5554980" y="5433822"/>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Bahaya berbasis identitas rata-rata 198 karakter, versus 83 untuk konten netral.</a:t>
            </a:r>
          </a:p>
        </p:txBody>
      </p:sp>
      <p:sp>
        <p:nvSpPr>
          <p:cNvPr id="30" name="Rectangle 29"/>
          <p:cNvSpPr/>
          <p:nvPr/>
        </p:nvSpPr>
        <p:spPr>
          <a:xfrm>
            <a:off x="5335524" y="6493383"/>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5554980" y="6397371"/>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Bahaya diarahkan ke orang dan organisasi yang teridentifikasi, bukan keluhan umum.</a:t>
            </a:r>
          </a:p>
        </p:txBody>
      </p:sp>
      <p:sp>
        <p:nvSpPr>
          <p:cNvPr id="32" name="Rounded Rectangle 31"/>
          <p:cNvSpPr/>
          <p:nvPr/>
        </p:nvSpPr>
        <p:spPr>
          <a:xfrm>
            <a:off x="9299448" y="2633472"/>
            <a:ext cx="3927348" cy="512064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33" name="Picture 32" descr="card_header.png"/>
          <p:cNvPicPr>
            <a:picLocks noChangeAspect="1"/>
          </p:cNvPicPr>
          <p:nvPr/>
        </p:nvPicPr>
        <p:blipFill>
          <a:blip r:embed="rId4"/>
          <a:stretch>
            <a:fillRect/>
          </a:stretch>
        </p:blipFill>
        <p:spPr>
          <a:xfrm>
            <a:off x="9299448" y="2644444"/>
            <a:ext cx="3927348" cy="402336"/>
          </a:xfrm>
          <a:prstGeom prst="rect">
            <a:avLst/>
          </a:prstGeom>
        </p:spPr>
      </p:pic>
      <p:sp>
        <p:nvSpPr>
          <p:cNvPr id="34" name="TextBox 33"/>
          <p:cNvSpPr txBox="1"/>
          <p:nvPr/>
        </p:nvSpPr>
        <p:spPr>
          <a:xfrm>
            <a:off x="9774936" y="2724912"/>
            <a:ext cx="3305556"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HASIL MODEL</a:t>
            </a:r>
          </a:p>
        </p:txBody>
      </p:sp>
      <p:sp>
        <p:nvSpPr>
          <p:cNvPr id="35" name="TextBox 34"/>
          <p:cNvSpPr txBox="1"/>
          <p:nvPr/>
        </p:nvSpPr>
        <p:spPr>
          <a:xfrm>
            <a:off x="9482328"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3</a:t>
            </a:r>
          </a:p>
        </p:txBody>
      </p:sp>
      <p:sp>
        <p:nvSpPr>
          <p:cNvPr id="36" name="TextBox 35"/>
          <p:cNvSpPr txBox="1"/>
          <p:nvPr/>
        </p:nvSpPr>
        <p:spPr>
          <a:xfrm>
            <a:off x="9573768" y="3273552"/>
            <a:ext cx="3378708" cy="731520"/>
          </a:xfrm>
          <a:prstGeom prst="rect">
            <a:avLst/>
          </a:prstGeom>
          <a:noFill/>
        </p:spPr>
        <p:txBody>
          <a:bodyPr wrap="square" lIns="0" tIns="0" rIns="0" bIns="0" anchor="t">
            <a:spAutoFit/>
          </a:bodyPr>
          <a:lstStyle/>
          <a:p>
            <a:pPr algn="l">
              <a:lnSpc>
                <a:spcPct val="118000"/>
              </a:lnSpc>
            </a:pPr>
            <a:r>
              <a:rPr sz="4000" b="0" i="0">
                <a:solidFill>
                  <a:srgbClr val="FFC629"/>
                </a:solidFill>
                <a:latin typeface="Segoe UI Black"/>
              </a:rPr>
              <a:t>0,8604</a:t>
            </a:r>
          </a:p>
        </p:txBody>
      </p:sp>
      <p:sp>
        <p:nvSpPr>
          <p:cNvPr id="37" name="TextBox 36"/>
          <p:cNvSpPr txBox="1"/>
          <p:nvPr/>
        </p:nvSpPr>
        <p:spPr>
          <a:xfrm>
            <a:off x="9573768" y="4005072"/>
            <a:ext cx="3378708"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MACRO F1 PADA TEST SET</a:t>
            </a:r>
          </a:p>
        </p:txBody>
      </p:sp>
      <p:sp>
        <p:nvSpPr>
          <p:cNvPr id="38" name="Rectangle 37"/>
          <p:cNvSpPr/>
          <p:nvPr/>
        </p:nvSpPr>
        <p:spPr>
          <a:xfrm>
            <a:off x="9573768" y="4517136"/>
            <a:ext cx="3378708"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ectangle 38"/>
          <p:cNvSpPr/>
          <p:nvPr/>
        </p:nvSpPr>
        <p:spPr>
          <a:xfrm>
            <a:off x="9573768"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9793224" y="4700016"/>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Logistic Regression atas fitur TF-IDF: akurasi 87,49% pada 8.716 pesan baru.</a:t>
            </a:r>
          </a:p>
        </p:txBody>
      </p:sp>
      <p:sp>
        <p:nvSpPr>
          <p:cNvPr id="41" name="Rectangle 40"/>
          <p:cNvSpPr/>
          <p:nvPr/>
        </p:nvSpPr>
        <p:spPr>
          <a:xfrm>
            <a:off x="9573768" y="5759577"/>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9793224" y="5663565"/>
            <a:ext cx="3159252" cy="569214"/>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Stabil dalam ±0,004 macro F1 sepanjang 5 fold cross-validation.</a:t>
            </a:r>
          </a:p>
        </p:txBody>
      </p:sp>
      <p:sp>
        <p:nvSpPr>
          <p:cNvPr id="43" name="Rectangle 42"/>
          <p:cNvSpPr/>
          <p:nvPr/>
        </p:nvSpPr>
        <p:spPr>
          <a:xfrm>
            <a:off x="9573768" y="6493383"/>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9793224" y="6397371"/>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Tiga dari empat algoritma sepakat — hasil ini properti data, bukan model.</a:t>
            </a:r>
          </a:p>
        </p:txBody>
      </p:sp>
      <p:sp>
        <p:nvSpPr>
          <p:cNvPr id="45" name="Rounded Rectangle 44"/>
          <p:cNvSpPr/>
          <p:nvPr/>
        </p:nvSpPr>
        <p:spPr>
          <a:xfrm>
            <a:off x="13537692" y="2633472"/>
            <a:ext cx="3927348" cy="512064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46" name="Picture 45" descr="card_header.png"/>
          <p:cNvPicPr>
            <a:picLocks noChangeAspect="1"/>
          </p:cNvPicPr>
          <p:nvPr/>
        </p:nvPicPr>
        <p:blipFill>
          <a:blip r:embed="rId4"/>
          <a:stretch>
            <a:fillRect/>
          </a:stretch>
        </p:blipFill>
        <p:spPr>
          <a:xfrm>
            <a:off x="13537692" y="2644444"/>
            <a:ext cx="3927348" cy="402336"/>
          </a:xfrm>
          <a:prstGeom prst="rect">
            <a:avLst/>
          </a:prstGeom>
        </p:spPr>
      </p:pic>
      <p:sp>
        <p:nvSpPr>
          <p:cNvPr id="47" name="TextBox 46"/>
          <p:cNvSpPr txBox="1"/>
          <p:nvPr/>
        </p:nvSpPr>
        <p:spPr>
          <a:xfrm>
            <a:off x="14013180" y="2724912"/>
            <a:ext cx="3305556"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PELUANG BISNIS</a:t>
            </a:r>
          </a:p>
        </p:txBody>
      </p:sp>
      <p:sp>
        <p:nvSpPr>
          <p:cNvPr id="48" name="TextBox 47"/>
          <p:cNvSpPr txBox="1"/>
          <p:nvPr/>
        </p:nvSpPr>
        <p:spPr>
          <a:xfrm>
            <a:off x="13720572"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4</a:t>
            </a:r>
          </a:p>
        </p:txBody>
      </p:sp>
      <p:sp>
        <p:nvSpPr>
          <p:cNvPr id="49" name="TextBox 48"/>
          <p:cNvSpPr txBox="1"/>
          <p:nvPr/>
        </p:nvSpPr>
        <p:spPr>
          <a:xfrm>
            <a:off x="13812012" y="3273552"/>
            <a:ext cx="3378708" cy="731520"/>
          </a:xfrm>
          <a:prstGeom prst="rect">
            <a:avLst/>
          </a:prstGeom>
          <a:noFill/>
        </p:spPr>
        <p:txBody>
          <a:bodyPr wrap="square" lIns="0" tIns="0" rIns="0" bIns="0" anchor="t">
            <a:spAutoFit/>
          </a:bodyPr>
          <a:lstStyle/>
          <a:p>
            <a:pPr algn="l">
              <a:lnSpc>
                <a:spcPct val="118000"/>
              </a:lnSpc>
            </a:pPr>
            <a:r>
              <a:rPr sz="4000" b="0" i="0">
                <a:solidFill>
                  <a:srgbClr val="FFC629"/>
                </a:solidFill>
                <a:latin typeface="Segoe UI Black"/>
              </a:rPr>
              <a:t>95,43%</a:t>
            </a:r>
          </a:p>
        </p:txBody>
      </p:sp>
      <p:sp>
        <p:nvSpPr>
          <p:cNvPr id="50" name="TextBox 49"/>
          <p:cNvSpPr txBox="1"/>
          <p:nvPr/>
        </p:nvSpPr>
        <p:spPr>
          <a:xfrm>
            <a:off x="13812012" y="4005072"/>
            <a:ext cx="3378708"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AKURASI ROUTING SUB-KATEGORI</a:t>
            </a:r>
          </a:p>
        </p:txBody>
      </p:sp>
      <p:sp>
        <p:nvSpPr>
          <p:cNvPr id="51" name="Rectangle 50"/>
          <p:cNvSpPr/>
          <p:nvPr/>
        </p:nvSpPr>
        <p:spPr>
          <a:xfrm>
            <a:off x="13812012" y="4517136"/>
            <a:ext cx="3378708"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ectangle 51"/>
          <p:cNvSpPr/>
          <p:nvPr/>
        </p:nvSpPr>
        <p:spPr>
          <a:xfrm>
            <a:off x="13812012"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4031468" y="4700016"/>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Desain dua tahap mendeteksi bahaya pada 0,9405 F1, lalu merutekan sub-kategori.</a:t>
            </a:r>
          </a:p>
        </p:txBody>
      </p:sp>
      <p:sp>
        <p:nvSpPr>
          <p:cNvPr id="54" name="Rectangle 53"/>
          <p:cNvSpPr/>
          <p:nvPr/>
        </p:nvSpPr>
        <p:spPr>
          <a:xfrm>
            <a:off x="13812012" y="5759577"/>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4031468" y="5663565"/>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Otomatiskan kasus yang jelas; sisakan review manusia untuk 12,51% yang ambigu.</a:t>
            </a:r>
          </a:p>
        </p:txBody>
      </p:sp>
      <p:sp>
        <p:nvSpPr>
          <p:cNvPr id="56" name="Rectangle 55"/>
          <p:cNvSpPr/>
          <p:nvPr/>
        </p:nvSpPr>
        <p:spPr>
          <a:xfrm>
            <a:off x="13812012" y="6723126"/>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14031468" y="6627114"/>
            <a:ext cx="3159252" cy="798956"/>
          </a:xfrm>
          <a:prstGeom prst="rect">
            <a:avLst/>
          </a:prstGeom>
          <a:noFill/>
        </p:spPr>
        <p:txBody>
          <a:bodyPr wrap="square" lIns="0" tIns="0" rIns="0" bIns="0" anchor="t">
            <a:spAutoFit/>
          </a:bodyPr>
          <a:lstStyle/>
          <a:p>
            <a:pPr algn="l">
              <a:lnSpc>
                <a:spcPct val="124000"/>
              </a:lnSpc>
            </a:pPr>
            <a:r>
              <a:rPr sz="1350" b="0" i="0">
                <a:solidFill>
                  <a:srgbClr val="FFFFFF"/>
                </a:solidFill>
                <a:latin typeface="Segoe UI"/>
              </a:rPr>
              <a:t>Artifact sudah terbungkus — tidak perlu retraining untuk melayani prediksi.</a:t>
            </a:r>
          </a:p>
        </p:txBody>
      </p:sp>
      <p:sp>
        <p:nvSpPr>
          <p:cNvPr id="58" name="Rectangle 57"/>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ectangle 58"/>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PELUANG</a:t>
            </a:r>
          </a:p>
        </p:txBody>
      </p:sp>
      <p:sp>
        <p:nvSpPr>
          <p:cNvPr id="61" name="TextBox 60"/>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520" b="1" i="0">
                <a:solidFill>
                  <a:srgbClr val="FFFFFF"/>
                </a:solidFill>
                <a:latin typeface="Segoe UI"/>
              </a:rPr>
              <a:t>Otomatiskan kasus yang jelas dan eskalasikan hanya yang ambigu — review manusia difokuskan di titik yang benar-benar tidak bisa diputus model.</a:t>
            </a:r>
          </a:p>
        </p:txBody>
      </p:sp>
      <p:sp>
        <p:nvSpPr>
          <p:cNvPr id="62" name="TextBox 61"/>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Cyberbullying Tweet Classification, Final Project Data Science Batch 62. Seluruh angka terukur, tidak ada estimasi.</a:t>
            </a:r>
          </a:p>
        </p:txBody>
      </p:sp>
      <p:sp>
        <p:nvSpPr>
          <p:cNvPr id="63" name="TextBox 62"/>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SITUASI BISNIS · MENGAPA INI PENTING SEKARANG</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800" b="0" i="0">
                <a:solidFill>
                  <a:srgbClr val="FFFFFF"/>
                </a:solidFill>
                <a:latin typeface="Segoe UI Black"/>
              </a:rPr>
              <a:t>Pertumbuhan digital meningkatkan tantangan cyberbullying</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822960" y="2633472"/>
            <a:ext cx="3931920" cy="795528"/>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47.692</a:t>
            </a:r>
          </a:p>
        </p:txBody>
      </p:sp>
      <p:sp>
        <p:nvSpPr>
          <p:cNvPr id="7" name="TextBox 6"/>
          <p:cNvSpPr txBox="1"/>
          <p:nvPr/>
        </p:nvSpPr>
        <p:spPr>
          <a:xfrm>
            <a:off x="822960" y="3429000"/>
            <a:ext cx="3931920"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PESAN PUBLIK DIAUDIT</a:t>
            </a:r>
          </a:p>
        </p:txBody>
      </p:sp>
      <p:sp>
        <p:nvSpPr>
          <p:cNvPr id="8" name="TextBox 7"/>
          <p:cNvSpPr txBox="1"/>
          <p:nvPr/>
        </p:nvSpPr>
        <p:spPr>
          <a:xfrm>
            <a:off x="4983480" y="2633472"/>
            <a:ext cx="3931920" cy="795528"/>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83,3%</a:t>
            </a:r>
          </a:p>
        </p:txBody>
      </p:sp>
      <p:sp>
        <p:nvSpPr>
          <p:cNvPr id="9" name="TextBox 8"/>
          <p:cNvSpPr txBox="1"/>
          <p:nvPr/>
        </p:nvSpPr>
        <p:spPr>
          <a:xfrm>
            <a:off x="4983480" y="3429000"/>
            <a:ext cx="3931920"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MENGANDUNG BAHAYA TERIDENTIFIKASI</a:t>
            </a:r>
          </a:p>
        </p:txBody>
      </p:sp>
      <p:sp>
        <p:nvSpPr>
          <p:cNvPr id="10" name="TextBox 9"/>
          <p:cNvSpPr txBox="1"/>
          <p:nvPr/>
        </p:nvSpPr>
        <p:spPr>
          <a:xfrm>
            <a:off x="9144000" y="2633472"/>
            <a:ext cx="3931920" cy="795528"/>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6</a:t>
            </a:r>
          </a:p>
        </p:txBody>
      </p:sp>
      <p:sp>
        <p:nvSpPr>
          <p:cNvPr id="11" name="TextBox 10"/>
          <p:cNvSpPr txBox="1"/>
          <p:nvPr/>
        </p:nvSpPr>
        <p:spPr>
          <a:xfrm>
            <a:off x="9144000" y="3429000"/>
            <a:ext cx="3931920"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KATEGORI BAHAYA BERBEDA</a:t>
            </a:r>
          </a:p>
        </p:txBody>
      </p:sp>
      <p:sp>
        <p:nvSpPr>
          <p:cNvPr id="12" name="TextBox 11"/>
          <p:cNvSpPr txBox="1"/>
          <p:nvPr/>
        </p:nvSpPr>
        <p:spPr>
          <a:xfrm>
            <a:off x="13304519" y="2633472"/>
            <a:ext cx="3931920" cy="795528"/>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2,4x</a:t>
            </a:r>
          </a:p>
        </p:txBody>
      </p:sp>
      <p:sp>
        <p:nvSpPr>
          <p:cNvPr id="13" name="TextBox 12"/>
          <p:cNvSpPr txBox="1"/>
          <p:nvPr/>
        </p:nvSpPr>
        <p:spPr>
          <a:xfrm>
            <a:off x="13304519" y="3429000"/>
            <a:ext cx="3931920" cy="457200"/>
          </a:xfrm>
          <a:prstGeom prst="rect">
            <a:avLst/>
          </a:prstGeom>
          <a:noFill/>
        </p:spPr>
        <p:txBody>
          <a:bodyPr wrap="square" lIns="0" tIns="0" rIns="0" bIns="0" anchor="t">
            <a:spAutoFit/>
          </a:bodyPr>
          <a:lstStyle/>
          <a:p>
            <a:pPr algn="l">
              <a:lnSpc>
                <a:spcPct val="115000"/>
              </a:lnSpc>
            </a:pPr>
            <a:r>
              <a:rPr sz="1150" b="1" i="0">
                <a:solidFill>
                  <a:srgbClr val="C7D2EC"/>
                </a:solidFill>
                <a:latin typeface="Segoe UI"/>
              </a:rPr>
              <a:t>LEBIH PANJANG DARI KONTEN NETRAL</a:t>
            </a:r>
          </a:p>
        </p:txBody>
      </p:sp>
      <p:sp>
        <p:nvSpPr>
          <p:cNvPr id="14" name="Rectangle 13"/>
          <p:cNvSpPr/>
          <p:nvPr/>
        </p:nvSpPr>
        <p:spPr>
          <a:xfrm>
            <a:off x="822960" y="3931920"/>
            <a:ext cx="16642080"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ounded Rectangle 14"/>
          <p:cNvSpPr/>
          <p:nvPr/>
        </p:nvSpPr>
        <p:spPr>
          <a:xfrm>
            <a:off x="822960" y="4206240"/>
            <a:ext cx="7635240" cy="40233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6" name="Picture 15" descr="card_header.png"/>
          <p:cNvPicPr>
            <a:picLocks noChangeAspect="1"/>
          </p:cNvPicPr>
          <p:nvPr/>
        </p:nvPicPr>
        <p:blipFill>
          <a:blip r:embed="rId4"/>
          <a:stretch>
            <a:fillRect/>
          </a:stretch>
        </p:blipFill>
        <p:spPr>
          <a:xfrm>
            <a:off x="822960" y="4217212"/>
            <a:ext cx="7635240" cy="402336"/>
          </a:xfrm>
          <a:prstGeom prst="rect">
            <a:avLst/>
          </a:prstGeom>
        </p:spPr>
      </p:pic>
      <p:sp>
        <p:nvSpPr>
          <p:cNvPr id="17" name="TextBox 16"/>
          <p:cNvSpPr txBox="1"/>
          <p:nvPr/>
        </p:nvSpPr>
        <p:spPr>
          <a:xfrm>
            <a:off x="1024128" y="4297679"/>
            <a:ext cx="728776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SITUASI</a:t>
            </a:r>
          </a:p>
        </p:txBody>
      </p:sp>
      <p:sp>
        <p:nvSpPr>
          <p:cNvPr id="18" name="Rectangle 17"/>
          <p:cNvSpPr/>
          <p:nvPr/>
        </p:nvSpPr>
        <p:spPr>
          <a:xfrm>
            <a:off x="1115568" y="4997196"/>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1335024" y="4901184"/>
            <a:ext cx="6830568" cy="620268"/>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Volume: satu korpus berbahasa Inggris saja sudah memuat 47.692 pesan publik.</a:t>
            </a:r>
          </a:p>
        </p:txBody>
      </p:sp>
      <p:sp>
        <p:nvSpPr>
          <p:cNvPr id="20" name="Rectangle 19"/>
          <p:cNvSpPr/>
          <p:nvPr/>
        </p:nvSpPr>
        <p:spPr>
          <a:xfrm>
            <a:off x="1115568" y="5818632"/>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1335024" y="5722620"/>
            <a:ext cx="6830568" cy="620268"/>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Bahaya adalah hal umum, bukan pengecualian — 39.747 pesan (83,3%) mengandung bahaya teridentifikasi.</a:t>
            </a:r>
          </a:p>
        </p:txBody>
      </p:sp>
      <p:sp>
        <p:nvSpPr>
          <p:cNvPr id="22" name="Rectangle 21"/>
          <p:cNvSpPr/>
          <p:nvPr/>
        </p:nvSpPr>
        <p:spPr>
          <a:xfrm>
            <a:off x="1115568" y="664006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1335024" y="6544056"/>
            <a:ext cx="6830568" cy="620268"/>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Bahayanya beragam: religion, age, ethnicity dan gender masing-masing membentuk kategori tersendiri, di samping abuse umum.</a:t>
            </a:r>
          </a:p>
        </p:txBody>
      </p:sp>
      <p:sp>
        <p:nvSpPr>
          <p:cNvPr id="24" name="Isosceles Triangle 23"/>
          <p:cNvSpPr/>
          <p:nvPr/>
        </p:nvSpPr>
        <p:spPr>
          <a:xfrm rot="5400000">
            <a:off x="8951976" y="5943600"/>
            <a:ext cx="384048" cy="384048"/>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ounded Rectangle 24"/>
          <p:cNvSpPr/>
          <p:nvPr/>
        </p:nvSpPr>
        <p:spPr>
          <a:xfrm>
            <a:off x="9829800" y="4206240"/>
            <a:ext cx="7635240" cy="40233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6" name="Picture 25" descr="card_header.png"/>
          <p:cNvPicPr>
            <a:picLocks noChangeAspect="1"/>
          </p:cNvPicPr>
          <p:nvPr/>
        </p:nvPicPr>
        <p:blipFill>
          <a:blip r:embed="rId4"/>
          <a:stretch>
            <a:fillRect/>
          </a:stretch>
        </p:blipFill>
        <p:spPr>
          <a:xfrm>
            <a:off x="9829800" y="4217212"/>
            <a:ext cx="7635240" cy="402336"/>
          </a:xfrm>
          <a:prstGeom prst="rect">
            <a:avLst/>
          </a:prstGeom>
        </p:spPr>
      </p:pic>
      <p:sp>
        <p:nvSpPr>
          <p:cNvPr id="27" name="TextBox 26"/>
          <p:cNvSpPr txBox="1"/>
          <p:nvPr/>
        </p:nvSpPr>
        <p:spPr>
          <a:xfrm>
            <a:off x="10030968" y="4297679"/>
            <a:ext cx="728776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DAMPAK</a:t>
            </a:r>
          </a:p>
        </p:txBody>
      </p:sp>
      <p:sp>
        <p:nvSpPr>
          <p:cNvPr id="28" name="Rectangle 27"/>
          <p:cNvSpPr/>
          <p:nvPr/>
        </p:nvSpPr>
        <p:spPr>
          <a:xfrm>
            <a:off x="10122408" y="4997196"/>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10341864" y="4901184"/>
            <a:ext cx="6830568" cy="620268"/>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Setiap pesan berbahaya yang dibiarkan adalah interaksi tidak aman bagi pengguna nyata.</a:t>
            </a:r>
          </a:p>
        </p:txBody>
      </p:sp>
      <p:sp>
        <p:nvSpPr>
          <p:cNvPr id="30" name="Rectangle 29"/>
          <p:cNvSpPr/>
          <p:nvPr/>
        </p:nvSpPr>
        <p:spPr>
          <a:xfrm>
            <a:off x="10122408" y="5818632"/>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10341864" y="5722620"/>
            <a:ext cx="6830568" cy="620268"/>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Bahaya menyasar atribut yang dilindungi — agama, etnis, gender, usia — sehingga kualitas moderasi menjadi eksposur hukum dan reputasi.</a:t>
            </a:r>
          </a:p>
        </p:txBody>
      </p:sp>
      <p:sp>
        <p:nvSpPr>
          <p:cNvPr id="32" name="Rectangle 31"/>
          <p:cNvSpPr/>
          <p:nvPr/>
        </p:nvSpPr>
        <p:spPr>
          <a:xfrm>
            <a:off x="10122408" y="664006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10341864" y="6544056"/>
            <a:ext cx="6830568" cy="620268"/>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Volume dan keragaman sekaligus membuat tidak ada daftar keyword tetap yang mampu menutup seluruh permukaan masalah.</a:t>
            </a:r>
          </a:p>
        </p:txBody>
      </p:sp>
      <p:sp>
        <p:nvSpPr>
          <p:cNvPr id="34" name="Rectangle 33"/>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SITUASI → DAMPAK</a:t>
            </a:r>
          </a:p>
        </p:txBody>
      </p:sp>
      <p:sp>
        <p:nvSpPr>
          <p:cNvPr id="37" name="TextBox 36"/>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480" b="1" i="0">
                <a:solidFill>
                  <a:srgbClr val="FFFFFF"/>
                </a:solidFill>
                <a:latin typeface="Segoe UI"/>
              </a:rPr>
              <a:t>Konten berbahaya adalah mayoritas volume yang ditandai dan terkonsentrasi pada atribut yang dilindungi — eksposurnya struktural, bukan insidental.</a:t>
            </a:r>
          </a:p>
        </p:txBody>
      </p:sp>
      <p:sp>
        <p:nvSpPr>
          <p:cNvPr id="38" name="TextBox 37"/>
          <p:cNvSpPr txBox="1"/>
          <p:nvPr/>
        </p:nvSpPr>
        <p:spPr>
          <a:xfrm>
            <a:off x="822960" y="9427464"/>
            <a:ext cx="14996159" cy="237744"/>
          </a:xfrm>
          <a:prstGeom prst="rect">
            <a:avLst/>
          </a:prstGeom>
          <a:noFill/>
        </p:spPr>
        <p:txBody>
          <a:bodyPr wrap="square" lIns="0" tIns="0" rIns="0" bIns="0" anchor="t">
            <a:spAutoFit/>
          </a:bodyPr>
          <a:lstStyle/>
          <a:p>
            <a:pPr algn="l">
              <a:lnSpc>
                <a:spcPct val="118000"/>
              </a:lnSpc>
            </a:pPr>
            <a:r>
              <a:rPr sz="950" b="0" i="0">
                <a:solidFill>
                  <a:srgbClr val="8A99C4"/>
                </a:solidFill>
                <a:latin typeface="Segoe UI"/>
              </a:rPr>
              <a:t>1. 39.747 = 47.692 total pesan dikurangi 7.945 berlabel not_cyberbullying (16,66%).</a:t>
            </a:r>
          </a:p>
        </p:txBody>
      </p:sp>
      <p:sp>
        <p:nvSpPr>
          <p:cNvPr id="39" name="TextBox 38"/>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distribusi kelas data mentah (n = 47.692).</a:t>
            </a:r>
          </a:p>
        </p:txBody>
      </p:sp>
      <p:sp>
        <p:nvSpPr>
          <p:cNvPr id="40" name="TextBox 39"/>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DEFINISI MASALAH · MENGAPA PENDEKATAN SAAT INI GAGAL</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Pendekatan moderasi saat ini tidak mampu mengimbangi pertumbuhan konten</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16642080" cy="1225296"/>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52144" y="2834640"/>
            <a:ext cx="4206240" cy="310896"/>
          </a:xfrm>
          <a:prstGeom prst="rect">
            <a:avLst/>
          </a:prstGeom>
          <a:noFill/>
        </p:spPr>
        <p:txBody>
          <a:bodyPr wrap="square" lIns="0" tIns="0" rIns="0" bIns="0" anchor="t">
            <a:spAutoFit/>
          </a:bodyPr>
          <a:lstStyle/>
          <a:p>
            <a:pPr algn="l">
              <a:lnSpc>
                <a:spcPct val="118000"/>
              </a:lnSpc>
            </a:pPr>
            <a:r>
              <a:rPr sz="1500" b="1" i="0">
                <a:solidFill>
                  <a:srgbClr val="FFC629"/>
                </a:solidFill>
                <a:latin typeface="Segoe UI"/>
              </a:rPr>
              <a:t>SITUASI SAAT INI</a:t>
            </a:r>
          </a:p>
        </p:txBody>
      </p:sp>
      <p:sp>
        <p:nvSpPr>
          <p:cNvPr id="9" name="TextBox 8"/>
          <p:cNvSpPr txBox="1"/>
          <p:nvPr/>
        </p:nvSpPr>
        <p:spPr>
          <a:xfrm>
            <a:off x="5577840" y="2816352"/>
            <a:ext cx="11430000" cy="859536"/>
          </a:xfrm>
          <a:prstGeom prst="rect">
            <a:avLst/>
          </a:prstGeom>
          <a:noFill/>
        </p:spPr>
        <p:txBody>
          <a:bodyPr wrap="square" lIns="0" tIns="0" rIns="0" bIns="0" anchor="t">
            <a:spAutoFit/>
          </a:bodyPr>
          <a:lstStyle/>
          <a:p>
            <a:pPr algn="l">
              <a:lnSpc>
                <a:spcPct val="122000"/>
              </a:lnSpc>
            </a:pPr>
            <a:r>
              <a:rPr sz="1550" b="0" i="0">
                <a:solidFill>
                  <a:srgbClr val="FFFFFF"/>
                </a:solidFill>
                <a:latin typeface="Segoe UI"/>
              </a:rPr>
              <a:t>Setiap pesan dibaca dan dinilai satu per satu oleh reviewer manusia. Throughput dibatasi jumlah orang — dan 47.692 pesan itu satu korpus riset, bukan trafik produksi satu hari.</a:t>
            </a:r>
          </a:p>
        </p:txBody>
      </p:sp>
      <p:sp>
        <p:nvSpPr>
          <p:cNvPr id="10" name="Isosceles Triangle 9"/>
          <p:cNvSpPr/>
          <p:nvPr/>
        </p:nvSpPr>
        <p:spPr>
          <a:xfrm rot="10800000">
            <a:off x="2651760" y="3877055"/>
            <a:ext cx="329184" cy="329184"/>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ounded Rectangle 10"/>
          <p:cNvSpPr/>
          <p:nvPr/>
        </p:nvSpPr>
        <p:spPr>
          <a:xfrm>
            <a:off x="822960" y="4224528"/>
            <a:ext cx="16642080" cy="1225296"/>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1152144" y="4425696"/>
            <a:ext cx="4206240" cy="247825"/>
          </a:xfrm>
          <a:prstGeom prst="rect">
            <a:avLst/>
          </a:prstGeom>
          <a:noFill/>
        </p:spPr>
        <p:txBody>
          <a:bodyPr wrap="square" lIns="0" tIns="0" rIns="0" bIns="0" anchor="t">
            <a:spAutoFit/>
          </a:bodyPr>
          <a:lstStyle/>
          <a:p>
            <a:pPr algn="l">
              <a:lnSpc>
                <a:spcPct val="118000"/>
              </a:lnSpc>
            </a:pPr>
            <a:r>
              <a:rPr lang="en-US" sz="1500" b="1" i="0" dirty="0">
                <a:solidFill>
                  <a:srgbClr val="FFC629"/>
                </a:solidFill>
                <a:latin typeface="Segoe UI"/>
              </a:rPr>
              <a:t>BUSINESS IMPACT</a:t>
            </a:r>
            <a:endParaRPr sz="1500" b="1" i="0" dirty="0">
              <a:solidFill>
                <a:srgbClr val="FFC629"/>
              </a:solidFill>
              <a:latin typeface="Segoe UI"/>
            </a:endParaRPr>
          </a:p>
        </p:txBody>
      </p:sp>
      <p:sp>
        <p:nvSpPr>
          <p:cNvPr id="14" name="TextBox 13"/>
          <p:cNvSpPr txBox="1"/>
          <p:nvPr/>
        </p:nvSpPr>
        <p:spPr>
          <a:xfrm>
            <a:off x="5577840" y="4407408"/>
            <a:ext cx="11430000" cy="859536"/>
          </a:xfrm>
          <a:prstGeom prst="rect">
            <a:avLst/>
          </a:prstGeom>
          <a:noFill/>
        </p:spPr>
        <p:txBody>
          <a:bodyPr wrap="square" lIns="0" tIns="0" rIns="0" bIns="0" anchor="t">
            <a:spAutoFit/>
          </a:bodyPr>
          <a:lstStyle/>
          <a:p>
            <a:pPr algn="l">
              <a:lnSpc>
                <a:spcPct val="122000"/>
              </a:lnSpc>
            </a:pPr>
            <a:r>
              <a:rPr sz="1550" b="0" i="0">
                <a:solidFill>
                  <a:srgbClr val="FFFFFF"/>
                </a:solidFill>
                <a:latin typeface="Segoe UI"/>
              </a:rPr>
              <a:t>Penilaian manusia tidak konsisten. 1.639 teks yang identik menerima lebih dari satu label, memengaruhi 3.278 baris — 6,9% korpus ambigu bahkan bagi pelabelnya sendiri.</a:t>
            </a:r>
          </a:p>
        </p:txBody>
      </p:sp>
      <p:sp>
        <p:nvSpPr>
          <p:cNvPr id="15" name="Isosceles Triangle 14"/>
          <p:cNvSpPr/>
          <p:nvPr/>
        </p:nvSpPr>
        <p:spPr>
          <a:xfrm rot="10800000">
            <a:off x="2651760" y="5468112"/>
            <a:ext cx="329184" cy="329184"/>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ounded Rectangle 15"/>
          <p:cNvSpPr/>
          <p:nvPr/>
        </p:nvSpPr>
        <p:spPr>
          <a:xfrm>
            <a:off x="822960" y="5815584"/>
            <a:ext cx="16642080" cy="1225296"/>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152144" y="6016752"/>
            <a:ext cx="4206240" cy="310896"/>
          </a:xfrm>
          <a:prstGeom prst="rect">
            <a:avLst/>
          </a:prstGeom>
          <a:noFill/>
        </p:spPr>
        <p:txBody>
          <a:bodyPr wrap="square" lIns="0" tIns="0" rIns="0" bIns="0" anchor="t">
            <a:spAutoFit/>
          </a:bodyPr>
          <a:lstStyle/>
          <a:p>
            <a:pPr algn="l">
              <a:lnSpc>
                <a:spcPct val="118000"/>
              </a:lnSpc>
            </a:pPr>
            <a:r>
              <a:rPr sz="1500" b="1" i="0">
                <a:solidFill>
                  <a:srgbClr val="FFC629"/>
                </a:solidFill>
                <a:latin typeface="Segoe UI"/>
              </a:rPr>
              <a:t>DAMPAK</a:t>
            </a:r>
          </a:p>
        </p:txBody>
      </p:sp>
      <p:sp>
        <p:nvSpPr>
          <p:cNvPr id="19" name="TextBox 18"/>
          <p:cNvSpPr txBox="1"/>
          <p:nvPr/>
        </p:nvSpPr>
        <p:spPr>
          <a:xfrm>
            <a:off x="5577840" y="5998464"/>
            <a:ext cx="11430000" cy="859536"/>
          </a:xfrm>
          <a:prstGeom prst="rect">
            <a:avLst/>
          </a:prstGeom>
          <a:noFill/>
        </p:spPr>
        <p:txBody>
          <a:bodyPr wrap="square" lIns="0" tIns="0" rIns="0" bIns="0" anchor="t">
            <a:spAutoFit/>
          </a:bodyPr>
          <a:lstStyle/>
          <a:p>
            <a:pPr algn="l">
              <a:lnSpc>
                <a:spcPct val="122000"/>
              </a:lnSpc>
            </a:pPr>
            <a:r>
              <a:rPr sz="1550" b="0" i="0">
                <a:solidFill>
                  <a:srgbClr val="FFFFFF"/>
                </a:solidFill>
                <a:latin typeface="Segoe UI"/>
              </a:rPr>
              <a:t>4.114 pesan (8,6%) harus dibuang karena duplikat, berkonflik atau kosong sebelum modelling. Penegakan yang tidak konsisten adalah biaya operasional sekaligus risiko keadilan.</a:t>
            </a:r>
          </a:p>
        </p:txBody>
      </p:sp>
      <p:sp>
        <p:nvSpPr>
          <p:cNvPr id="20" name="TextBox 19"/>
          <p:cNvSpPr txBox="1"/>
          <p:nvPr/>
        </p:nvSpPr>
        <p:spPr>
          <a:xfrm>
            <a:off x="822960" y="7461504"/>
            <a:ext cx="3931920" cy="603504"/>
          </a:xfrm>
          <a:prstGeom prst="rect">
            <a:avLst/>
          </a:prstGeom>
          <a:noFill/>
        </p:spPr>
        <p:txBody>
          <a:bodyPr wrap="square" lIns="0" tIns="0" rIns="0" bIns="0" anchor="t">
            <a:spAutoFit/>
          </a:bodyPr>
          <a:lstStyle/>
          <a:p>
            <a:pPr algn="l">
              <a:lnSpc>
                <a:spcPct val="118000"/>
              </a:lnSpc>
            </a:pPr>
            <a:r>
              <a:rPr sz="3200" b="0" i="0">
                <a:solidFill>
                  <a:srgbClr val="FFC629"/>
                </a:solidFill>
                <a:latin typeface="Segoe UI Black"/>
              </a:rPr>
              <a:t>1.675</a:t>
            </a:r>
          </a:p>
        </p:txBody>
      </p:sp>
      <p:sp>
        <p:nvSpPr>
          <p:cNvPr id="21" name="TextBox 20"/>
          <p:cNvSpPr txBox="1"/>
          <p:nvPr/>
        </p:nvSpPr>
        <p:spPr>
          <a:xfrm>
            <a:off x="822960" y="8065008"/>
            <a:ext cx="3931920" cy="457200"/>
          </a:xfrm>
          <a:prstGeom prst="rect">
            <a:avLst/>
          </a:prstGeom>
          <a:noFill/>
        </p:spPr>
        <p:txBody>
          <a:bodyPr wrap="square" lIns="0" tIns="0" rIns="0" bIns="0" anchor="t">
            <a:spAutoFit/>
          </a:bodyPr>
          <a:lstStyle/>
          <a:p>
            <a:pPr algn="l">
              <a:lnSpc>
                <a:spcPct val="115000"/>
              </a:lnSpc>
            </a:pPr>
            <a:r>
              <a:rPr sz="1100" b="1" i="0">
                <a:solidFill>
                  <a:srgbClr val="C7D2EC"/>
                </a:solidFill>
                <a:latin typeface="Segoe UI"/>
              </a:rPr>
              <a:t>TEKS PESAN DUPLIKAT</a:t>
            </a:r>
          </a:p>
        </p:txBody>
      </p:sp>
      <p:sp>
        <p:nvSpPr>
          <p:cNvPr id="22" name="TextBox 21"/>
          <p:cNvSpPr txBox="1"/>
          <p:nvPr/>
        </p:nvSpPr>
        <p:spPr>
          <a:xfrm>
            <a:off x="4983480" y="7461504"/>
            <a:ext cx="3931920" cy="603504"/>
          </a:xfrm>
          <a:prstGeom prst="rect">
            <a:avLst/>
          </a:prstGeom>
          <a:noFill/>
        </p:spPr>
        <p:txBody>
          <a:bodyPr wrap="square" lIns="0" tIns="0" rIns="0" bIns="0" anchor="t">
            <a:spAutoFit/>
          </a:bodyPr>
          <a:lstStyle/>
          <a:p>
            <a:pPr algn="l">
              <a:lnSpc>
                <a:spcPct val="118000"/>
              </a:lnSpc>
            </a:pPr>
            <a:r>
              <a:rPr sz="3200" b="0" i="0">
                <a:solidFill>
                  <a:srgbClr val="FFC629"/>
                </a:solidFill>
                <a:latin typeface="Segoe UI Black"/>
              </a:rPr>
              <a:t>1.639</a:t>
            </a:r>
          </a:p>
        </p:txBody>
      </p:sp>
      <p:sp>
        <p:nvSpPr>
          <p:cNvPr id="23" name="TextBox 22"/>
          <p:cNvSpPr txBox="1"/>
          <p:nvPr/>
        </p:nvSpPr>
        <p:spPr>
          <a:xfrm>
            <a:off x="4983480" y="8065008"/>
            <a:ext cx="3931920" cy="457200"/>
          </a:xfrm>
          <a:prstGeom prst="rect">
            <a:avLst/>
          </a:prstGeom>
          <a:noFill/>
        </p:spPr>
        <p:txBody>
          <a:bodyPr wrap="square" lIns="0" tIns="0" rIns="0" bIns="0" anchor="t">
            <a:spAutoFit/>
          </a:bodyPr>
          <a:lstStyle/>
          <a:p>
            <a:pPr algn="l">
              <a:lnSpc>
                <a:spcPct val="115000"/>
              </a:lnSpc>
            </a:pPr>
            <a:r>
              <a:rPr sz="1100" b="1" i="0">
                <a:solidFill>
                  <a:srgbClr val="C7D2EC"/>
                </a:solidFill>
                <a:latin typeface="Segoe UI"/>
              </a:rPr>
              <a:t>TEKS BERLABEL KONFLIK</a:t>
            </a:r>
          </a:p>
        </p:txBody>
      </p:sp>
      <p:sp>
        <p:nvSpPr>
          <p:cNvPr id="24" name="TextBox 23"/>
          <p:cNvSpPr txBox="1"/>
          <p:nvPr/>
        </p:nvSpPr>
        <p:spPr>
          <a:xfrm>
            <a:off x="9144000" y="7461504"/>
            <a:ext cx="3931920" cy="603504"/>
          </a:xfrm>
          <a:prstGeom prst="rect">
            <a:avLst/>
          </a:prstGeom>
          <a:noFill/>
        </p:spPr>
        <p:txBody>
          <a:bodyPr wrap="square" lIns="0" tIns="0" rIns="0" bIns="0" anchor="t">
            <a:spAutoFit/>
          </a:bodyPr>
          <a:lstStyle/>
          <a:p>
            <a:pPr algn="l">
              <a:lnSpc>
                <a:spcPct val="118000"/>
              </a:lnSpc>
            </a:pPr>
            <a:r>
              <a:rPr sz="3200" b="0" i="0">
                <a:solidFill>
                  <a:srgbClr val="FFC629"/>
                </a:solidFill>
                <a:latin typeface="Segoe UI Black"/>
              </a:rPr>
              <a:t>3.278</a:t>
            </a:r>
          </a:p>
        </p:txBody>
      </p:sp>
      <p:sp>
        <p:nvSpPr>
          <p:cNvPr id="25" name="TextBox 24"/>
          <p:cNvSpPr txBox="1"/>
          <p:nvPr/>
        </p:nvSpPr>
        <p:spPr>
          <a:xfrm>
            <a:off x="9144000" y="8065008"/>
            <a:ext cx="3931920" cy="457200"/>
          </a:xfrm>
          <a:prstGeom prst="rect">
            <a:avLst/>
          </a:prstGeom>
          <a:noFill/>
        </p:spPr>
        <p:txBody>
          <a:bodyPr wrap="square" lIns="0" tIns="0" rIns="0" bIns="0" anchor="t">
            <a:spAutoFit/>
          </a:bodyPr>
          <a:lstStyle/>
          <a:p>
            <a:pPr algn="l">
              <a:lnSpc>
                <a:spcPct val="115000"/>
              </a:lnSpc>
            </a:pPr>
            <a:r>
              <a:rPr sz="1100" b="1" i="0">
                <a:solidFill>
                  <a:srgbClr val="C7D2EC"/>
                </a:solidFill>
                <a:latin typeface="Segoe UI"/>
              </a:rPr>
              <a:t>BARIS TERDAMPAK (6,9% KORPUS)</a:t>
            </a:r>
          </a:p>
        </p:txBody>
      </p:sp>
      <p:sp>
        <p:nvSpPr>
          <p:cNvPr id="26" name="TextBox 25"/>
          <p:cNvSpPr txBox="1"/>
          <p:nvPr/>
        </p:nvSpPr>
        <p:spPr>
          <a:xfrm>
            <a:off x="13304519" y="7461504"/>
            <a:ext cx="3931920" cy="603504"/>
          </a:xfrm>
          <a:prstGeom prst="rect">
            <a:avLst/>
          </a:prstGeom>
          <a:noFill/>
        </p:spPr>
        <p:txBody>
          <a:bodyPr wrap="square" lIns="0" tIns="0" rIns="0" bIns="0" anchor="t">
            <a:spAutoFit/>
          </a:bodyPr>
          <a:lstStyle/>
          <a:p>
            <a:pPr algn="l">
              <a:lnSpc>
                <a:spcPct val="118000"/>
              </a:lnSpc>
            </a:pPr>
            <a:r>
              <a:rPr sz="3200" b="0" i="0">
                <a:solidFill>
                  <a:srgbClr val="FFC629"/>
                </a:solidFill>
                <a:latin typeface="Segoe UI Black"/>
              </a:rPr>
              <a:t>4.114</a:t>
            </a:r>
          </a:p>
        </p:txBody>
      </p:sp>
      <p:sp>
        <p:nvSpPr>
          <p:cNvPr id="27" name="TextBox 26"/>
          <p:cNvSpPr txBox="1"/>
          <p:nvPr/>
        </p:nvSpPr>
        <p:spPr>
          <a:xfrm>
            <a:off x="13304519" y="8065008"/>
            <a:ext cx="3931920" cy="457200"/>
          </a:xfrm>
          <a:prstGeom prst="rect">
            <a:avLst/>
          </a:prstGeom>
          <a:noFill/>
        </p:spPr>
        <p:txBody>
          <a:bodyPr wrap="square" lIns="0" tIns="0" rIns="0" bIns="0" anchor="t">
            <a:spAutoFit/>
          </a:bodyPr>
          <a:lstStyle/>
          <a:p>
            <a:pPr algn="l">
              <a:lnSpc>
                <a:spcPct val="115000"/>
              </a:lnSpc>
            </a:pPr>
            <a:r>
              <a:rPr sz="1100" b="1" i="0">
                <a:solidFill>
                  <a:srgbClr val="C7D2EC"/>
                </a:solidFill>
                <a:latin typeface="Segoe UI"/>
              </a:rPr>
              <a:t>PESAN DIBUANG (8,6%)</a:t>
            </a:r>
          </a:p>
        </p:txBody>
      </p:sp>
      <p:sp>
        <p:nvSpPr>
          <p:cNvPr id="28" name="Rectangle 27"/>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DAMPAK</a:t>
            </a:r>
          </a:p>
        </p:txBody>
      </p:sp>
      <p:sp>
        <p:nvSpPr>
          <p:cNvPr id="31" name="TextBox 30"/>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550" b="1" i="0">
                <a:solidFill>
                  <a:srgbClr val="FFFFFF"/>
                </a:solidFill>
                <a:latin typeface="Segoe UI"/>
              </a:rPr>
              <a:t>Ketidaksepakatan reviewer — bukan kapasitas reviewer — adalah kendala utama; baseline otomatis yang konsisten adalah yang menghilangkannya.</a:t>
            </a:r>
          </a:p>
        </p:txBody>
      </p:sp>
      <p:sp>
        <p:nvSpPr>
          <p:cNvPr id="32" name="TextBox 31"/>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pemeriksaan kualitas data: analisis duplikat dan label conflict.</a:t>
            </a:r>
          </a:p>
        </p:txBody>
      </p:sp>
      <p:sp>
        <p:nvSpPr>
          <p:cNvPr id="33" name="TextBox 32"/>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TUJUAN ANALITIK · DARI SASARAN BISNIS KE DESAIN TEKNIS</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Tujuan analitik: membangun kapabilitas AI untuk deteksi otomatis</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4998720" cy="32004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7" name="Picture 6" descr="card_header.png"/>
          <p:cNvPicPr>
            <a:picLocks noChangeAspect="1"/>
          </p:cNvPicPr>
          <p:nvPr/>
        </p:nvPicPr>
        <p:blipFill>
          <a:blip r:embed="rId4"/>
          <a:stretch>
            <a:fillRect/>
          </a:stretch>
        </p:blipFill>
        <p:spPr>
          <a:xfrm>
            <a:off x="822960" y="2644444"/>
            <a:ext cx="4998720" cy="402336"/>
          </a:xfrm>
          <a:prstGeom prst="rect">
            <a:avLst/>
          </a:prstGeom>
        </p:spPr>
      </p:pic>
      <p:sp>
        <p:nvSpPr>
          <p:cNvPr id="8" name="TextBox 7"/>
          <p:cNvSpPr txBox="1"/>
          <p:nvPr/>
        </p:nvSpPr>
        <p:spPr>
          <a:xfrm>
            <a:off x="1024128" y="2724912"/>
            <a:ext cx="465124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SASARAN BISNIS</a:t>
            </a:r>
          </a:p>
        </p:txBody>
      </p:sp>
      <p:sp>
        <p:nvSpPr>
          <p:cNvPr id="9" name="TextBox 8"/>
          <p:cNvSpPr txBox="1"/>
          <p:nvPr/>
        </p:nvSpPr>
        <p:spPr>
          <a:xfrm>
            <a:off x="1115568" y="3346704"/>
            <a:ext cx="4413504" cy="1920240"/>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Mewujudkan interaksi digital yang lebih aman pada skala platform, tanpa menambah jumlah reviewer seiring pertumbuhan volume konten.</a:t>
            </a:r>
          </a:p>
        </p:txBody>
      </p:sp>
      <p:sp>
        <p:nvSpPr>
          <p:cNvPr id="10" name="Rectangle 9"/>
          <p:cNvSpPr/>
          <p:nvPr/>
        </p:nvSpPr>
        <p:spPr>
          <a:xfrm>
            <a:off x="1115568" y="5248656"/>
            <a:ext cx="4413504"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1115568" y="5394960"/>
            <a:ext cx="4413504" cy="274320"/>
          </a:xfrm>
          <a:prstGeom prst="rect">
            <a:avLst/>
          </a:prstGeom>
          <a:noFill/>
        </p:spPr>
        <p:txBody>
          <a:bodyPr wrap="square" lIns="0" tIns="0" rIns="0" bIns="0" anchor="t">
            <a:spAutoFit/>
          </a:bodyPr>
          <a:lstStyle/>
          <a:p>
            <a:pPr algn="l">
              <a:lnSpc>
                <a:spcPct val="118000"/>
              </a:lnSpc>
            </a:pPr>
            <a:r>
              <a:rPr sz="1350" b="1" i="0">
                <a:solidFill>
                  <a:srgbClr val="FFC629"/>
                </a:solidFill>
                <a:latin typeface="Segoe UI"/>
              </a:rPr>
              <a:t>Batasan: tanpa tambahan headcount</a:t>
            </a:r>
          </a:p>
        </p:txBody>
      </p:sp>
      <p:sp>
        <p:nvSpPr>
          <p:cNvPr id="12" name="Isosceles Triangle 11"/>
          <p:cNvSpPr/>
          <p:nvPr/>
        </p:nvSpPr>
        <p:spPr>
          <a:xfrm rot="5400000">
            <a:off x="6059424" y="4050791"/>
            <a:ext cx="347472" cy="347472"/>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Rounded Rectangle 12"/>
          <p:cNvSpPr/>
          <p:nvPr/>
        </p:nvSpPr>
        <p:spPr>
          <a:xfrm>
            <a:off x="6644640" y="2633472"/>
            <a:ext cx="4998720" cy="32004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4" name="Picture 13" descr="card_header.png"/>
          <p:cNvPicPr>
            <a:picLocks noChangeAspect="1"/>
          </p:cNvPicPr>
          <p:nvPr/>
        </p:nvPicPr>
        <p:blipFill>
          <a:blip r:embed="rId4"/>
          <a:stretch>
            <a:fillRect/>
          </a:stretch>
        </p:blipFill>
        <p:spPr>
          <a:xfrm>
            <a:off x="6644640" y="2644444"/>
            <a:ext cx="4998720" cy="402336"/>
          </a:xfrm>
          <a:prstGeom prst="rect">
            <a:avLst/>
          </a:prstGeom>
        </p:spPr>
      </p:pic>
      <p:sp>
        <p:nvSpPr>
          <p:cNvPr id="15" name="TextBox 14"/>
          <p:cNvSpPr txBox="1"/>
          <p:nvPr/>
        </p:nvSpPr>
        <p:spPr>
          <a:xfrm>
            <a:off x="6845808" y="2724912"/>
            <a:ext cx="465124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TUJUAN ANALITIK</a:t>
            </a:r>
          </a:p>
        </p:txBody>
      </p:sp>
      <p:sp>
        <p:nvSpPr>
          <p:cNvPr id="16" name="TextBox 15"/>
          <p:cNvSpPr txBox="1"/>
          <p:nvPr/>
        </p:nvSpPr>
        <p:spPr>
          <a:xfrm>
            <a:off x="6937248" y="3346704"/>
            <a:ext cx="4413504" cy="1920240"/>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Mengklasifikasikan setiap pesan ke salah satu dari 6 kategori bahaya. Metrik utama: macro F1, sehingga kategori kecil bernilai sama dengan kategori besar. Sukses berarti performa konsisten di keenam kelas — bukan angka akurasi yang terdengar bagus.</a:t>
            </a:r>
          </a:p>
        </p:txBody>
      </p:sp>
      <p:sp>
        <p:nvSpPr>
          <p:cNvPr id="17" name="Rectangle 16"/>
          <p:cNvSpPr/>
          <p:nvPr/>
        </p:nvSpPr>
        <p:spPr>
          <a:xfrm>
            <a:off x="6937248" y="5248656"/>
            <a:ext cx="4413504"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6937248" y="5394960"/>
            <a:ext cx="4413504" cy="274320"/>
          </a:xfrm>
          <a:prstGeom prst="rect">
            <a:avLst/>
          </a:prstGeom>
          <a:noFill/>
        </p:spPr>
        <p:txBody>
          <a:bodyPr wrap="square" lIns="0" tIns="0" rIns="0" bIns="0" anchor="t">
            <a:spAutoFit/>
          </a:bodyPr>
          <a:lstStyle/>
          <a:p>
            <a:pPr algn="l">
              <a:lnSpc>
                <a:spcPct val="118000"/>
              </a:lnSpc>
            </a:pPr>
            <a:r>
              <a:rPr sz="1350" b="1" i="0">
                <a:solidFill>
                  <a:srgbClr val="FFC629"/>
                </a:solidFill>
                <a:latin typeface="Segoe UI"/>
              </a:rPr>
              <a:t>Metrik utama: macro F1</a:t>
            </a:r>
          </a:p>
        </p:txBody>
      </p:sp>
      <p:sp>
        <p:nvSpPr>
          <p:cNvPr id="19" name="Isosceles Triangle 18"/>
          <p:cNvSpPr/>
          <p:nvPr/>
        </p:nvSpPr>
        <p:spPr>
          <a:xfrm rot="5400000">
            <a:off x="11881104" y="4050791"/>
            <a:ext cx="347472" cy="347472"/>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ounded Rectangle 19"/>
          <p:cNvSpPr/>
          <p:nvPr/>
        </p:nvSpPr>
        <p:spPr>
          <a:xfrm>
            <a:off x="12466320" y="2633472"/>
            <a:ext cx="4998720" cy="32004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1" name="Picture 20" descr="card_header.png"/>
          <p:cNvPicPr>
            <a:picLocks noChangeAspect="1"/>
          </p:cNvPicPr>
          <p:nvPr/>
        </p:nvPicPr>
        <p:blipFill>
          <a:blip r:embed="rId4"/>
          <a:stretch>
            <a:fillRect/>
          </a:stretch>
        </p:blipFill>
        <p:spPr>
          <a:xfrm>
            <a:off x="12466320" y="2644444"/>
            <a:ext cx="4998720" cy="402336"/>
          </a:xfrm>
          <a:prstGeom prst="rect">
            <a:avLst/>
          </a:prstGeom>
        </p:spPr>
      </p:pic>
      <p:sp>
        <p:nvSpPr>
          <p:cNvPr id="22" name="TextBox 21"/>
          <p:cNvSpPr txBox="1"/>
          <p:nvPr/>
        </p:nvSpPr>
        <p:spPr>
          <a:xfrm>
            <a:off x="12667488" y="2724912"/>
            <a:ext cx="465124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SOLUSI TEKNIS</a:t>
            </a:r>
          </a:p>
        </p:txBody>
      </p:sp>
      <p:sp>
        <p:nvSpPr>
          <p:cNvPr id="23" name="TextBox 22"/>
          <p:cNvSpPr txBox="1"/>
          <p:nvPr/>
        </p:nvSpPr>
        <p:spPr>
          <a:xfrm>
            <a:off x="12758928" y="3346704"/>
            <a:ext cx="4413504" cy="1920240"/>
          </a:xfrm>
          <a:prstGeom prst="rect">
            <a:avLst/>
          </a:prstGeom>
          <a:noFill/>
        </p:spPr>
        <p:txBody>
          <a:bodyPr wrap="square" lIns="0" tIns="0" rIns="0" bIns="0" anchor="t">
            <a:spAutoFit/>
          </a:bodyPr>
          <a:lstStyle/>
          <a:p>
            <a:pPr algn="l">
              <a:lnSpc>
                <a:spcPct val="124000"/>
              </a:lnSpc>
            </a:pPr>
            <a:r>
              <a:rPr sz="1500" b="0" i="0">
                <a:solidFill>
                  <a:srgbClr val="FFFFFF"/>
                </a:solidFill>
                <a:latin typeface="Segoe UI"/>
              </a:rPr>
              <a:t>Representasi TF-IDF (unigram + bigram, min_df 2, max_df 0,98, sublinear TF, 60.000 fitur) dengan classifier linear. Split stratified 80/20, vectoriser di-fit hanya pada data train, dan 5-fold stratified cross-validation untuk menguji kestabilan.</a:t>
            </a:r>
          </a:p>
        </p:txBody>
      </p:sp>
      <p:sp>
        <p:nvSpPr>
          <p:cNvPr id="24" name="Rectangle 23"/>
          <p:cNvSpPr/>
          <p:nvPr/>
        </p:nvSpPr>
        <p:spPr>
          <a:xfrm>
            <a:off x="12758928" y="5248656"/>
            <a:ext cx="4413504"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12758928" y="5394960"/>
            <a:ext cx="4413504" cy="274320"/>
          </a:xfrm>
          <a:prstGeom prst="rect">
            <a:avLst/>
          </a:prstGeom>
          <a:noFill/>
        </p:spPr>
        <p:txBody>
          <a:bodyPr wrap="square" lIns="0" tIns="0" rIns="0" bIns="0" anchor="t">
            <a:spAutoFit/>
          </a:bodyPr>
          <a:lstStyle/>
          <a:p>
            <a:pPr algn="l">
              <a:lnSpc>
                <a:spcPct val="118000"/>
              </a:lnSpc>
            </a:pPr>
            <a:r>
              <a:rPr sz="1350" b="1" i="0">
                <a:solidFill>
                  <a:srgbClr val="FFC629"/>
                </a:solidFill>
                <a:latin typeface="Segoe UI"/>
              </a:rPr>
              <a:t>60.000 fitur · 4 algoritma</a:t>
            </a:r>
          </a:p>
        </p:txBody>
      </p:sp>
      <p:sp>
        <p:nvSpPr>
          <p:cNvPr id="26" name="Rounded Rectangle 25"/>
          <p:cNvSpPr/>
          <p:nvPr/>
        </p:nvSpPr>
        <p:spPr>
          <a:xfrm>
            <a:off x="822960" y="6126479"/>
            <a:ext cx="8046720" cy="2084831"/>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822960" y="6126479"/>
            <a:ext cx="68580" cy="2084831"/>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1152144" y="6345936"/>
            <a:ext cx="4937760" cy="274320"/>
          </a:xfrm>
          <a:prstGeom prst="rect">
            <a:avLst/>
          </a:prstGeom>
          <a:noFill/>
        </p:spPr>
        <p:txBody>
          <a:bodyPr wrap="square" lIns="0" tIns="0" rIns="0" bIns="0" anchor="t">
            <a:spAutoFit/>
          </a:bodyPr>
          <a:lstStyle/>
          <a:p>
            <a:pPr algn="l">
              <a:lnSpc>
                <a:spcPct val="118000"/>
              </a:lnSpc>
            </a:pPr>
            <a:r>
              <a:rPr sz="1400" b="1" i="0">
                <a:solidFill>
                  <a:srgbClr val="FFC629"/>
                </a:solidFill>
                <a:latin typeface="Segoe UI"/>
              </a:rPr>
              <a:t>MENGAPA MACRO F1</a:t>
            </a:r>
          </a:p>
        </p:txBody>
      </p:sp>
      <p:sp>
        <p:nvSpPr>
          <p:cNvPr id="29" name="TextBox 28"/>
          <p:cNvSpPr txBox="1"/>
          <p:nvPr/>
        </p:nvSpPr>
        <p:spPr>
          <a:xfrm>
            <a:off x="1152144" y="6729983"/>
            <a:ext cx="7315200" cy="1280160"/>
          </a:xfrm>
          <a:prstGeom prst="rect">
            <a:avLst/>
          </a:prstGeom>
          <a:noFill/>
        </p:spPr>
        <p:txBody>
          <a:bodyPr wrap="square" lIns="0" tIns="0" rIns="0" bIns="0" anchor="t">
            <a:spAutoFit/>
          </a:bodyPr>
          <a:lstStyle/>
          <a:p>
            <a:pPr algn="l">
              <a:lnSpc>
                <a:spcPct val="122000"/>
              </a:lnSpc>
            </a:pPr>
            <a:r>
              <a:rPr sz="1550" b="0" i="0">
                <a:solidFill>
                  <a:srgbClr val="FFFFFF"/>
                </a:solidFill>
                <a:latin typeface="Segoe UI"/>
              </a:rPr>
              <a:t>Akurasi akan membuat model menumpang pada empat kategori besar yang mudah dan menyembunyikan kegagalan di dua kategori tersulit. Macro F1 memberi bobot sama ke setiap kategori, sehingga kategori yang paling sulit kami deteksi tetap terlihat di angka utama.</a:t>
            </a:r>
          </a:p>
        </p:txBody>
      </p:sp>
      <p:sp>
        <p:nvSpPr>
          <p:cNvPr id="30" name="Rounded Rectangle 29"/>
          <p:cNvSpPr/>
          <p:nvPr/>
        </p:nvSpPr>
        <p:spPr>
          <a:xfrm>
            <a:off x="9418320" y="6126479"/>
            <a:ext cx="8046720" cy="2084831"/>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9418320" y="6126479"/>
            <a:ext cx="68580" cy="2084831"/>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9747504" y="6345936"/>
            <a:ext cx="6217920" cy="274320"/>
          </a:xfrm>
          <a:prstGeom prst="rect">
            <a:avLst/>
          </a:prstGeom>
          <a:noFill/>
        </p:spPr>
        <p:txBody>
          <a:bodyPr wrap="square" lIns="0" tIns="0" rIns="0" bIns="0" anchor="t">
            <a:spAutoFit/>
          </a:bodyPr>
          <a:lstStyle/>
          <a:p>
            <a:pPr algn="l">
              <a:lnSpc>
                <a:spcPct val="118000"/>
              </a:lnSpc>
            </a:pPr>
            <a:r>
              <a:rPr sz="1400" b="1" i="0">
                <a:solidFill>
                  <a:srgbClr val="FFC629"/>
                </a:solidFill>
                <a:latin typeface="Segoe UI"/>
              </a:rPr>
              <a:t>BAGAIMANA SUKSES DIDEFINISIKAN</a:t>
            </a:r>
          </a:p>
        </p:txBody>
      </p:sp>
      <p:sp>
        <p:nvSpPr>
          <p:cNvPr id="33" name="TextBox 32"/>
          <p:cNvSpPr txBox="1"/>
          <p:nvPr/>
        </p:nvSpPr>
        <p:spPr>
          <a:xfrm>
            <a:off x="9747504" y="6729983"/>
            <a:ext cx="7315200" cy="1280160"/>
          </a:xfrm>
          <a:prstGeom prst="rect">
            <a:avLst/>
          </a:prstGeom>
          <a:noFill/>
        </p:spPr>
        <p:txBody>
          <a:bodyPr wrap="square" lIns="0" tIns="0" rIns="0" bIns="0" anchor="t">
            <a:spAutoFit/>
          </a:bodyPr>
          <a:lstStyle/>
          <a:p>
            <a:pPr algn="l">
              <a:lnSpc>
                <a:spcPct val="122000"/>
              </a:lnSpc>
            </a:pPr>
            <a:r>
              <a:rPr sz="1550" b="0" i="0">
                <a:solidFill>
                  <a:srgbClr val="FFFFFF"/>
                </a:solidFill>
                <a:latin typeface="Segoe UI"/>
              </a:rPr>
              <a:t>F1 yang konsisten di keenam kategori pada test set yang belum pernah dilihat model, dikonfirmasi dengan 5-fold cross-validation — bukan satu angka akurasi yang menyanjung. Test set hanya disentuh sekali, di akhir.</a:t>
            </a:r>
          </a:p>
        </p:txBody>
      </p:sp>
      <p:sp>
        <p:nvSpPr>
          <p:cNvPr id="34" name="Rectangle 33"/>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PRINSIP DESAIN</a:t>
            </a:r>
          </a:p>
        </p:txBody>
      </p:sp>
      <p:sp>
        <p:nvSpPr>
          <p:cNvPr id="37" name="TextBox 36"/>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Metrik ditetapkan sebelum model — macro F1 membuat kategori sulit tetap terlihat, bukan terhapus oleh rata-rata.</a:t>
            </a:r>
          </a:p>
        </p:txBody>
      </p:sp>
      <p:sp>
        <p:nvSpPr>
          <p:cNvPr id="38" name="TextBox 37"/>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desain eksperimen dan konfigurasi TF-IDF.</a:t>
            </a:r>
          </a:p>
        </p:txBody>
      </p:sp>
      <p:sp>
        <p:nvSpPr>
          <p:cNvPr id="39" name="TextBox 38"/>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PIPELINE DATA · DARI TEKS MENTAH KE MACHINE INTELLIGENCE</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Pipeline data mengubah teks mentah menjadi machine intelligence</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Chevron 5"/>
          <p:cNvSpPr/>
          <p:nvPr/>
        </p:nvSpPr>
        <p:spPr>
          <a:xfrm>
            <a:off x="822960"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133856"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01</a:t>
            </a:r>
          </a:p>
        </p:txBody>
      </p:sp>
      <p:sp>
        <p:nvSpPr>
          <p:cNvPr id="8" name="TextBox 7"/>
          <p:cNvSpPr txBox="1"/>
          <p:nvPr/>
        </p:nvSpPr>
        <p:spPr>
          <a:xfrm>
            <a:off x="1133856"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DATA MENTAH</a:t>
            </a:r>
          </a:p>
        </p:txBody>
      </p:sp>
      <p:sp>
        <p:nvSpPr>
          <p:cNvPr id="9" name="TextBox 8"/>
          <p:cNvSpPr txBox="1"/>
          <p:nvPr/>
        </p:nvSpPr>
        <p:spPr>
          <a:xfrm>
            <a:off x="1133856"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47.692</a:t>
            </a:r>
          </a:p>
        </p:txBody>
      </p:sp>
      <p:sp>
        <p:nvSpPr>
          <p:cNvPr id="10" name="TextBox 9"/>
          <p:cNvSpPr txBox="1"/>
          <p:nvPr/>
        </p:nvSpPr>
        <p:spPr>
          <a:xfrm>
            <a:off x="1133856"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2 kolom, tanpa missing value.</a:t>
            </a:r>
          </a:p>
        </p:txBody>
      </p:sp>
      <p:sp>
        <p:nvSpPr>
          <p:cNvPr id="11" name="Chevron 10"/>
          <p:cNvSpPr/>
          <p:nvPr/>
        </p:nvSpPr>
        <p:spPr>
          <a:xfrm>
            <a:off x="3182112"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3493008"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02</a:t>
            </a:r>
          </a:p>
        </p:txBody>
      </p:sp>
      <p:sp>
        <p:nvSpPr>
          <p:cNvPr id="13" name="TextBox 12"/>
          <p:cNvSpPr txBox="1"/>
          <p:nvPr/>
        </p:nvSpPr>
        <p:spPr>
          <a:xfrm>
            <a:off x="3493008"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PEMBERSIHAN DATA</a:t>
            </a:r>
          </a:p>
        </p:txBody>
      </p:sp>
      <p:sp>
        <p:nvSpPr>
          <p:cNvPr id="14" name="TextBox 13"/>
          <p:cNvSpPr txBox="1"/>
          <p:nvPr/>
        </p:nvSpPr>
        <p:spPr>
          <a:xfrm>
            <a:off x="3493008"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44.378</a:t>
            </a:r>
          </a:p>
        </p:txBody>
      </p:sp>
      <p:sp>
        <p:nvSpPr>
          <p:cNvPr id="15" name="TextBox 14"/>
          <p:cNvSpPr txBox="1"/>
          <p:nvPr/>
        </p:nvSpPr>
        <p:spPr>
          <a:xfrm>
            <a:off x="3493008"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36 duplikat persis dan 1.639 teks berkonflik dibuang.</a:t>
            </a:r>
          </a:p>
        </p:txBody>
      </p:sp>
      <p:sp>
        <p:nvSpPr>
          <p:cNvPr id="16" name="Chevron 15"/>
          <p:cNvSpPr/>
          <p:nvPr/>
        </p:nvSpPr>
        <p:spPr>
          <a:xfrm>
            <a:off x="5541264"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5852160"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03</a:t>
            </a:r>
          </a:p>
        </p:txBody>
      </p:sp>
      <p:sp>
        <p:nvSpPr>
          <p:cNvPr id="18" name="TextBox 17"/>
          <p:cNvSpPr txBox="1"/>
          <p:nvPr/>
        </p:nvSpPr>
        <p:spPr>
          <a:xfrm>
            <a:off x="5852160"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PREPROCESSING TEKS</a:t>
            </a:r>
          </a:p>
        </p:txBody>
      </p:sp>
      <p:sp>
        <p:nvSpPr>
          <p:cNvPr id="19" name="TextBox 18"/>
          <p:cNvSpPr txBox="1"/>
          <p:nvPr/>
        </p:nvSpPr>
        <p:spPr>
          <a:xfrm>
            <a:off x="5852160"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43.732</a:t>
            </a:r>
          </a:p>
        </p:txBody>
      </p:sp>
      <p:sp>
        <p:nvSpPr>
          <p:cNvPr id="20" name="TextBox 19"/>
          <p:cNvSpPr txBox="1"/>
          <p:nvPr/>
        </p:nvSpPr>
        <p:spPr>
          <a:xfrm>
            <a:off x="5852160"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Lowercase; URL, mention dan token RT dibuang; isi hashtag dipertahankan.</a:t>
            </a:r>
          </a:p>
        </p:txBody>
      </p:sp>
      <p:sp>
        <p:nvSpPr>
          <p:cNvPr id="21" name="Chevron 20"/>
          <p:cNvSpPr/>
          <p:nvPr/>
        </p:nvSpPr>
        <p:spPr>
          <a:xfrm>
            <a:off x="7900416"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8211312"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04</a:t>
            </a:r>
          </a:p>
        </p:txBody>
      </p:sp>
      <p:sp>
        <p:nvSpPr>
          <p:cNvPr id="23" name="TextBox 22"/>
          <p:cNvSpPr txBox="1"/>
          <p:nvPr/>
        </p:nvSpPr>
        <p:spPr>
          <a:xfrm>
            <a:off x="8211312"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NORMALISASI NLP</a:t>
            </a:r>
          </a:p>
        </p:txBody>
      </p:sp>
      <p:sp>
        <p:nvSpPr>
          <p:cNvPr id="24" name="TextBox 23"/>
          <p:cNvSpPr txBox="1"/>
          <p:nvPr/>
        </p:nvSpPr>
        <p:spPr>
          <a:xfrm>
            <a:off x="8211312"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43.578</a:t>
            </a:r>
          </a:p>
        </p:txBody>
      </p:sp>
      <p:sp>
        <p:nvSpPr>
          <p:cNvPr id="25" name="TextBox 24"/>
          <p:cNvSpPr txBox="1"/>
          <p:nvPr/>
        </p:nvSpPr>
        <p:spPr>
          <a:xfrm>
            <a:off x="8211312"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198 stopword, 60 istilah slang, lemmatisasi sadar POS.</a:t>
            </a:r>
          </a:p>
        </p:txBody>
      </p:sp>
      <p:sp>
        <p:nvSpPr>
          <p:cNvPr id="26" name="Chevron 25"/>
          <p:cNvSpPr/>
          <p:nvPr/>
        </p:nvSpPr>
        <p:spPr>
          <a:xfrm>
            <a:off x="10259568"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10570464"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05</a:t>
            </a:r>
          </a:p>
        </p:txBody>
      </p:sp>
      <p:sp>
        <p:nvSpPr>
          <p:cNvPr id="28" name="TextBox 27"/>
          <p:cNvSpPr txBox="1"/>
          <p:nvPr/>
        </p:nvSpPr>
        <p:spPr>
          <a:xfrm>
            <a:off x="10570464"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FEATURE ENGINEERING</a:t>
            </a:r>
          </a:p>
        </p:txBody>
      </p:sp>
      <p:sp>
        <p:nvSpPr>
          <p:cNvPr id="29" name="TextBox 28"/>
          <p:cNvSpPr txBox="1"/>
          <p:nvPr/>
        </p:nvSpPr>
        <p:spPr>
          <a:xfrm>
            <a:off x="10570464"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60.000</a:t>
            </a:r>
          </a:p>
        </p:txBody>
      </p:sp>
      <p:sp>
        <p:nvSpPr>
          <p:cNvPr id="30" name="TextBox 29"/>
          <p:cNvSpPr txBox="1"/>
          <p:nvPr/>
        </p:nvSpPr>
        <p:spPr>
          <a:xfrm>
            <a:off x="10570464"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Fitur TF-IDF, unigram plus bigram.</a:t>
            </a:r>
          </a:p>
        </p:txBody>
      </p:sp>
      <p:sp>
        <p:nvSpPr>
          <p:cNvPr id="31" name="Chevron 30"/>
          <p:cNvSpPr/>
          <p:nvPr/>
        </p:nvSpPr>
        <p:spPr>
          <a:xfrm>
            <a:off x="12618720"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2929616"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06</a:t>
            </a:r>
          </a:p>
        </p:txBody>
      </p:sp>
      <p:sp>
        <p:nvSpPr>
          <p:cNvPr id="33" name="TextBox 32"/>
          <p:cNvSpPr txBox="1"/>
          <p:nvPr/>
        </p:nvSpPr>
        <p:spPr>
          <a:xfrm>
            <a:off x="12929616"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PELATIHAN MODEL</a:t>
            </a:r>
          </a:p>
        </p:txBody>
      </p:sp>
      <p:sp>
        <p:nvSpPr>
          <p:cNvPr id="34" name="TextBox 33"/>
          <p:cNvSpPr txBox="1"/>
          <p:nvPr/>
        </p:nvSpPr>
        <p:spPr>
          <a:xfrm>
            <a:off x="12929616"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34.862 / 8.716</a:t>
            </a:r>
          </a:p>
        </p:txBody>
      </p:sp>
      <p:sp>
        <p:nvSpPr>
          <p:cNvPr id="35" name="TextBox 34"/>
          <p:cNvSpPr txBox="1"/>
          <p:nvPr/>
        </p:nvSpPr>
        <p:spPr>
          <a:xfrm>
            <a:off x="12929616"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Split train dan test stratified; 4 algoritma dibandingkan.</a:t>
            </a:r>
          </a:p>
        </p:txBody>
      </p:sp>
      <p:sp>
        <p:nvSpPr>
          <p:cNvPr id="36" name="Chevron 35"/>
          <p:cNvSpPr/>
          <p:nvPr/>
        </p:nvSpPr>
        <p:spPr>
          <a:xfrm>
            <a:off x="14977872" y="2633472"/>
            <a:ext cx="2615184" cy="2487168"/>
          </a:xfrm>
          <a:prstGeom prst="chevron">
            <a:avLst/>
          </a:prstGeom>
          <a:gradFill rotWithShape="1">
            <a:gsLst>
              <a:gs pos="0">
                <a:srgbClr val="11183A"/>
              </a:gs>
              <a:gs pos="100000">
                <a:srgbClr val="1E275C"/>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15288767" y="2724912"/>
            <a:ext cx="1975104" cy="219456"/>
          </a:xfrm>
          <a:prstGeom prst="rect">
            <a:avLst/>
          </a:prstGeom>
          <a:noFill/>
        </p:spPr>
        <p:txBody>
          <a:bodyPr wrap="square" lIns="0" tIns="0" rIns="0" bIns="0" anchor="t">
            <a:spAutoFit/>
          </a:bodyPr>
          <a:lstStyle/>
          <a:p>
            <a:pPr algn="l">
              <a:lnSpc>
                <a:spcPct val="118000"/>
              </a:lnSpc>
            </a:pPr>
            <a:r>
              <a:rPr sz="1200" b="0" i="0">
                <a:solidFill>
                  <a:srgbClr val="FFC629"/>
                </a:solidFill>
                <a:latin typeface="Segoe UI Black"/>
              </a:rPr>
              <a:t>07</a:t>
            </a:r>
          </a:p>
        </p:txBody>
      </p:sp>
      <p:sp>
        <p:nvSpPr>
          <p:cNvPr id="38" name="TextBox 37"/>
          <p:cNvSpPr txBox="1"/>
          <p:nvPr/>
        </p:nvSpPr>
        <p:spPr>
          <a:xfrm>
            <a:off x="15288767" y="2935224"/>
            <a:ext cx="1975104" cy="475488"/>
          </a:xfrm>
          <a:prstGeom prst="rect">
            <a:avLst/>
          </a:prstGeom>
          <a:noFill/>
        </p:spPr>
        <p:txBody>
          <a:bodyPr wrap="square" lIns="0" tIns="0" rIns="0" bIns="0" anchor="t">
            <a:spAutoFit/>
          </a:bodyPr>
          <a:lstStyle/>
          <a:p>
            <a:pPr algn="l">
              <a:lnSpc>
                <a:spcPct val="112000"/>
              </a:lnSpc>
            </a:pPr>
            <a:r>
              <a:rPr sz="1250" b="1" i="0">
                <a:solidFill>
                  <a:srgbClr val="FFFFFF"/>
                </a:solidFill>
                <a:latin typeface="Segoe UI"/>
              </a:rPr>
              <a:t>EVALUASI &amp; DEPLOY</a:t>
            </a:r>
          </a:p>
        </p:txBody>
      </p:sp>
      <p:sp>
        <p:nvSpPr>
          <p:cNvPr id="39" name="TextBox 38"/>
          <p:cNvSpPr txBox="1"/>
          <p:nvPr/>
        </p:nvSpPr>
        <p:spPr>
          <a:xfrm>
            <a:off x="15288767" y="3419856"/>
            <a:ext cx="1975104" cy="310896"/>
          </a:xfrm>
          <a:prstGeom prst="rect">
            <a:avLst/>
          </a:prstGeom>
          <a:noFill/>
        </p:spPr>
        <p:txBody>
          <a:bodyPr wrap="square" lIns="0" tIns="0" rIns="0" bIns="0" anchor="t">
            <a:spAutoFit/>
          </a:bodyPr>
          <a:lstStyle/>
          <a:p>
            <a:pPr algn="l">
              <a:lnSpc>
                <a:spcPct val="118000"/>
              </a:lnSpc>
            </a:pPr>
            <a:r>
              <a:rPr sz="1700" b="0" i="0">
                <a:solidFill>
                  <a:srgbClr val="93C5FD"/>
                </a:solidFill>
                <a:latin typeface="Segoe UI Black"/>
              </a:rPr>
              <a:t>5-fold CV</a:t>
            </a:r>
          </a:p>
        </p:txBody>
      </p:sp>
      <p:sp>
        <p:nvSpPr>
          <p:cNvPr id="40" name="TextBox 39"/>
          <p:cNvSpPr txBox="1"/>
          <p:nvPr/>
        </p:nvSpPr>
        <p:spPr>
          <a:xfrm>
            <a:off x="15288767" y="3749039"/>
            <a:ext cx="1975104" cy="1261872"/>
          </a:xfrm>
          <a:prstGeom prst="rect">
            <a:avLst/>
          </a:prstGeom>
          <a:noFill/>
        </p:spPr>
        <p:txBody>
          <a:bodyPr wrap="square" lIns="0" tIns="0" rIns="0" bIns="0" anchor="t">
            <a:spAutoFit/>
          </a:bodyPr>
          <a:lstStyle/>
          <a:p>
            <a:pPr algn="l">
              <a:lnSpc>
                <a:spcPct val="116000"/>
              </a:lnSpc>
            </a:pPr>
            <a:r>
              <a:rPr sz="1150" b="0" i="0">
                <a:solidFill>
                  <a:srgbClr val="C7D2EC"/>
                </a:solidFill>
                <a:latin typeface="Segoe UI"/>
              </a:rPr>
              <a:t>Satu artifact terbungkus, 5,2 MB, siap melayani.</a:t>
            </a:r>
          </a:p>
        </p:txBody>
      </p:sp>
      <p:sp>
        <p:nvSpPr>
          <p:cNvPr id="41" name="Rounded Rectangle 40"/>
          <p:cNvSpPr/>
          <p:nvPr/>
        </p:nvSpPr>
        <p:spPr>
          <a:xfrm>
            <a:off x="822960" y="5431536"/>
            <a:ext cx="8092440" cy="21031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822960" y="5431536"/>
            <a:ext cx="68580" cy="21031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1152144" y="5650992"/>
            <a:ext cx="5486400" cy="274320"/>
          </a:xfrm>
          <a:prstGeom prst="rect">
            <a:avLst/>
          </a:prstGeom>
          <a:noFill/>
        </p:spPr>
        <p:txBody>
          <a:bodyPr wrap="square" lIns="0" tIns="0" rIns="0" bIns="0" anchor="t">
            <a:spAutoFit/>
          </a:bodyPr>
          <a:lstStyle/>
          <a:p>
            <a:pPr algn="l">
              <a:lnSpc>
                <a:spcPct val="118000"/>
              </a:lnSpc>
            </a:pPr>
            <a:r>
              <a:rPr sz="1400" b="1" i="0">
                <a:solidFill>
                  <a:srgbClr val="FFC629"/>
                </a:solidFill>
                <a:latin typeface="Segoe UI"/>
              </a:rPr>
              <a:t>ATRISI DATA</a:t>
            </a:r>
          </a:p>
        </p:txBody>
      </p:sp>
      <p:sp>
        <p:nvSpPr>
          <p:cNvPr id="44" name="TextBox 43"/>
          <p:cNvSpPr txBox="1"/>
          <p:nvPr/>
        </p:nvSpPr>
        <p:spPr>
          <a:xfrm>
            <a:off x="1152144" y="6016751"/>
            <a:ext cx="7406640" cy="1280160"/>
          </a:xfrm>
          <a:prstGeom prst="rect">
            <a:avLst/>
          </a:prstGeom>
          <a:noFill/>
        </p:spPr>
        <p:txBody>
          <a:bodyPr wrap="square" lIns="0" tIns="0" rIns="0" bIns="0" anchor="t">
            <a:spAutoFit/>
          </a:bodyPr>
          <a:lstStyle/>
          <a:p>
            <a:pPr algn="l">
              <a:lnSpc>
                <a:spcPct val="122000"/>
              </a:lnSpc>
            </a:pPr>
            <a:r>
              <a:rPr sz="1500" b="0" i="0">
                <a:solidFill>
                  <a:srgbClr val="FFFFFF"/>
                </a:solidFill>
                <a:latin typeface="Segoe UI"/>
              </a:rPr>
              <a:t>4.114 pesan (8,6%) dibuang karena duplikat, berkonflik atau kosong — sebelum model melihat data sama sekali. Menghapus ambiguitas di awal adalah alasan akurasi yang dilaporkan tetap bertahan pada pesan baru.</a:t>
            </a:r>
          </a:p>
        </p:txBody>
      </p:sp>
      <p:sp>
        <p:nvSpPr>
          <p:cNvPr id="45" name="Rounded Rectangle 44"/>
          <p:cNvSpPr/>
          <p:nvPr/>
        </p:nvSpPr>
        <p:spPr>
          <a:xfrm>
            <a:off x="9372600" y="5431536"/>
            <a:ext cx="8092440" cy="21031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Rectangle 45"/>
          <p:cNvSpPr/>
          <p:nvPr/>
        </p:nvSpPr>
        <p:spPr>
          <a:xfrm>
            <a:off x="9372600" y="5431536"/>
            <a:ext cx="68580" cy="21031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9701784" y="5650992"/>
            <a:ext cx="5852160" cy="274320"/>
          </a:xfrm>
          <a:prstGeom prst="rect">
            <a:avLst/>
          </a:prstGeom>
          <a:noFill/>
        </p:spPr>
        <p:txBody>
          <a:bodyPr wrap="square" lIns="0" tIns="0" rIns="0" bIns="0" anchor="t">
            <a:spAutoFit/>
          </a:bodyPr>
          <a:lstStyle/>
          <a:p>
            <a:pPr algn="l">
              <a:lnSpc>
                <a:spcPct val="118000"/>
              </a:lnSpc>
            </a:pPr>
            <a:r>
              <a:rPr sz="1400" b="1" i="0">
                <a:solidFill>
                  <a:srgbClr val="FFC629"/>
                </a:solidFill>
                <a:latin typeface="Segoe UI"/>
              </a:rPr>
              <a:t>KONTROL KEBOCORAN DATA</a:t>
            </a:r>
          </a:p>
        </p:txBody>
      </p:sp>
      <p:sp>
        <p:nvSpPr>
          <p:cNvPr id="48" name="TextBox 47"/>
          <p:cNvSpPr txBox="1"/>
          <p:nvPr/>
        </p:nvSpPr>
        <p:spPr>
          <a:xfrm>
            <a:off x="9701784" y="6016751"/>
            <a:ext cx="7406640" cy="1280160"/>
          </a:xfrm>
          <a:prstGeom prst="rect">
            <a:avLst/>
          </a:prstGeom>
          <a:noFill/>
        </p:spPr>
        <p:txBody>
          <a:bodyPr wrap="square" lIns="0" tIns="0" rIns="0" bIns="0" anchor="t">
            <a:spAutoFit/>
          </a:bodyPr>
          <a:lstStyle/>
          <a:p>
            <a:pPr algn="l">
              <a:lnSpc>
                <a:spcPct val="122000"/>
              </a:lnSpc>
            </a:pPr>
            <a:r>
              <a:rPr sz="1500" b="0" i="0">
                <a:solidFill>
                  <a:srgbClr val="FFFFFF"/>
                </a:solidFill>
                <a:latin typeface="Segoe UI"/>
              </a:rPr>
              <a:t>Split train/test dilakukan sebelum TF-IDF di-fit. Vocabulary dan bobot IDF dipelajari hanya dari data train, sehingga tidak ada informasi test yang masuk ke dalam fitur.</a:t>
            </a:r>
          </a:p>
        </p:txBody>
      </p:sp>
      <p:sp>
        <p:nvSpPr>
          <p:cNvPr id="49" name="Rectangle 48"/>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ectangle 49"/>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MENGAPA INI PENTING</a:t>
            </a:r>
          </a:p>
        </p:txBody>
      </p:sp>
      <p:sp>
        <p:nvSpPr>
          <p:cNvPr id="52" name="TextBox 51"/>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Disiplin pada pipeline inilah yang membuat angka 87,49% layak dipercaya, bukan sekadar optimistis.</a:t>
            </a:r>
          </a:p>
        </p:txBody>
      </p:sp>
      <p:sp>
        <p:nvSpPr>
          <p:cNvPr id="53" name="TextBox 52"/>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tahapan pipeline dengan jumlah baris di setiap langkah.</a:t>
            </a:r>
          </a:p>
        </p:txBody>
      </p:sp>
      <p:sp>
        <p:nvSpPr>
          <p:cNvPr id="54" name="TextBox 53"/>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ANALISIS DATA · APA YANG DIUNGKAP BAHASANYA</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800" b="0" i="0">
                <a:solidFill>
                  <a:srgbClr val="FFFFFF"/>
                </a:solidFill>
                <a:latin typeface="Segoe UI Black"/>
              </a:rPr>
              <a:t>Eksplorasi data mengungkap pola cyberbullying yang khas</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822960" y="2633472"/>
            <a:ext cx="585216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Kelas hampir seimbang setelah pembersihan…</a:t>
            </a:r>
          </a:p>
        </p:txBody>
      </p:sp>
      <p:pic>
        <p:nvPicPr>
          <p:cNvPr id="7" name="Picture 6" descr="c_dist_id.png"/>
          <p:cNvPicPr>
            <a:picLocks noChangeAspect="1"/>
          </p:cNvPicPr>
          <p:nvPr/>
        </p:nvPicPr>
        <p:blipFill>
          <a:blip r:embed="rId4"/>
          <a:stretch>
            <a:fillRect/>
          </a:stretch>
        </p:blipFill>
        <p:spPr>
          <a:xfrm>
            <a:off x="822960" y="3054096"/>
            <a:ext cx="5852160" cy="3237365"/>
          </a:xfrm>
          <a:prstGeom prst="rect">
            <a:avLst/>
          </a:prstGeom>
        </p:spPr>
      </p:pic>
      <p:sp>
        <p:nvSpPr>
          <p:cNvPr id="8" name="TextBox 7"/>
          <p:cNvSpPr txBox="1"/>
          <p:nvPr/>
        </p:nvSpPr>
        <p:spPr>
          <a:xfrm>
            <a:off x="6949440" y="2633472"/>
            <a:ext cx="548640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…namun kategori berbahaya jauh lebih panjang</a:t>
            </a:r>
          </a:p>
        </p:txBody>
      </p:sp>
      <p:pic>
        <p:nvPicPr>
          <p:cNvPr id="9" name="Picture 8" descr="c_length_id.png"/>
          <p:cNvPicPr>
            <a:picLocks noChangeAspect="1"/>
          </p:cNvPicPr>
          <p:nvPr/>
        </p:nvPicPr>
        <p:blipFill>
          <a:blip r:embed="rId5"/>
          <a:stretch>
            <a:fillRect/>
          </a:stretch>
        </p:blipFill>
        <p:spPr>
          <a:xfrm>
            <a:off x="6949440" y="3054096"/>
            <a:ext cx="5486400" cy="3018677"/>
          </a:xfrm>
          <a:prstGeom prst="rect">
            <a:avLst/>
          </a:prstGeom>
        </p:spPr>
      </p:pic>
      <p:sp>
        <p:nvSpPr>
          <p:cNvPr id="10" name="Rounded Rectangle 9"/>
          <p:cNvSpPr/>
          <p:nvPr/>
        </p:nvSpPr>
        <p:spPr>
          <a:xfrm>
            <a:off x="12755880" y="2633472"/>
            <a:ext cx="4709160" cy="53949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1" name="Picture 10" descr="card_header.png"/>
          <p:cNvPicPr>
            <a:picLocks noChangeAspect="1"/>
          </p:cNvPicPr>
          <p:nvPr/>
        </p:nvPicPr>
        <p:blipFill>
          <a:blip r:embed="rId6"/>
          <a:stretch>
            <a:fillRect/>
          </a:stretch>
        </p:blipFill>
        <p:spPr>
          <a:xfrm>
            <a:off x="12755880" y="2644444"/>
            <a:ext cx="4709160" cy="402336"/>
          </a:xfrm>
          <a:prstGeom prst="rect">
            <a:avLst/>
          </a:prstGeom>
        </p:spPr>
      </p:pic>
      <p:sp>
        <p:nvSpPr>
          <p:cNvPr id="12" name="TextBox 11"/>
          <p:cNvSpPr txBox="1"/>
          <p:nvPr/>
        </p:nvSpPr>
        <p:spPr>
          <a:xfrm>
            <a:off x="12957048" y="2724912"/>
            <a:ext cx="436168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KATA PENANDA PER KATEGORI</a:t>
            </a:r>
          </a:p>
        </p:txBody>
      </p:sp>
      <p:sp>
        <p:nvSpPr>
          <p:cNvPr id="13" name="TextBox 12"/>
          <p:cNvSpPr txBox="1"/>
          <p:nvPr/>
        </p:nvSpPr>
        <p:spPr>
          <a:xfrm>
            <a:off x="13030200" y="3273552"/>
            <a:ext cx="4206240" cy="219456"/>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age</a:t>
            </a:r>
          </a:p>
        </p:txBody>
      </p:sp>
      <p:sp>
        <p:nvSpPr>
          <p:cNvPr id="14" name="TextBox 13"/>
          <p:cNvSpPr txBox="1"/>
          <p:nvPr/>
        </p:nvSpPr>
        <p:spPr>
          <a:xfrm>
            <a:off x="13030200" y="3502152"/>
            <a:ext cx="4160520" cy="402336"/>
          </a:xfrm>
          <a:prstGeom prst="rect">
            <a:avLst/>
          </a:prstGeom>
          <a:noFill/>
        </p:spPr>
        <p:txBody>
          <a:bodyPr wrap="square" lIns="0" tIns="0" rIns="0" bIns="0" anchor="t">
            <a:spAutoFit/>
          </a:bodyPr>
          <a:lstStyle/>
          <a:p>
            <a:pPr algn="l">
              <a:lnSpc>
                <a:spcPct val="118000"/>
              </a:lnSpc>
            </a:pPr>
            <a:r>
              <a:rPr sz="1250" b="0" i="0">
                <a:solidFill>
                  <a:srgbClr val="FFFFFF"/>
                </a:solidFill>
                <a:latin typeface="Segoe UI"/>
              </a:rPr>
              <a:t>school 8.262 · high 5.049 · bullied 4.371</a:t>
            </a:r>
          </a:p>
        </p:txBody>
      </p:sp>
      <p:sp>
        <p:nvSpPr>
          <p:cNvPr id="15" name="TextBox 14"/>
          <p:cNvSpPr txBox="1"/>
          <p:nvPr/>
        </p:nvSpPr>
        <p:spPr>
          <a:xfrm>
            <a:off x="13030200" y="3986784"/>
            <a:ext cx="4206240" cy="219456"/>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ethnicity</a:t>
            </a:r>
          </a:p>
        </p:txBody>
      </p:sp>
      <p:sp>
        <p:nvSpPr>
          <p:cNvPr id="16" name="TextBox 15"/>
          <p:cNvSpPr txBox="1"/>
          <p:nvPr/>
        </p:nvSpPr>
        <p:spPr>
          <a:xfrm>
            <a:off x="13030200" y="4215384"/>
            <a:ext cx="4160520" cy="402336"/>
          </a:xfrm>
          <a:prstGeom prst="rect">
            <a:avLst/>
          </a:prstGeom>
          <a:noFill/>
        </p:spPr>
        <p:txBody>
          <a:bodyPr wrap="square" lIns="0" tIns="0" rIns="0" bIns="0" anchor="t">
            <a:spAutoFit/>
          </a:bodyPr>
          <a:lstStyle/>
          <a:p>
            <a:pPr algn="l">
              <a:lnSpc>
                <a:spcPct val="118000"/>
              </a:lnSpc>
            </a:pPr>
            <a:r>
              <a:rPr sz="1250" b="0" i="0">
                <a:solidFill>
                  <a:srgbClr val="FFFFFF"/>
                </a:solidFill>
                <a:latin typeface="Segoe UI"/>
              </a:rPr>
              <a:t>fuck 5.173 · dumb 5.164 · nigger 4.420</a:t>
            </a:r>
          </a:p>
        </p:txBody>
      </p:sp>
      <p:sp>
        <p:nvSpPr>
          <p:cNvPr id="17" name="TextBox 16"/>
          <p:cNvSpPr txBox="1"/>
          <p:nvPr/>
        </p:nvSpPr>
        <p:spPr>
          <a:xfrm>
            <a:off x="13030200" y="4700016"/>
            <a:ext cx="4206240" cy="219456"/>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gender</a:t>
            </a:r>
          </a:p>
        </p:txBody>
      </p:sp>
      <p:sp>
        <p:nvSpPr>
          <p:cNvPr id="18" name="TextBox 17"/>
          <p:cNvSpPr txBox="1"/>
          <p:nvPr/>
        </p:nvSpPr>
        <p:spPr>
          <a:xfrm>
            <a:off x="13030200" y="4928616"/>
            <a:ext cx="4160520" cy="402336"/>
          </a:xfrm>
          <a:prstGeom prst="rect">
            <a:avLst/>
          </a:prstGeom>
          <a:noFill/>
        </p:spPr>
        <p:txBody>
          <a:bodyPr wrap="square" lIns="0" tIns="0" rIns="0" bIns="0" anchor="t">
            <a:spAutoFit/>
          </a:bodyPr>
          <a:lstStyle/>
          <a:p>
            <a:pPr algn="l">
              <a:lnSpc>
                <a:spcPct val="118000"/>
              </a:lnSpc>
            </a:pPr>
            <a:r>
              <a:rPr sz="1250" b="0" i="0">
                <a:solidFill>
                  <a:srgbClr val="FFFFFF"/>
                </a:solidFill>
                <a:latin typeface="Segoe UI"/>
              </a:rPr>
              <a:t>rape 4.170 · gay 3.749 · jokes 3.433</a:t>
            </a:r>
          </a:p>
        </p:txBody>
      </p:sp>
      <p:sp>
        <p:nvSpPr>
          <p:cNvPr id="19" name="TextBox 18"/>
          <p:cNvSpPr txBox="1"/>
          <p:nvPr/>
        </p:nvSpPr>
        <p:spPr>
          <a:xfrm>
            <a:off x="13030200" y="5413248"/>
            <a:ext cx="4206240" cy="219456"/>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religion</a:t>
            </a:r>
          </a:p>
        </p:txBody>
      </p:sp>
      <p:sp>
        <p:nvSpPr>
          <p:cNvPr id="20" name="TextBox 19"/>
          <p:cNvSpPr txBox="1"/>
          <p:nvPr/>
        </p:nvSpPr>
        <p:spPr>
          <a:xfrm>
            <a:off x="13030200" y="5641848"/>
            <a:ext cx="4160520" cy="402336"/>
          </a:xfrm>
          <a:prstGeom prst="rect">
            <a:avLst/>
          </a:prstGeom>
          <a:noFill/>
        </p:spPr>
        <p:txBody>
          <a:bodyPr wrap="square" lIns="0" tIns="0" rIns="0" bIns="0" anchor="t">
            <a:spAutoFit/>
          </a:bodyPr>
          <a:lstStyle/>
          <a:p>
            <a:pPr algn="l">
              <a:lnSpc>
                <a:spcPct val="118000"/>
              </a:lnSpc>
            </a:pPr>
            <a:r>
              <a:rPr sz="1250" b="0" i="0">
                <a:solidFill>
                  <a:srgbClr val="FFFFFF"/>
                </a:solidFill>
                <a:latin typeface="Segoe UI"/>
              </a:rPr>
              <a:t>muslims 2.451 · muslim 2.404 · idiot 1.771</a:t>
            </a:r>
          </a:p>
        </p:txBody>
      </p:sp>
      <p:sp>
        <p:nvSpPr>
          <p:cNvPr id="21" name="TextBox 20"/>
          <p:cNvSpPr txBox="1"/>
          <p:nvPr/>
        </p:nvSpPr>
        <p:spPr>
          <a:xfrm>
            <a:off x="13030200" y="6126480"/>
            <a:ext cx="4206240" cy="219456"/>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not_cyberbullying</a:t>
            </a:r>
          </a:p>
        </p:txBody>
      </p:sp>
      <p:sp>
        <p:nvSpPr>
          <p:cNvPr id="22" name="TextBox 21"/>
          <p:cNvSpPr txBox="1"/>
          <p:nvPr/>
        </p:nvSpPr>
        <p:spPr>
          <a:xfrm>
            <a:off x="13030200" y="6355080"/>
            <a:ext cx="4160520" cy="402336"/>
          </a:xfrm>
          <a:prstGeom prst="rect">
            <a:avLst/>
          </a:prstGeom>
          <a:noFill/>
        </p:spPr>
        <p:txBody>
          <a:bodyPr wrap="square" lIns="0" tIns="0" rIns="0" bIns="0" anchor="t">
            <a:spAutoFit/>
          </a:bodyPr>
          <a:lstStyle/>
          <a:p>
            <a:pPr algn="l">
              <a:lnSpc>
                <a:spcPct val="118000"/>
              </a:lnSpc>
            </a:pPr>
            <a:r>
              <a:rPr sz="1250" b="0" i="0">
                <a:solidFill>
                  <a:srgbClr val="FFFFFF"/>
                </a:solidFill>
                <a:latin typeface="Segoe UI"/>
              </a:rPr>
              <a:t>mkr 1.510 · bullying 680 · bully 403</a:t>
            </a:r>
          </a:p>
        </p:txBody>
      </p:sp>
      <p:sp>
        <p:nvSpPr>
          <p:cNvPr id="23" name="Rectangle 22"/>
          <p:cNvSpPr/>
          <p:nvPr/>
        </p:nvSpPr>
        <p:spPr>
          <a:xfrm>
            <a:off x="13030200" y="6821424"/>
            <a:ext cx="4160520"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Rectangle 23"/>
          <p:cNvSpPr/>
          <p:nvPr/>
        </p:nvSpPr>
        <p:spPr>
          <a:xfrm>
            <a:off x="13030200" y="711860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13249656" y="7022592"/>
            <a:ext cx="3941063" cy="960627"/>
          </a:xfrm>
          <a:prstGeom prst="rect">
            <a:avLst/>
          </a:prstGeom>
          <a:noFill/>
        </p:spPr>
        <p:txBody>
          <a:bodyPr wrap="square" lIns="0" tIns="0" rIns="0" bIns="0" anchor="t">
            <a:spAutoFit/>
          </a:bodyPr>
          <a:lstStyle/>
          <a:p>
            <a:pPr algn="l">
              <a:lnSpc>
                <a:spcPct val="124000"/>
              </a:lnSpc>
            </a:pPr>
            <a:r>
              <a:rPr sz="1250" b="0" i="0">
                <a:solidFill>
                  <a:srgbClr val="FFFFFF"/>
                </a:solidFill>
                <a:latin typeface="Segoe UI"/>
              </a:rPr>
              <a:t>Pemindaian named entity atas 1.200 pesan sampel menemukan 1.762 entitas, dipimpin PERSON (445) dan ORG (362): bahaya menyasar target yang teridentifikasi.</a:t>
            </a:r>
          </a:p>
        </p:txBody>
      </p:sp>
      <p:sp>
        <p:nvSpPr>
          <p:cNvPr id="26" name="Rectangle 25"/>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IMPLIKASI BISNIS</a:t>
            </a:r>
          </a:p>
        </p:txBody>
      </p:sp>
      <p:sp>
        <p:nvSpPr>
          <p:cNvPr id="29" name="TextBox 28"/>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Bahaya bukan sinyal yang menyebar — panjang dan kosakata memisahkan kategori cukup tegas untuk deteksi otomatis yang andal.</a:t>
            </a:r>
          </a:p>
        </p:txBody>
      </p:sp>
      <p:sp>
        <p:nvSpPr>
          <p:cNvPr id="30" name="TextBox 29"/>
          <p:cNvSpPr txBox="1"/>
          <p:nvPr/>
        </p:nvSpPr>
        <p:spPr>
          <a:xfrm>
            <a:off x="822960" y="9427464"/>
            <a:ext cx="14996159" cy="237744"/>
          </a:xfrm>
          <a:prstGeom prst="rect">
            <a:avLst/>
          </a:prstGeom>
          <a:noFill/>
        </p:spPr>
        <p:txBody>
          <a:bodyPr wrap="square" lIns="0" tIns="0" rIns="0" bIns="0" anchor="t">
            <a:spAutoFit/>
          </a:bodyPr>
          <a:lstStyle/>
          <a:p>
            <a:pPr algn="l">
              <a:lnSpc>
                <a:spcPct val="118000"/>
              </a:lnSpc>
            </a:pPr>
            <a:r>
              <a:rPr sz="950" b="0" i="0">
                <a:solidFill>
                  <a:srgbClr val="8A99C4"/>
                </a:solidFill>
                <a:latin typeface="Segoe UI"/>
              </a:rPr>
              <a:t>1. Frekuensi kata dari CountVectorizer dengan English stop words dibuang, min_df = 2. Istilah ditampilkan apa adanya sesuai data sumber.</a:t>
            </a:r>
          </a:p>
        </p:txBody>
      </p:sp>
      <p:sp>
        <p:nvSpPr>
          <p:cNvPr id="31" name="TextBox 30"/>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distribusi kelas setelah pembersihan (n = 43.732), rata-rata panjang karakter per kategori, dan frekuensi kata per kategori.</a:t>
            </a:r>
          </a:p>
        </p:txBody>
      </p:sp>
      <p:sp>
        <p:nvSpPr>
          <p:cNvPr id="32" name="TextBox 31"/>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FEATURE ENGINEERING · DARI TEKS TAK TERSTRUKTUR KE FITUR PREDIKTIF</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Pemrosesan teks mengubah komentar tak terstruktur menjadi fitur prediktif</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5023104" cy="41148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7" name="Picture 6" descr="card_header.png"/>
          <p:cNvPicPr>
            <a:picLocks noChangeAspect="1"/>
          </p:cNvPicPr>
          <p:nvPr/>
        </p:nvPicPr>
        <p:blipFill>
          <a:blip r:embed="rId4"/>
          <a:stretch>
            <a:fillRect/>
          </a:stretch>
        </p:blipFill>
        <p:spPr>
          <a:xfrm>
            <a:off x="822960" y="2644444"/>
            <a:ext cx="5023104" cy="402336"/>
          </a:xfrm>
          <a:prstGeom prst="rect">
            <a:avLst/>
          </a:prstGeom>
        </p:spPr>
      </p:pic>
      <p:sp>
        <p:nvSpPr>
          <p:cNvPr id="8" name="TextBox 7"/>
          <p:cNvSpPr txBox="1"/>
          <p:nvPr/>
        </p:nvSpPr>
        <p:spPr>
          <a:xfrm>
            <a:off x="1298448" y="2724912"/>
            <a:ext cx="4401312"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KOMENTAR MENTAH</a:t>
            </a:r>
          </a:p>
        </p:txBody>
      </p:sp>
      <p:sp>
        <p:nvSpPr>
          <p:cNvPr id="9" name="TextBox 8"/>
          <p:cNvSpPr txBox="1"/>
          <p:nvPr/>
        </p:nvSpPr>
        <p:spPr>
          <a:xfrm>
            <a:off x="1005840"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1</a:t>
            </a:r>
          </a:p>
        </p:txBody>
      </p:sp>
      <p:sp>
        <p:nvSpPr>
          <p:cNvPr id="10" name="Rectangle 9"/>
          <p:cNvSpPr/>
          <p:nvPr/>
        </p:nvSpPr>
        <p:spPr>
          <a:xfrm>
            <a:off x="1078992" y="3310128"/>
            <a:ext cx="4511040" cy="1170432"/>
          </a:xfrm>
          <a:prstGeom prst="rect">
            <a:avLst/>
          </a:prstGeom>
          <a:solidFill>
            <a:srgbClr val="060A1E"/>
          </a:soli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1225296" y="3438144"/>
            <a:ext cx="4218432" cy="914400"/>
          </a:xfrm>
          <a:prstGeom prst="rect">
            <a:avLst/>
          </a:prstGeom>
          <a:noFill/>
        </p:spPr>
        <p:txBody>
          <a:bodyPr wrap="square" lIns="0" tIns="0" rIns="0" bIns="0" anchor="t">
            <a:spAutoFit/>
          </a:bodyPr>
          <a:lstStyle/>
          <a:p>
            <a:pPr algn="l">
              <a:lnSpc>
                <a:spcPct val="120000"/>
              </a:lnSpc>
            </a:pPr>
            <a:r>
              <a:rPr sz="1300" b="0" i="1">
                <a:solidFill>
                  <a:srgbClr val="93C5FD"/>
                </a:solidFill>
                <a:latin typeface="Segoe UI"/>
              </a:rPr>
              <a:t>"In other words #katandandre, your food was crapilicious! #mkr"</a:t>
            </a:r>
          </a:p>
        </p:txBody>
      </p:sp>
      <p:sp>
        <p:nvSpPr>
          <p:cNvPr id="12" name="Rectangle 11"/>
          <p:cNvSpPr/>
          <p:nvPr/>
        </p:nvSpPr>
        <p:spPr>
          <a:xfrm>
            <a:off x="1078992"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1298448" y="4700016"/>
            <a:ext cx="4291584"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Entitas HTML dinormalkan, teks dijadikan lowercase.</a:t>
            </a:r>
          </a:p>
        </p:txBody>
      </p:sp>
      <p:sp>
        <p:nvSpPr>
          <p:cNvPr id="14" name="Rectangle 13"/>
          <p:cNvSpPr/>
          <p:nvPr/>
        </p:nvSpPr>
        <p:spPr>
          <a:xfrm>
            <a:off x="1078992" y="552856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1298448" y="5432552"/>
            <a:ext cx="4291584" cy="347980"/>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URL, @mention dan token RT dibuang.</a:t>
            </a:r>
          </a:p>
        </p:txBody>
      </p:sp>
      <p:sp>
        <p:nvSpPr>
          <p:cNvPr id="16" name="Rectangle 15"/>
          <p:cNvSpPr/>
          <p:nvPr/>
        </p:nvSpPr>
        <p:spPr>
          <a:xfrm>
            <a:off x="1078992" y="602284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1298448" y="5926836"/>
            <a:ext cx="4291584"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Isi hashtag dipertahankan: #muslim menjadi muslim.</a:t>
            </a:r>
          </a:p>
        </p:txBody>
      </p:sp>
      <p:sp>
        <p:nvSpPr>
          <p:cNvPr id="18" name="Isosceles Triangle 17"/>
          <p:cNvSpPr/>
          <p:nvPr/>
        </p:nvSpPr>
        <p:spPr>
          <a:xfrm rot="5400000">
            <a:off x="6047232" y="4507992"/>
            <a:ext cx="365760" cy="365760"/>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ounded Rectangle 18"/>
          <p:cNvSpPr/>
          <p:nvPr/>
        </p:nvSpPr>
        <p:spPr>
          <a:xfrm>
            <a:off x="6632448" y="2633472"/>
            <a:ext cx="5023104" cy="41148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0" name="Picture 19" descr="card_header.png"/>
          <p:cNvPicPr>
            <a:picLocks noChangeAspect="1"/>
          </p:cNvPicPr>
          <p:nvPr/>
        </p:nvPicPr>
        <p:blipFill>
          <a:blip r:embed="rId4"/>
          <a:stretch>
            <a:fillRect/>
          </a:stretch>
        </p:blipFill>
        <p:spPr>
          <a:xfrm>
            <a:off x="6632448" y="2644444"/>
            <a:ext cx="5023104" cy="402336"/>
          </a:xfrm>
          <a:prstGeom prst="rect">
            <a:avLst/>
          </a:prstGeom>
        </p:spPr>
      </p:pic>
      <p:sp>
        <p:nvSpPr>
          <p:cNvPr id="21" name="TextBox 20"/>
          <p:cNvSpPr txBox="1"/>
          <p:nvPr/>
        </p:nvSpPr>
        <p:spPr>
          <a:xfrm>
            <a:off x="7107936" y="2724912"/>
            <a:ext cx="4401312"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TEKS BERSIH</a:t>
            </a:r>
          </a:p>
        </p:txBody>
      </p:sp>
      <p:sp>
        <p:nvSpPr>
          <p:cNvPr id="22" name="TextBox 21"/>
          <p:cNvSpPr txBox="1"/>
          <p:nvPr/>
        </p:nvSpPr>
        <p:spPr>
          <a:xfrm>
            <a:off x="6815328"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2</a:t>
            </a:r>
          </a:p>
        </p:txBody>
      </p:sp>
      <p:sp>
        <p:nvSpPr>
          <p:cNvPr id="23" name="Rectangle 22"/>
          <p:cNvSpPr/>
          <p:nvPr/>
        </p:nvSpPr>
        <p:spPr>
          <a:xfrm>
            <a:off x="6888480" y="3310128"/>
            <a:ext cx="4511040" cy="1170432"/>
          </a:xfrm>
          <a:prstGeom prst="rect">
            <a:avLst/>
          </a:prstGeom>
          <a:solidFill>
            <a:srgbClr val="060A1E"/>
          </a:soli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7034784" y="3438144"/>
            <a:ext cx="4218432" cy="914400"/>
          </a:xfrm>
          <a:prstGeom prst="rect">
            <a:avLst/>
          </a:prstGeom>
          <a:noFill/>
        </p:spPr>
        <p:txBody>
          <a:bodyPr wrap="square" lIns="0" tIns="0" rIns="0" bIns="0" anchor="t">
            <a:spAutoFit/>
          </a:bodyPr>
          <a:lstStyle/>
          <a:p>
            <a:pPr algn="l">
              <a:lnSpc>
                <a:spcPct val="120000"/>
              </a:lnSpc>
            </a:pPr>
            <a:r>
              <a:rPr sz="1300" b="0" i="1">
                <a:solidFill>
                  <a:srgbClr val="93C5FD"/>
                </a:solidFill>
                <a:latin typeface="Segoe UI"/>
              </a:rPr>
              <a:t>"in other words katandandre, your food was crapilicious! mkr"</a:t>
            </a:r>
          </a:p>
        </p:txBody>
      </p:sp>
      <p:sp>
        <p:nvSpPr>
          <p:cNvPr id="25" name="Rectangle 24"/>
          <p:cNvSpPr/>
          <p:nvPr/>
        </p:nvSpPr>
        <p:spPr>
          <a:xfrm>
            <a:off x="6888480"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7107936" y="4700016"/>
            <a:ext cx="4291584" cy="347980"/>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198 English stopword dibuang.</a:t>
            </a:r>
          </a:p>
        </p:txBody>
      </p:sp>
      <p:sp>
        <p:nvSpPr>
          <p:cNvPr id="27" name="Rectangle 26"/>
          <p:cNvSpPr/>
          <p:nvPr/>
        </p:nvSpPr>
        <p:spPr>
          <a:xfrm>
            <a:off x="6888480" y="5290312"/>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7107936" y="5194300"/>
            <a:ext cx="4291584"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Kamus 60 istilah slang diperluas: u menjadi you, gonna menjadi going to.</a:t>
            </a:r>
          </a:p>
        </p:txBody>
      </p:sp>
      <p:sp>
        <p:nvSpPr>
          <p:cNvPr id="29" name="Rectangle 28"/>
          <p:cNvSpPr/>
          <p:nvPr/>
        </p:nvSpPr>
        <p:spPr>
          <a:xfrm>
            <a:off x="6888480" y="602284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7107936" y="5926836"/>
            <a:ext cx="4291584" cy="347980"/>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Lemmatisasi WordNet yang sadar POS.</a:t>
            </a:r>
          </a:p>
        </p:txBody>
      </p:sp>
      <p:sp>
        <p:nvSpPr>
          <p:cNvPr id="31" name="Isosceles Triangle 30"/>
          <p:cNvSpPr/>
          <p:nvPr/>
        </p:nvSpPr>
        <p:spPr>
          <a:xfrm rot="5400000">
            <a:off x="11856720" y="4507992"/>
            <a:ext cx="365760" cy="365760"/>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12441936" y="2633472"/>
            <a:ext cx="5023104" cy="41148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33" name="Picture 32" descr="card_header.png"/>
          <p:cNvPicPr>
            <a:picLocks noChangeAspect="1"/>
          </p:cNvPicPr>
          <p:nvPr/>
        </p:nvPicPr>
        <p:blipFill>
          <a:blip r:embed="rId4"/>
          <a:stretch>
            <a:fillRect/>
          </a:stretch>
        </p:blipFill>
        <p:spPr>
          <a:xfrm>
            <a:off x="12441936" y="2644444"/>
            <a:ext cx="5023104" cy="402336"/>
          </a:xfrm>
          <a:prstGeom prst="rect">
            <a:avLst/>
          </a:prstGeom>
        </p:spPr>
      </p:pic>
      <p:sp>
        <p:nvSpPr>
          <p:cNvPr id="34" name="TextBox 33"/>
          <p:cNvSpPr txBox="1"/>
          <p:nvPr/>
        </p:nvSpPr>
        <p:spPr>
          <a:xfrm>
            <a:off x="12917424" y="2724912"/>
            <a:ext cx="4401312"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FITUR SIAP MESIN</a:t>
            </a:r>
          </a:p>
        </p:txBody>
      </p:sp>
      <p:sp>
        <p:nvSpPr>
          <p:cNvPr id="35" name="TextBox 34"/>
          <p:cNvSpPr txBox="1"/>
          <p:nvPr/>
        </p:nvSpPr>
        <p:spPr>
          <a:xfrm>
            <a:off x="12624816"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3</a:t>
            </a:r>
          </a:p>
        </p:txBody>
      </p:sp>
      <p:sp>
        <p:nvSpPr>
          <p:cNvPr id="36" name="Rectangle 35"/>
          <p:cNvSpPr/>
          <p:nvPr/>
        </p:nvSpPr>
        <p:spPr>
          <a:xfrm>
            <a:off x="12697968" y="3310128"/>
            <a:ext cx="4511040" cy="1170432"/>
          </a:xfrm>
          <a:prstGeom prst="rect">
            <a:avLst/>
          </a:prstGeom>
          <a:solidFill>
            <a:srgbClr val="060A1E"/>
          </a:soli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12844272" y="3438144"/>
            <a:ext cx="4218432" cy="914400"/>
          </a:xfrm>
          <a:prstGeom prst="rect">
            <a:avLst/>
          </a:prstGeom>
          <a:noFill/>
        </p:spPr>
        <p:txBody>
          <a:bodyPr wrap="square" lIns="0" tIns="0" rIns="0" bIns="0" anchor="t">
            <a:spAutoFit/>
          </a:bodyPr>
          <a:lstStyle/>
          <a:p>
            <a:pPr algn="l">
              <a:lnSpc>
                <a:spcPct val="120000"/>
              </a:lnSpc>
            </a:pPr>
            <a:r>
              <a:rPr sz="1300" b="0" i="1">
                <a:solidFill>
                  <a:srgbClr val="93C5FD"/>
                </a:solidFill>
                <a:latin typeface="Segoe UI"/>
              </a:rPr>
              <a:t>"word katandandre food crapilicious mkr"</a:t>
            </a:r>
          </a:p>
        </p:txBody>
      </p:sp>
      <p:sp>
        <p:nvSpPr>
          <p:cNvPr id="38" name="Rectangle 37"/>
          <p:cNvSpPr/>
          <p:nvPr/>
        </p:nvSpPr>
        <p:spPr>
          <a:xfrm>
            <a:off x="12697968"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12917424" y="4700016"/>
            <a:ext cx="4291584"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TF-IDF, unigram plus bigram, min_df 2, max_df 0,98, sublinear TF.</a:t>
            </a:r>
          </a:p>
        </p:txBody>
      </p:sp>
      <p:sp>
        <p:nvSpPr>
          <p:cNvPr id="40" name="Rectangle 39"/>
          <p:cNvSpPr/>
          <p:nvPr/>
        </p:nvSpPr>
        <p:spPr>
          <a:xfrm>
            <a:off x="12697968" y="552856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12917424" y="5432552"/>
            <a:ext cx="4291584" cy="347980"/>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Vektor sparse berdimensi 60.000.</a:t>
            </a:r>
          </a:p>
        </p:txBody>
      </p:sp>
      <p:sp>
        <p:nvSpPr>
          <p:cNvPr id="42" name="Rectangle 41"/>
          <p:cNvSpPr/>
          <p:nvPr/>
        </p:nvSpPr>
        <p:spPr>
          <a:xfrm>
            <a:off x="12697968" y="602284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12917424" y="5926836"/>
            <a:ext cx="4291584" cy="347980"/>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Diskor model linear dalam hitungan milidetik.</a:t>
            </a:r>
          </a:p>
        </p:txBody>
      </p:sp>
      <p:sp>
        <p:nvSpPr>
          <p:cNvPr id="44" name="Rounded Rectangle 43"/>
          <p:cNvSpPr/>
          <p:nvPr/>
        </p:nvSpPr>
        <p:spPr>
          <a:xfrm>
            <a:off x="822960" y="7114032"/>
            <a:ext cx="16642080" cy="1243584"/>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822960" y="7114032"/>
            <a:ext cx="68580" cy="1243584"/>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152144" y="7296912"/>
            <a:ext cx="6949440" cy="274320"/>
          </a:xfrm>
          <a:prstGeom prst="rect">
            <a:avLst/>
          </a:prstGeom>
          <a:noFill/>
        </p:spPr>
        <p:txBody>
          <a:bodyPr wrap="square" lIns="0" tIns="0" rIns="0" bIns="0" anchor="t">
            <a:spAutoFit/>
          </a:bodyPr>
          <a:lstStyle/>
          <a:p>
            <a:pPr algn="l">
              <a:lnSpc>
                <a:spcPct val="118000"/>
              </a:lnSpc>
            </a:pPr>
            <a:r>
              <a:rPr sz="1400" b="1" i="0">
                <a:solidFill>
                  <a:srgbClr val="FFC629"/>
                </a:solidFill>
                <a:latin typeface="Segoe UI"/>
              </a:rPr>
              <a:t>PILIHAN DESAIN: PEMBERSIHAN KONSERVATIF</a:t>
            </a:r>
          </a:p>
        </p:txBody>
      </p:sp>
      <p:sp>
        <p:nvSpPr>
          <p:cNvPr id="47" name="TextBox 46"/>
          <p:cNvSpPr txBox="1"/>
          <p:nvPr/>
        </p:nvSpPr>
        <p:spPr>
          <a:xfrm>
            <a:off x="1152144" y="7662672"/>
            <a:ext cx="15910560" cy="566928"/>
          </a:xfrm>
          <a:prstGeom prst="rect">
            <a:avLst/>
          </a:prstGeom>
          <a:noFill/>
        </p:spPr>
        <p:txBody>
          <a:bodyPr wrap="square" lIns="0" tIns="0" rIns="0" bIns="0" anchor="t">
            <a:spAutoFit/>
          </a:bodyPr>
          <a:lstStyle/>
          <a:p>
            <a:pPr algn="l">
              <a:lnSpc>
                <a:spcPct val="120000"/>
              </a:lnSpc>
            </a:pPr>
            <a:r>
              <a:rPr sz="1550" b="0" i="0">
                <a:solidFill>
                  <a:srgbClr val="FFFFFF"/>
                </a:solidFill>
                <a:latin typeface="Segoe UI"/>
              </a:rPr>
              <a:t>Kata ofensif, istilah identitas dan isi hashtag sengaja dipertahankan — itulah sinyal yang dibutuhkan model. Hanya noise yang dibuang. Menghapusnya akan menghasilkan korpus yang lebih bersih dan model yang buta.</a:t>
            </a:r>
          </a:p>
        </p:txBody>
      </p:sp>
      <p:sp>
        <p:nvSpPr>
          <p:cNvPr id="48" name="Rectangle 47"/>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Rectangle 48"/>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IMPLIKASI BISNIS</a:t>
            </a:r>
          </a:p>
        </p:txBody>
      </p:sp>
      <p:sp>
        <p:nvSpPr>
          <p:cNvPr id="51" name="TextBox 50"/>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Komentar teks bebas menjadi input terstruktur berdimensi 60.000 yang bisa diskor model linear dalam milidetik.</a:t>
            </a:r>
          </a:p>
        </p:txBody>
      </p:sp>
      <p:sp>
        <p:nvSpPr>
          <p:cNvPr id="52" name="TextBox 51"/>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fungsi clean_text() dan preprocess_nlp(), diterapkan pada satu record nyata dari korpus.</a:t>
            </a:r>
          </a:p>
        </p:txBody>
      </p:sp>
      <p:sp>
        <p:nvSpPr>
          <p:cNvPr id="53" name="TextBox 52"/>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PEMILIHAN MODEL · EMPAT ALGORITMA, SATU METRIK</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Empat model dievaluasi untuk menentukan solusi AI yang optimal</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822960" y="2633472"/>
            <a:ext cx="822960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Logistic Regression memimpin di semua metrik</a:t>
            </a:r>
          </a:p>
        </p:txBody>
      </p:sp>
      <p:sp>
        <p:nvSpPr>
          <p:cNvPr id="7" name="Rectangle 6"/>
          <p:cNvSpPr/>
          <p:nvPr/>
        </p:nvSpPr>
        <p:spPr>
          <a:xfrm>
            <a:off x="822960" y="3090672"/>
            <a:ext cx="8229600" cy="512064"/>
          </a:xfrm>
          <a:prstGeom prst="rect">
            <a:avLst/>
          </a:prstGeom>
          <a:gradFill rotWithShape="1">
            <a:gsLst>
              <a:gs pos="0">
                <a:srgbClr val="1B255A"/>
              </a:gs>
              <a:gs pos="100000">
                <a:srgbClr val="2C3986"/>
              </a:gs>
            </a:gsLst>
            <a:lin ang="0" scaled="0"/>
          </a:gra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969264" y="3227832"/>
            <a:ext cx="2816351" cy="237744"/>
          </a:xfrm>
          <a:prstGeom prst="rect">
            <a:avLst/>
          </a:prstGeom>
          <a:noFill/>
        </p:spPr>
        <p:txBody>
          <a:bodyPr wrap="square" lIns="0" tIns="0" rIns="0" bIns="0" anchor="t">
            <a:spAutoFit/>
          </a:bodyPr>
          <a:lstStyle/>
          <a:p>
            <a:pPr algn="l">
              <a:lnSpc>
                <a:spcPct val="118000"/>
              </a:lnSpc>
            </a:pPr>
            <a:r>
              <a:rPr sz="1200" b="1" i="0">
                <a:solidFill>
                  <a:srgbClr val="FFFFFF"/>
                </a:solidFill>
                <a:latin typeface="Segoe UI"/>
              </a:rPr>
              <a:t>MODEL</a:t>
            </a:r>
          </a:p>
        </p:txBody>
      </p:sp>
      <p:sp>
        <p:nvSpPr>
          <p:cNvPr id="9" name="TextBox 8"/>
          <p:cNvSpPr txBox="1"/>
          <p:nvPr/>
        </p:nvSpPr>
        <p:spPr>
          <a:xfrm>
            <a:off x="3639311" y="3227832"/>
            <a:ext cx="1170432" cy="237744"/>
          </a:xfrm>
          <a:prstGeom prst="rect">
            <a:avLst/>
          </a:prstGeom>
          <a:noFill/>
        </p:spPr>
        <p:txBody>
          <a:bodyPr wrap="square" lIns="0" tIns="0" rIns="0" bIns="0" anchor="t">
            <a:spAutoFit/>
          </a:bodyPr>
          <a:lstStyle/>
          <a:p>
            <a:pPr algn="r">
              <a:lnSpc>
                <a:spcPct val="118000"/>
              </a:lnSpc>
            </a:pPr>
            <a:r>
              <a:rPr sz="1200" b="1" i="0">
                <a:solidFill>
                  <a:srgbClr val="FFFFFF"/>
                </a:solidFill>
                <a:latin typeface="Segoe UI"/>
              </a:rPr>
              <a:t>AKURASI</a:t>
            </a:r>
          </a:p>
        </p:txBody>
      </p:sp>
      <p:sp>
        <p:nvSpPr>
          <p:cNvPr id="10" name="TextBox 9"/>
          <p:cNvSpPr txBox="1"/>
          <p:nvPr/>
        </p:nvSpPr>
        <p:spPr>
          <a:xfrm>
            <a:off x="4956048" y="3227832"/>
            <a:ext cx="1170432" cy="237744"/>
          </a:xfrm>
          <a:prstGeom prst="rect">
            <a:avLst/>
          </a:prstGeom>
          <a:noFill/>
        </p:spPr>
        <p:txBody>
          <a:bodyPr wrap="square" lIns="0" tIns="0" rIns="0" bIns="0" anchor="t">
            <a:spAutoFit/>
          </a:bodyPr>
          <a:lstStyle/>
          <a:p>
            <a:pPr algn="r">
              <a:lnSpc>
                <a:spcPct val="118000"/>
              </a:lnSpc>
            </a:pPr>
            <a:r>
              <a:rPr sz="1200" b="1" i="0">
                <a:solidFill>
                  <a:srgbClr val="FFFFFF"/>
                </a:solidFill>
                <a:latin typeface="Segoe UI"/>
              </a:rPr>
              <a:t>PRECISION</a:t>
            </a:r>
          </a:p>
        </p:txBody>
      </p:sp>
      <p:sp>
        <p:nvSpPr>
          <p:cNvPr id="11" name="TextBox 10"/>
          <p:cNvSpPr txBox="1"/>
          <p:nvPr/>
        </p:nvSpPr>
        <p:spPr>
          <a:xfrm>
            <a:off x="6272783" y="3227832"/>
            <a:ext cx="1170432" cy="237744"/>
          </a:xfrm>
          <a:prstGeom prst="rect">
            <a:avLst/>
          </a:prstGeom>
          <a:noFill/>
        </p:spPr>
        <p:txBody>
          <a:bodyPr wrap="square" lIns="0" tIns="0" rIns="0" bIns="0" anchor="t">
            <a:spAutoFit/>
          </a:bodyPr>
          <a:lstStyle/>
          <a:p>
            <a:pPr algn="r">
              <a:lnSpc>
                <a:spcPct val="118000"/>
              </a:lnSpc>
            </a:pPr>
            <a:r>
              <a:rPr sz="1200" b="1" i="0">
                <a:solidFill>
                  <a:srgbClr val="FFFFFF"/>
                </a:solidFill>
                <a:latin typeface="Segoe UI"/>
              </a:rPr>
              <a:t>RECALL</a:t>
            </a:r>
          </a:p>
        </p:txBody>
      </p:sp>
      <p:sp>
        <p:nvSpPr>
          <p:cNvPr id="12" name="TextBox 11"/>
          <p:cNvSpPr txBox="1"/>
          <p:nvPr/>
        </p:nvSpPr>
        <p:spPr>
          <a:xfrm>
            <a:off x="7589519" y="3227832"/>
            <a:ext cx="1170432" cy="237744"/>
          </a:xfrm>
          <a:prstGeom prst="rect">
            <a:avLst/>
          </a:prstGeom>
          <a:noFill/>
        </p:spPr>
        <p:txBody>
          <a:bodyPr wrap="square" lIns="0" tIns="0" rIns="0" bIns="0" anchor="t">
            <a:spAutoFit/>
          </a:bodyPr>
          <a:lstStyle/>
          <a:p>
            <a:pPr algn="r">
              <a:lnSpc>
                <a:spcPct val="118000"/>
              </a:lnSpc>
            </a:pPr>
            <a:r>
              <a:rPr sz="1200" b="1" i="0">
                <a:solidFill>
                  <a:srgbClr val="FFFFFF"/>
                </a:solidFill>
                <a:latin typeface="Segoe UI"/>
              </a:rPr>
              <a:t>MACRO F1</a:t>
            </a:r>
          </a:p>
        </p:txBody>
      </p:sp>
      <p:sp>
        <p:nvSpPr>
          <p:cNvPr id="13" name="Rectangle 12"/>
          <p:cNvSpPr/>
          <p:nvPr/>
        </p:nvSpPr>
        <p:spPr>
          <a:xfrm>
            <a:off x="822960" y="3602736"/>
            <a:ext cx="8229600" cy="493776"/>
          </a:xfrm>
          <a:prstGeom prst="rect">
            <a:avLst/>
          </a:prstGeom>
          <a:solidFill>
            <a:srgbClr val="2A2408"/>
          </a:solidFill>
          <a:ln w="12700">
            <a:solidFill>
              <a:srgbClr val="FFC62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822960" y="3602736"/>
            <a:ext cx="50292" cy="493776"/>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9264" y="3721608"/>
            <a:ext cx="2816351" cy="256032"/>
          </a:xfrm>
          <a:prstGeom prst="rect">
            <a:avLst/>
          </a:prstGeom>
          <a:noFill/>
        </p:spPr>
        <p:txBody>
          <a:bodyPr wrap="square" lIns="0" tIns="0" rIns="0" bIns="0" anchor="t">
            <a:spAutoFit/>
          </a:bodyPr>
          <a:lstStyle/>
          <a:p>
            <a:pPr algn="l">
              <a:lnSpc>
                <a:spcPct val="118000"/>
              </a:lnSpc>
            </a:pPr>
            <a:r>
              <a:rPr sz="1350" b="1" i="0">
                <a:solidFill>
                  <a:srgbClr val="FFC629"/>
                </a:solidFill>
                <a:latin typeface="Segoe UI"/>
              </a:rPr>
              <a:t>Logistic Regression</a:t>
            </a:r>
          </a:p>
        </p:txBody>
      </p:sp>
      <p:sp>
        <p:nvSpPr>
          <p:cNvPr id="16" name="TextBox 15"/>
          <p:cNvSpPr txBox="1"/>
          <p:nvPr/>
        </p:nvSpPr>
        <p:spPr>
          <a:xfrm>
            <a:off x="3639311" y="3721608"/>
            <a:ext cx="1170432" cy="256032"/>
          </a:xfrm>
          <a:prstGeom prst="rect">
            <a:avLst/>
          </a:prstGeom>
          <a:noFill/>
        </p:spPr>
        <p:txBody>
          <a:bodyPr wrap="square" lIns="0" tIns="0" rIns="0" bIns="0" anchor="t">
            <a:spAutoFit/>
          </a:bodyPr>
          <a:lstStyle/>
          <a:p>
            <a:pPr algn="r">
              <a:lnSpc>
                <a:spcPct val="118000"/>
              </a:lnSpc>
            </a:pPr>
            <a:r>
              <a:rPr sz="1350" b="1" i="0">
                <a:solidFill>
                  <a:srgbClr val="FFC629"/>
                </a:solidFill>
                <a:latin typeface="Segoe UI"/>
              </a:rPr>
              <a:t>87,49%</a:t>
            </a:r>
          </a:p>
        </p:txBody>
      </p:sp>
      <p:sp>
        <p:nvSpPr>
          <p:cNvPr id="17" name="TextBox 16"/>
          <p:cNvSpPr txBox="1"/>
          <p:nvPr/>
        </p:nvSpPr>
        <p:spPr>
          <a:xfrm>
            <a:off x="4956048" y="3721608"/>
            <a:ext cx="1170432" cy="256032"/>
          </a:xfrm>
          <a:prstGeom prst="rect">
            <a:avLst/>
          </a:prstGeom>
          <a:noFill/>
        </p:spPr>
        <p:txBody>
          <a:bodyPr wrap="square" lIns="0" tIns="0" rIns="0" bIns="0" anchor="t">
            <a:spAutoFit/>
          </a:bodyPr>
          <a:lstStyle/>
          <a:p>
            <a:pPr algn="r">
              <a:lnSpc>
                <a:spcPct val="118000"/>
              </a:lnSpc>
            </a:pPr>
            <a:r>
              <a:rPr sz="1350" b="1" i="0">
                <a:solidFill>
                  <a:srgbClr val="FFC629"/>
                </a:solidFill>
                <a:latin typeface="Segoe UI"/>
              </a:rPr>
              <a:t>0,8610</a:t>
            </a:r>
          </a:p>
        </p:txBody>
      </p:sp>
      <p:sp>
        <p:nvSpPr>
          <p:cNvPr id="18" name="TextBox 17"/>
          <p:cNvSpPr txBox="1"/>
          <p:nvPr/>
        </p:nvSpPr>
        <p:spPr>
          <a:xfrm>
            <a:off x="6272783" y="3721608"/>
            <a:ext cx="1170432" cy="256032"/>
          </a:xfrm>
          <a:prstGeom prst="rect">
            <a:avLst/>
          </a:prstGeom>
          <a:noFill/>
        </p:spPr>
        <p:txBody>
          <a:bodyPr wrap="square" lIns="0" tIns="0" rIns="0" bIns="0" anchor="t">
            <a:spAutoFit/>
          </a:bodyPr>
          <a:lstStyle/>
          <a:p>
            <a:pPr algn="r">
              <a:lnSpc>
                <a:spcPct val="118000"/>
              </a:lnSpc>
            </a:pPr>
            <a:r>
              <a:rPr sz="1350" b="1" i="0">
                <a:solidFill>
                  <a:srgbClr val="FFC629"/>
                </a:solidFill>
                <a:latin typeface="Segoe UI"/>
              </a:rPr>
              <a:t>0,8610</a:t>
            </a:r>
          </a:p>
        </p:txBody>
      </p:sp>
      <p:sp>
        <p:nvSpPr>
          <p:cNvPr id="19" name="TextBox 18"/>
          <p:cNvSpPr txBox="1"/>
          <p:nvPr/>
        </p:nvSpPr>
        <p:spPr>
          <a:xfrm>
            <a:off x="7589519" y="3721608"/>
            <a:ext cx="1170432" cy="256032"/>
          </a:xfrm>
          <a:prstGeom prst="rect">
            <a:avLst/>
          </a:prstGeom>
          <a:noFill/>
        </p:spPr>
        <p:txBody>
          <a:bodyPr wrap="square" lIns="0" tIns="0" rIns="0" bIns="0" anchor="t">
            <a:spAutoFit/>
          </a:bodyPr>
          <a:lstStyle/>
          <a:p>
            <a:pPr algn="r">
              <a:lnSpc>
                <a:spcPct val="118000"/>
              </a:lnSpc>
            </a:pPr>
            <a:r>
              <a:rPr sz="1350" b="1" i="0">
                <a:solidFill>
                  <a:srgbClr val="FFC629"/>
                </a:solidFill>
                <a:latin typeface="Segoe UI"/>
              </a:rPr>
              <a:t>0,8604</a:t>
            </a:r>
          </a:p>
        </p:txBody>
      </p:sp>
      <p:sp>
        <p:nvSpPr>
          <p:cNvPr id="20" name="Rectangle 19"/>
          <p:cNvSpPr/>
          <p:nvPr/>
        </p:nvSpPr>
        <p:spPr>
          <a:xfrm>
            <a:off x="822960" y="4096512"/>
            <a:ext cx="8229600" cy="493776"/>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969264" y="4215384"/>
            <a:ext cx="2816351"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Linear SVM</a:t>
            </a:r>
          </a:p>
        </p:txBody>
      </p:sp>
      <p:sp>
        <p:nvSpPr>
          <p:cNvPr id="22" name="TextBox 21"/>
          <p:cNvSpPr txBox="1"/>
          <p:nvPr/>
        </p:nvSpPr>
        <p:spPr>
          <a:xfrm>
            <a:off x="3639311" y="4215384"/>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87,36%</a:t>
            </a:r>
          </a:p>
        </p:txBody>
      </p:sp>
      <p:sp>
        <p:nvSpPr>
          <p:cNvPr id="23" name="TextBox 22"/>
          <p:cNvSpPr txBox="1"/>
          <p:nvPr/>
        </p:nvSpPr>
        <p:spPr>
          <a:xfrm>
            <a:off x="4956048" y="4215384"/>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0,8580</a:t>
            </a:r>
          </a:p>
        </p:txBody>
      </p:sp>
      <p:sp>
        <p:nvSpPr>
          <p:cNvPr id="24" name="TextBox 23"/>
          <p:cNvSpPr txBox="1"/>
          <p:nvPr/>
        </p:nvSpPr>
        <p:spPr>
          <a:xfrm>
            <a:off x="6272783" y="4215384"/>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0,8585</a:t>
            </a:r>
          </a:p>
        </p:txBody>
      </p:sp>
      <p:sp>
        <p:nvSpPr>
          <p:cNvPr id="25" name="TextBox 24"/>
          <p:cNvSpPr txBox="1"/>
          <p:nvPr/>
        </p:nvSpPr>
        <p:spPr>
          <a:xfrm>
            <a:off x="7589519" y="4215384"/>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0,8580</a:t>
            </a:r>
          </a:p>
        </p:txBody>
      </p:sp>
      <p:sp>
        <p:nvSpPr>
          <p:cNvPr id="26" name="Rectangle 25"/>
          <p:cNvSpPr/>
          <p:nvPr/>
        </p:nvSpPr>
        <p:spPr>
          <a:xfrm>
            <a:off x="822960" y="4590288"/>
            <a:ext cx="8229600" cy="493776"/>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969264" y="4709160"/>
            <a:ext cx="2816351"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SGD Classifier</a:t>
            </a:r>
          </a:p>
        </p:txBody>
      </p:sp>
      <p:sp>
        <p:nvSpPr>
          <p:cNvPr id="28" name="TextBox 27"/>
          <p:cNvSpPr txBox="1"/>
          <p:nvPr/>
        </p:nvSpPr>
        <p:spPr>
          <a:xfrm>
            <a:off x="3639311" y="4709160"/>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87,25%</a:t>
            </a:r>
          </a:p>
        </p:txBody>
      </p:sp>
      <p:sp>
        <p:nvSpPr>
          <p:cNvPr id="29" name="TextBox 28"/>
          <p:cNvSpPr txBox="1"/>
          <p:nvPr/>
        </p:nvSpPr>
        <p:spPr>
          <a:xfrm>
            <a:off x="4956048" y="4709160"/>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0,8574</a:t>
            </a:r>
          </a:p>
        </p:txBody>
      </p:sp>
      <p:sp>
        <p:nvSpPr>
          <p:cNvPr id="30" name="TextBox 29"/>
          <p:cNvSpPr txBox="1"/>
          <p:nvPr/>
        </p:nvSpPr>
        <p:spPr>
          <a:xfrm>
            <a:off x="6272783" y="4709160"/>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0,8576</a:t>
            </a:r>
          </a:p>
        </p:txBody>
      </p:sp>
      <p:sp>
        <p:nvSpPr>
          <p:cNvPr id="31" name="TextBox 30"/>
          <p:cNvSpPr txBox="1"/>
          <p:nvPr/>
        </p:nvSpPr>
        <p:spPr>
          <a:xfrm>
            <a:off x="7589519" y="4709160"/>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0,8565</a:t>
            </a:r>
          </a:p>
        </p:txBody>
      </p:sp>
      <p:sp>
        <p:nvSpPr>
          <p:cNvPr id="32" name="Rectangle 31"/>
          <p:cNvSpPr/>
          <p:nvPr/>
        </p:nvSpPr>
        <p:spPr>
          <a:xfrm>
            <a:off x="822960" y="5084064"/>
            <a:ext cx="8229600" cy="493776"/>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969264" y="5202936"/>
            <a:ext cx="2816351"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Multinomial Naive Bayes</a:t>
            </a:r>
          </a:p>
        </p:txBody>
      </p:sp>
      <p:sp>
        <p:nvSpPr>
          <p:cNvPr id="34" name="TextBox 33"/>
          <p:cNvSpPr txBox="1"/>
          <p:nvPr/>
        </p:nvSpPr>
        <p:spPr>
          <a:xfrm>
            <a:off x="3639311" y="5202936"/>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77,81%</a:t>
            </a:r>
          </a:p>
        </p:txBody>
      </p:sp>
      <p:sp>
        <p:nvSpPr>
          <p:cNvPr id="35" name="TextBox 34"/>
          <p:cNvSpPr txBox="1"/>
          <p:nvPr/>
        </p:nvSpPr>
        <p:spPr>
          <a:xfrm>
            <a:off x="4956048" y="5202936"/>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0,7787</a:t>
            </a:r>
          </a:p>
        </p:txBody>
      </p:sp>
      <p:sp>
        <p:nvSpPr>
          <p:cNvPr id="36" name="TextBox 35"/>
          <p:cNvSpPr txBox="1"/>
          <p:nvPr/>
        </p:nvSpPr>
        <p:spPr>
          <a:xfrm>
            <a:off x="6272783" y="5202936"/>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0,7471</a:t>
            </a:r>
          </a:p>
        </p:txBody>
      </p:sp>
      <p:sp>
        <p:nvSpPr>
          <p:cNvPr id="37" name="TextBox 36"/>
          <p:cNvSpPr txBox="1"/>
          <p:nvPr/>
        </p:nvSpPr>
        <p:spPr>
          <a:xfrm>
            <a:off x="7589519" y="5202936"/>
            <a:ext cx="1170432" cy="256032"/>
          </a:xfrm>
          <a:prstGeom prst="rect">
            <a:avLst/>
          </a:prstGeom>
          <a:noFill/>
        </p:spPr>
        <p:txBody>
          <a:bodyPr wrap="square" lIns="0" tIns="0" rIns="0" bIns="0" anchor="t">
            <a:spAutoFit/>
          </a:bodyPr>
          <a:lstStyle/>
          <a:p>
            <a:pPr algn="r">
              <a:lnSpc>
                <a:spcPct val="118000"/>
              </a:lnSpc>
            </a:pPr>
            <a:r>
              <a:rPr sz="1350" b="0" i="0">
                <a:solidFill>
                  <a:srgbClr val="C7D2EC"/>
                </a:solidFill>
                <a:latin typeface="Segoe UI"/>
              </a:rPr>
              <a:t>0,7348</a:t>
            </a:r>
          </a:p>
        </p:txBody>
      </p:sp>
      <p:sp>
        <p:nvSpPr>
          <p:cNvPr id="38" name="TextBox 37"/>
          <p:cNvSpPr txBox="1"/>
          <p:nvPr/>
        </p:nvSpPr>
        <p:spPr>
          <a:xfrm>
            <a:off x="9509760" y="2633472"/>
            <a:ext cx="7955279"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Tiga model linear berdekatan; Naive Bayes tidak</a:t>
            </a:r>
          </a:p>
        </p:txBody>
      </p:sp>
      <p:pic>
        <p:nvPicPr>
          <p:cNvPr id="39" name="Picture 38" descr="c_models_id.png"/>
          <p:cNvPicPr>
            <a:picLocks noChangeAspect="1"/>
          </p:cNvPicPr>
          <p:nvPr/>
        </p:nvPicPr>
        <p:blipFill>
          <a:blip r:embed="rId4"/>
          <a:stretch>
            <a:fillRect/>
          </a:stretch>
        </p:blipFill>
        <p:spPr>
          <a:xfrm>
            <a:off x="9509760" y="3090672"/>
            <a:ext cx="7955279" cy="3974510"/>
          </a:xfrm>
          <a:prstGeom prst="rect">
            <a:avLst/>
          </a:prstGeom>
        </p:spPr>
      </p:pic>
      <p:sp>
        <p:nvSpPr>
          <p:cNvPr id="40" name="Rounded Rectangle 39"/>
          <p:cNvSpPr/>
          <p:nvPr/>
        </p:nvSpPr>
        <p:spPr>
          <a:xfrm>
            <a:off x="822960" y="5696712"/>
            <a:ext cx="8229600" cy="274320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41" name="Picture 40" descr="card_header.png"/>
          <p:cNvPicPr>
            <a:picLocks noChangeAspect="1"/>
          </p:cNvPicPr>
          <p:nvPr/>
        </p:nvPicPr>
        <p:blipFill>
          <a:blip r:embed="rId5"/>
          <a:stretch>
            <a:fillRect/>
          </a:stretch>
        </p:blipFill>
        <p:spPr>
          <a:xfrm>
            <a:off x="822960" y="5707684"/>
            <a:ext cx="8229600" cy="402336"/>
          </a:xfrm>
          <a:prstGeom prst="rect">
            <a:avLst/>
          </a:prstGeom>
        </p:spPr>
      </p:pic>
      <p:sp>
        <p:nvSpPr>
          <p:cNvPr id="42" name="TextBox 41"/>
          <p:cNvSpPr txBox="1"/>
          <p:nvPr/>
        </p:nvSpPr>
        <p:spPr>
          <a:xfrm>
            <a:off x="1024128" y="5788152"/>
            <a:ext cx="7882127"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APA YANG DIKATAKAN PERBANDINGAN INI</a:t>
            </a:r>
          </a:p>
        </p:txBody>
      </p:sp>
      <p:sp>
        <p:nvSpPr>
          <p:cNvPr id="43" name="Rectangle 42"/>
          <p:cNvSpPr/>
          <p:nvPr/>
        </p:nvSpPr>
        <p:spPr>
          <a:xfrm>
            <a:off x="1115568" y="6414516"/>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335024" y="6318504"/>
            <a:ext cx="7424927" cy="603250"/>
          </a:xfrm>
          <a:prstGeom prst="rect">
            <a:avLst/>
          </a:prstGeom>
          <a:noFill/>
        </p:spPr>
        <p:txBody>
          <a:bodyPr wrap="square" lIns="0" tIns="0" rIns="0" bIns="0" anchor="t">
            <a:spAutoFit/>
          </a:bodyPr>
          <a:lstStyle/>
          <a:p>
            <a:pPr algn="l">
              <a:lnSpc>
                <a:spcPct val="124000"/>
              </a:lnSpc>
            </a:pPr>
            <a:r>
              <a:rPr sz="1450" b="0" i="0">
                <a:solidFill>
                  <a:srgbClr val="FFFFFF"/>
                </a:solidFill>
                <a:latin typeface="Segoe UI"/>
              </a:rPr>
              <a:t>Ketiga model linear berada dalam rentang 0,4 poin macro F1 satu sama lain — representasi fiturnya, bukan algoritmanya, yang bekerja.</a:t>
            </a:r>
          </a:p>
        </p:txBody>
      </p:sp>
      <p:sp>
        <p:nvSpPr>
          <p:cNvPr id="45" name="Rectangle 44"/>
          <p:cNvSpPr/>
          <p:nvPr/>
        </p:nvSpPr>
        <p:spPr>
          <a:xfrm>
            <a:off x="1115568" y="7200646"/>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335024" y="7104634"/>
            <a:ext cx="7424927" cy="603250"/>
          </a:xfrm>
          <a:prstGeom prst="rect">
            <a:avLst/>
          </a:prstGeom>
          <a:noFill/>
        </p:spPr>
        <p:txBody>
          <a:bodyPr wrap="square" lIns="0" tIns="0" rIns="0" bIns="0" anchor="t">
            <a:spAutoFit/>
          </a:bodyPr>
          <a:lstStyle/>
          <a:p>
            <a:pPr algn="l">
              <a:lnSpc>
                <a:spcPct val="124000"/>
              </a:lnSpc>
            </a:pPr>
            <a:r>
              <a:rPr sz="1450" b="0" i="0">
                <a:solidFill>
                  <a:srgbClr val="FFFFFF"/>
                </a:solidFill>
                <a:latin typeface="Segoe UI"/>
              </a:rPr>
              <a:t>Multinomial Naive Bayes tertinggal 12,6 poin macro F1; asumsi independensi fiturnya tidak bertahan menghadapi fitur bigram.</a:t>
            </a:r>
          </a:p>
        </p:txBody>
      </p:sp>
      <p:sp>
        <p:nvSpPr>
          <p:cNvPr id="47" name="Rectangle 46"/>
          <p:cNvSpPr/>
          <p:nvPr/>
        </p:nvSpPr>
        <p:spPr>
          <a:xfrm>
            <a:off x="1115568" y="7986776"/>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335024" y="7890764"/>
            <a:ext cx="7424927" cy="603250"/>
          </a:xfrm>
          <a:prstGeom prst="rect">
            <a:avLst/>
          </a:prstGeom>
          <a:noFill/>
        </p:spPr>
        <p:txBody>
          <a:bodyPr wrap="square" lIns="0" tIns="0" rIns="0" bIns="0" anchor="t">
            <a:spAutoFit/>
          </a:bodyPr>
          <a:lstStyle/>
          <a:p>
            <a:pPr algn="l">
              <a:lnSpc>
                <a:spcPct val="124000"/>
              </a:lnSpc>
            </a:pPr>
            <a:r>
              <a:rPr sz="1450" b="0" i="0">
                <a:solidFill>
                  <a:srgbClr val="FFFFFF"/>
                </a:solidFill>
                <a:latin typeface="Segoe UI"/>
              </a:rPr>
              <a:t>Logistic Regression memimpin di keempat metrik dan menghasilkan probabilitas terkalibrasi — yang dibutuhkan antrean moderasi untuk menetapkan threshold.</a:t>
            </a:r>
          </a:p>
        </p:txBody>
      </p:sp>
      <p:sp>
        <p:nvSpPr>
          <p:cNvPr id="49" name="Rectangle 48"/>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ectangle 49"/>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PEMILIHAN</a:t>
            </a:r>
          </a:p>
        </p:txBody>
      </p:sp>
      <p:sp>
        <p:nvSpPr>
          <p:cNvPr id="52" name="TextBox 51"/>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670" b="1" i="0">
                <a:solidFill>
                  <a:srgbClr val="FFFFFF"/>
                </a:solidFill>
                <a:latin typeface="Segoe UI"/>
              </a:rPr>
              <a:t>Logistic Regression menang di keempat metrik — dan keluaran probabilitasnya yang memungkinkan routing berbasis tingkat keyakinan.</a:t>
            </a:r>
          </a:p>
        </p:txBody>
      </p:sp>
      <p:sp>
        <p:nvSpPr>
          <p:cNvPr id="53" name="TextBox 52"/>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Test set, n = 8.716 (split stratified 20%). Metrik sesuai yang dilaporkan notebook proyek.</a:t>
            </a:r>
          </a:p>
        </p:txBody>
      </p:sp>
      <p:sp>
        <p:nvSpPr>
          <p:cNvPr id="54" name="TextBox 53"/>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PERFORMA MODEL · DI MANA MODEL KUAT, DAN DI MANA TIDAK</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Model terpilih memberi keseimbangan terbaik antara akurasi dan reliabilitas</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TextBox 5"/>
          <p:cNvSpPr txBox="1"/>
          <p:nvPr/>
        </p:nvSpPr>
        <p:spPr>
          <a:xfrm>
            <a:off x="822960" y="2633472"/>
            <a:ext cx="786384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Empat kategori berbasis identitas paling kuat</a:t>
            </a:r>
          </a:p>
        </p:txBody>
      </p:sp>
      <p:pic>
        <p:nvPicPr>
          <p:cNvPr id="7" name="Picture 6" descr="c_f1_id.png"/>
          <p:cNvPicPr>
            <a:picLocks noChangeAspect="1"/>
          </p:cNvPicPr>
          <p:nvPr/>
        </p:nvPicPr>
        <p:blipFill>
          <a:blip r:embed="rId4"/>
          <a:stretch>
            <a:fillRect/>
          </a:stretch>
        </p:blipFill>
        <p:spPr>
          <a:xfrm>
            <a:off x="822960" y="3090672"/>
            <a:ext cx="7863840" cy="4535266"/>
          </a:xfrm>
          <a:prstGeom prst="rect">
            <a:avLst/>
          </a:prstGeom>
        </p:spPr>
      </p:pic>
      <p:sp>
        <p:nvSpPr>
          <p:cNvPr id="8" name="TextBox 7"/>
          <p:cNvSpPr txBox="1"/>
          <p:nvPr/>
        </p:nvSpPr>
        <p:spPr>
          <a:xfrm>
            <a:off x="9144000" y="2633472"/>
            <a:ext cx="493776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Stabil di seluruh fold</a:t>
            </a:r>
          </a:p>
        </p:txBody>
      </p:sp>
      <p:pic>
        <p:nvPicPr>
          <p:cNvPr id="9" name="Picture 8" descr="c_cv_id.png"/>
          <p:cNvPicPr>
            <a:picLocks noChangeAspect="1"/>
          </p:cNvPicPr>
          <p:nvPr/>
        </p:nvPicPr>
        <p:blipFill>
          <a:blip r:embed="rId5"/>
          <a:stretch>
            <a:fillRect/>
          </a:stretch>
        </p:blipFill>
        <p:spPr>
          <a:xfrm>
            <a:off x="9144000" y="3090672"/>
            <a:ext cx="4937760" cy="2456473"/>
          </a:xfrm>
          <a:prstGeom prst="rect">
            <a:avLst/>
          </a:prstGeom>
        </p:spPr>
      </p:pic>
      <p:sp>
        <p:nvSpPr>
          <p:cNvPr id="10" name="TextBox 9"/>
          <p:cNvSpPr txBox="1"/>
          <p:nvPr/>
        </p:nvSpPr>
        <p:spPr>
          <a:xfrm>
            <a:off x="9144000" y="5513831"/>
            <a:ext cx="493776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Error terkonsentrasi pada satu pasangan</a:t>
            </a:r>
          </a:p>
        </p:txBody>
      </p:sp>
      <p:pic>
        <p:nvPicPr>
          <p:cNvPr id="11" name="Picture 10" descr="c_errors_id.png"/>
          <p:cNvPicPr>
            <a:picLocks noChangeAspect="1"/>
          </p:cNvPicPr>
          <p:nvPr/>
        </p:nvPicPr>
        <p:blipFill>
          <a:blip r:embed="rId6"/>
          <a:stretch>
            <a:fillRect/>
          </a:stretch>
        </p:blipFill>
        <p:spPr>
          <a:xfrm>
            <a:off x="9144000" y="5943600"/>
            <a:ext cx="4937760" cy="2179696"/>
          </a:xfrm>
          <a:prstGeom prst="rect">
            <a:avLst/>
          </a:prstGeom>
        </p:spPr>
      </p:pic>
      <p:sp>
        <p:nvSpPr>
          <p:cNvPr id="12" name="Rounded Rectangle 11"/>
          <p:cNvSpPr/>
          <p:nvPr/>
        </p:nvSpPr>
        <p:spPr>
          <a:xfrm>
            <a:off x="14447520" y="2633472"/>
            <a:ext cx="3017520" cy="53949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3" name="Picture 12" descr="card_header.png"/>
          <p:cNvPicPr>
            <a:picLocks noChangeAspect="1"/>
          </p:cNvPicPr>
          <p:nvPr/>
        </p:nvPicPr>
        <p:blipFill>
          <a:blip r:embed="rId7"/>
          <a:stretch>
            <a:fillRect/>
          </a:stretch>
        </p:blipFill>
        <p:spPr>
          <a:xfrm>
            <a:off x="14447520" y="2644444"/>
            <a:ext cx="3017520" cy="402336"/>
          </a:xfrm>
          <a:prstGeom prst="rect">
            <a:avLst/>
          </a:prstGeom>
        </p:spPr>
      </p:pic>
      <p:sp>
        <p:nvSpPr>
          <p:cNvPr id="14" name="TextBox 13"/>
          <p:cNvSpPr txBox="1"/>
          <p:nvPr/>
        </p:nvSpPr>
        <p:spPr>
          <a:xfrm>
            <a:off x="14648688" y="2724912"/>
            <a:ext cx="267004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BACAAN SILANG</a:t>
            </a:r>
          </a:p>
        </p:txBody>
      </p:sp>
      <p:sp>
        <p:nvSpPr>
          <p:cNvPr id="15" name="Rectangle 14"/>
          <p:cNvSpPr/>
          <p:nvPr/>
        </p:nvSpPr>
        <p:spPr>
          <a:xfrm>
            <a:off x="14685264" y="3406139"/>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4904720" y="3310127"/>
            <a:ext cx="2359152" cy="1173352"/>
          </a:xfrm>
          <a:prstGeom prst="rect">
            <a:avLst/>
          </a:prstGeom>
          <a:noFill/>
        </p:spPr>
        <p:txBody>
          <a:bodyPr wrap="square" lIns="0" tIns="0" rIns="0" bIns="0" anchor="t">
            <a:spAutoFit/>
          </a:bodyPr>
          <a:lstStyle/>
          <a:p>
            <a:pPr algn="l">
              <a:lnSpc>
                <a:spcPct val="124000"/>
              </a:lnSpc>
            </a:pPr>
            <a:r>
              <a:rPr sz="1250" b="0" i="0">
                <a:solidFill>
                  <a:srgbClr val="FFFFFF"/>
                </a:solidFill>
                <a:latin typeface="Segoe UI"/>
              </a:rPr>
              <a:t>Ethnicity 0,9779, age 0,9731, religion 0,9526, gender 0,8843 — kategori yang membawa eksposur hukum justru yang paling baik ditangani.</a:t>
            </a:r>
          </a:p>
        </p:txBody>
      </p:sp>
      <p:sp>
        <p:nvSpPr>
          <p:cNvPr id="17" name="Rectangle 16"/>
          <p:cNvSpPr/>
          <p:nvPr/>
        </p:nvSpPr>
        <p:spPr>
          <a:xfrm>
            <a:off x="14685264" y="4707509"/>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4904720" y="4611497"/>
            <a:ext cx="2359152" cy="960627"/>
          </a:xfrm>
          <a:prstGeom prst="rect">
            <a:avLst/>
          </a:prstGeom>
          <a:noFill/>
        </p:spPr>
        <p:txBody>
          <a:bodyPr wrap="square" lIns="0" tIns="0" rIns="0" bIns="0" anchor="t">
            <a:spAutoFit/>
          </a:bodyPr>
          <a:lstStyle/>
          <a:p>
            <a:pPr algn="l">
              <a:lnSpc>
                <a:spcPct val="124000"/>
              </a:lnSpc>
            </a:pPr>
            <a:r>
              <a:rPr sz="1250" b="0" i="0">
                <a:solidFill>
                  <a:srgbClr val="FFFFFF"/>
                </a:solidFill>
                <a:latin typeface="Segoe UI"/>
              </a:rPr>
              <a:t>Stabil, bukan kebetulan: macro F1 hanya bergerak ±0,0031 sampai ±0,0038 sepanjang 5 fold.</a:t>
            </a:r>
          </a:p>
        </p:txBody>
      </p:sp>
      <p:sp>
        <p:nvSpPr>
          <p:cNvPr id="19" name="Rectangle 18"/>
          <p:cNvSpPr/>
          <p:nvPr/>
        </p:nvSpPr>
        <p:spPr>
          <a:xfrm>
            <a:off x="14685264" y="5796153"/>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4904720" y="5700141"/>
            <a:ext cx="2359152" cy="960627"/>
          </a:xfrm>
          <a:prstGeom prst="rect">
            <a:avLst/>
          </a:prstGeom>
          <a:noFill/>
        </p:spPr>
        <p:txBody>
          <a:bodyPr wrap="square" lIns="0" tIns="0" rIns="0" bIns="0" anchor="t">
            <a:spAutoFit/>
          </a:bodyPr>
          <a:lstStyle/>
          <a:p>
            <a:pPr algn="l">
              <a:lnSpc>
                <a:spcPct val="124000"/>
              </a:lnSpc>
            </a:pPr>
            <a:r>
              <a:rPr sz="1250" b="0" i="0">
                <a:solidFill>
                  <a:srgbClr val="FFFFFF"/>
                </a:solidFill>
                <a:latin typeface="Segoe UI"/>
              </a:rPr>
              <a:t>484 dari 1.090 error (44,4%) adalah satu pasangan: not_cyberbullying versus other_cyberbullying.</a:t>
            </a:r>
          </a:p>
        </p:txBody>
      </p:sp>
      <p:sp>
        <p:nvSpPr>
          <p:cNvPr id="21" name="Rectangle 20"/>
          <p:cNvSpPr/>
          <p:nvPr/>
        </p:nvSpPr>
        <p:spPr>
          <a:xfrm>
            <a:off x="14685264" y="6884797"/>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4904720" y="6788785"/>
            <a:ext cx="2359152" cy="747903"/>
          </a:xfrm>
          <a:prstGeom prst="rect">
            <a:avLst/>
          </a:prstGeom>
          <a:noFill/>
        </p:spPr>
        <p:txBody>
          <a:bodyPr wrap="square" lIns="0" tIns="0" rIns="0" bIns="0" anchor="t">
            <a:spAutoFit/>
          </a:bodyPr>
          <a:lstStyle/>
          <a:p>
            <a:pPr algn="l">
              <a:lnSpc>
                <a:spcPct val="124000"/>
              </a:lnSpc>
            </a:pPr>
            <a:r>
              <a:rPr sz="1250" b="0" i="0">
                <a:solidFill>
                  <a:srgbClr val="FFFFFF"/>
                </a:solidFill>
                <a:latin typeface="Segoe UI"/>
              </a:rPr>
              <a:t>Itu batas yang sama tempat pelabel manusia berbeda pendapat pada 3.278 baris.</a:t>
            </a:r>
          </a:p>
        </p:txBody>
      </p:sp>
      <p:sp>
        <p:nvSpPr>
          <p:cNvPr id="23" name="Rectangle 22"/>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Rectangle 23"/>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IMPLIKASI BISNIS</a:t>
            </a:r>
          </a:p>
        </p:txBody>
      </p:sp>
      <p:sp>
        <p:nvSpPr>
          <p:cNvPr id="26" name="TextBox 25"/>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Kelemahan model ada di batas kategori yang manusia pun memperdebatkannya — masalah pelabelan, bukan alasan menunda deployment.</a:t>
            </a:r>
          </a:p>
        </p:txBody>
      </p:sp>
      <p:sp>
        <p:nvSpPr>
          <p:cNvPr id="27" name="TextBox 26"/>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Test set, n = 8.716; 5-fold stratified cross-validation; analisis pasangan misklasifikasi dari notebook proyek.</a:t>
            </a:r>
          </a:p>
        </p:txBody>
      </p:sp>
      <p:sp>
        <p:nvSpPr>
          <p:cNvPr id="28" name="TextBox 27"/>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DEPLOYMENT · DARI NOTEBOOK KE ALAT OPERASIONAL</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Model AI telah dioperasionalkan sebagai layanan prediksi siap deploy</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3817620" cy="27889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7" name="Picture 6" descr="card_header.png"/>
          <p:cNvPicPr>
            <a:picLocks noChangeAspect="1"/>
          </p:cNvPicPr>
          <p:nvPr/>
        </p:nvPicPr>
        <p:blipFill>
          <a:blip r:embed="rId4"/>
          <a:stretch>
            <a:fillRect/>
          </a:stretch>
        </p:blipFill>
        <p:spPr>
          <a:xfrm>
            <a:off x="822960" y="2644444"/>
            <a:ext cx="3817620" cy="402336"/>
          </a:xfrm>
          <a:prstGeom prst="rect">
            <a:avLst/>
          </a:prstGeom>
        </p:spPr>
      </p:pic>
      <p:sp>
        <p:nvSpPr>
          <p:cNvPr id="8" name="TextBox 7"/>
          <p:cNvSpPr txBox="1"/>
          <p:nvPr/>
        </p:nvSpPr>
        <p:spPr>
          <a:xfrm>
            <a:off x="1298448" y="2724912"/>
            <a:ext cx="319582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INPUT PENGGUNA</a:t>
            </a:r>
          </a:p>
        </p:txBody>
      </p:sp>
      <p:sp>
        <p:nvSpPr>
          <p:cNvPr id="9" name="TextBox 8"/>
          <p:cNvSpPr txBox="1"/>
          <p:nvPr/>
        </p:nvSpPr>
        <p:spPr>
          <a:xfrm>
            <a:off x="1005840"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01</a:t>
            </a:r>
          </a:p>
        </p:txBody>
      </p:sp>
      <p:sp>
        <p:nvSpPr>
          <p:cNvPr id="10" name="TextBox 9"/>
          <p:cNvSpPr txBox="1"/>
          <p:nvPr/>
        </p:nvSpPr>
        <p:spPr>
          <a:xfrm>
            <a:off x="1097280" y="3291839"/>
            <a:ext cx="3268980" cy="402336"/>
          </a:xfrm>
          <a:prstGeom prst="rect">
            <a:avLst/>
          </a:prstGeom>
          <a:noFill/>
        </p:spPr>
        <p:txBody>
          <a:bodyPr wrap="square" lIns="0" tIns="0" rIns="0" bIns="0" anchor="t">
            <a:spAutoFit/>
          </a:bodyPr>
          <a:lstStyle/>
          <a:p>
            <a:pPr algn="l">
              <a:lnSpc>
                <a:spcPct val="118000"/>
              </a:lnSpc>
            </a:pPr>
            <a:r>
              <a:rPr sz="2000" b="0" i="0">
                <a:solidFill>
                  <a:srgbClr val="FFC629"/>
                </a:solidFill>
                <a:latin typeface="Segoe UI Black"/>
              </a:rPr>
              <a:t>Teks bebas</a:t>
            </a:r>
          </a:p>
        </p:txBody>
      </p:sp>
      <p:sp>
        <p:nvSpPr>
          <p:cNvPr id="11" name="TextBox 10"/>
          <p:cNvSpPr txBox="1"/>
          <p:nvPr/>
        </p:nvSpPr>
        <p:spPr>
          <a:xfrm>
            <a:off x="1097280" y="3803904"/>
            <a:ext cx="3268980" cy="1463040"/>
          </a:xfrm>
          <a:prstGeom prst="rect">
            <a:avLst/>
          </a:prstGeom>
          <a:noFill/>
        </p:spPr>
        <p:txBody>
          <a:bodyPr wrap="square" lIns="0" tIns="0" rIns="0" bIns="0" anchor="t">
            <a:spAutoFit/>
          </a:bodyPr>
          <a:lstStyle/>
          <a:p>
            <a:pPr algn="l">
              <a:lnSpc>
                <a:spcPct val="122000"/>
              </a:lnSpc>
            </a:pPr>
            <a:r>
              <a:rPr sz="1400" b="0" i="0">
                <a:solidFill>
                  <a:srgbClr val="FFFFFF"/>
                </a:solidFill>
                <a:latin typeface="Segoe UI"/>
              </a:rPr>
              <a:t>Pesan dikirim melalui antarmuka moderasi — pengguna tidak perlu melakukan preprocessing apa pun.</a:t>
            </a:r>
          </a:p>
        </p:txBody>
      </p:sp>
      <p:sp>
        <p:nvSpPr>
          <p:cNvPr id="12" name="Isosceles Triangle 11"/>
          <p:cNvSpPr/>
          <p:nvPr/>
        </p:nvSpPr>
        <p:spPr>
          <a:xfrm rot="5400000">
            <a:off x="4695444" y="3858768"/>
            <a:ext cx="347472" cy="347472"/>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Rounded Rectangle 12"/>
          <p:cNvSpPr/>
          <p:nvPr/>
        </p:nvSpPr>
        <p:spPr>
          <a:xfrm>
            <a:off x="5097780" y="2633472"/>
            <a:ext cx="3817620" cy="27889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4" name="Picture 13" descr="card_header.png"/>
          <p:cNvPicPr>
            <a:picLocks noChangeAspect="1"/>
          </p:cNvPicPr>
          <p:nvPr/>
        </p:nvPicPr>
        <p:blipFill>
          <a:blip r:embed="rId4"/>
          <a:stretch>
            <a:fillRect/>
          </a:stretch>
        </p:blipFill>
        <p:spPr>
          <a:xfrm>
            <a:off x="5097780" y="2644444"/>
            <a:ext cx="3817620" cy="402336"/>
          </a:xfrm>
          <a:prstGeom prst="rect">
            <a:avLst/>
          </a:prstGeom>
        </p:spPr>
      </p:pic>
      <p:sp>
        <p:nvSpPr>
          <p:cNvPr id="15" name="TextBox 14"/>
          <p:cNvSpPr txBox="1"/>
          <p:nvPr/>
        </p:nvSpPr>
        <p:spPr>
          <a:xfrm>
            <a:off x="5573268" y="2724912"/>
            <a:ext cx="319582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LAPISAN APLIKASI</a:t>
            </a:r>
          </a:p>
        </p:txBody>
      </p:sp>
      <p:sp>
        <p:nvSpPr>
          <p:cNvPr id="16" name="TextBox 15"/>
          <p:cNvSpPr txBox="1"/>
          <p:nvPr/>
        </p:nvSpPr>
        <p:spPr>
          <a:xfrm>
            <a:off x="5280660"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02</a:t>
            </a:r>
          </a:p>
        </p:txBody>
      </p:sp>
      <p:sp>
        <p:nvSpPr>
          <p:cNvPr id="17" name="TextBox 16"/>
          <p:cNvSpPr txBox="1"/>
          <p:nvPr/>
        </p:nvSpPr>
        <p:spPr>
          <a:xfrm>
            <a:off x="5372100" y="3291839"/>
            <a:ext cx="3268980" cy="402336"/>
          </a:xfrm>
          <a:prstGeom prst="rect">
            <a:avLst/>
          </a:prstGeom>
          <a:noFill/>
        </p:spPr>
        <p:txBody>
          <a:bodyPr wrap="square" lIns="0" tIns="0" rIns="0" bIns="0" anchor="t">
            <a:spAutoFit/>
          </a:bodyPr>
          <a:lstStyle/>
          <a:p>
            <a:pPr algn="l">
              <a:lnSpc>
                <a:spcPct val="118000"/>
              </a:lnSpc>
            </a:pPr>
            <a:r>
              <a:rPr sz="2000" b="0" i="0">
                <a:solidFill>
                  <a:srgbClr val="FFC629"/>
                </a:solidFill>
                <a:latin typeface="Segoe UI Black"/>
              </a:rPr>
              <a:t>Streamlit</a:t>
            </a:r>
          </a:p>
        </p:txBody>
      </p:sp>
      <p:sp>
        <p:nvSpPr>
          <p:cNvPr id="18" name="TextBox 17"/>
          <p:cNvSpPr txBox="1"/>
          <p:nvPr/>
        </p:nvSpPr>
        <p:spPr>
          <a:xfrm>
            <a:off x="5372100" y="3803904"/>
            <a:ext cx="3268980" cy="1463040"/>
          </a:xfrm>
          <a:prstGeom prst="rect">
            <a:avLst/>
          </a:prstGeom>
          <a:noFill/>
        </p:spPr>
        <p:txBody>
          <a:bodyPr wrap="square" lIns="0" tIns="0" rIns="0" bIns="0" anchor="t">
            <a:spAutoFit/>
          </a:bodyPr>
          <a:lstStyle/>
          <a:p>
            <a:pPr algn="l">
              <a:lnSpc>
                <a:spcPct val="122000"/>
              </a:lnSpc>
            </a:pPr>
            <a:r>
              <a:rPr sz="1400" b="0" i="0">
                <a:solidFill>
                  <a:srgbClr val="FFFFFF"/>
                </a:solidFill>
                <a:latin typeface="Segoe UI"/>
              </a:rPr>
              <a:t>Menerapkan fungsi clean_text() yang identik dengan saat training, sehingga serving dan training melihat transformasi yang sama.</a:t>
            </a:r>
          </a:p>
        </p:txBody>
      </p:sp>
      <p:sp>
        <p:nvSpPr>
          <p:cNvPr id="19" name="Isosceles Triangle 18"/>
          <p:cNvSpPr/>
          <p:nvPr/>
        </p:nvSpPr>
        <p:spPr>
          <a:xfrm rot="5400000">
            <a:off x="8970264" y="3858768"/>
            <a:ext cx="347472" cy="347472"/>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ounded Rectangle 19"/>
          <p:cNvSpPr/>
          <p:nvPr/>
        </p:nvSpPr>
        <p:spPr>
          <a:xfrm>
            <a:off x="9372600" y="2633472"/>
            <a:ext cx="3817620" cy="27889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1" name="Picture 20" descr="card_header.png"/>
          <p:cNvPicPr>
            <a:picLocks noChangeAspect="1"/>
          </p:cNvPicPr>
          <p:nvPr/>
        </p:nvPicPr>
        <p:blipFill>
          <a:blip r:embed="rId4"/>
          <a:stretch>
            <a:fillRect/>
          </a:stretch>
        </p:blipFill>
        <p:spPr>
          <a:xfrm>
            <a:off x="9372600" y="2644444"/>
            <a:ext cx="3817620" cy="402336"/>
          </a:xfrm>
          <a:prstGeom prst="rect">
            <a:avLst/>
          </a:prstGeom>
        </p:spPr>
      </p:pic>
      <p:sp>
        <p:nvSpPr>
          <p:cNvPr id="22" name="TextBox 21"/>
          <p:cNvSpPr txBox="1"/>
          <p:nvPr/>
        </p:nvSpPr>
        <p:spPr>
          <a:xfrm>
            <a:off x="9848088" y="2724912"/>
            <a:ext cx="319582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MODEL MACHINE LEARNING</a:t>
            </a:r>
          </a:p>
        </p:txBody>
      </p:sp>
      <p:sp>
        <p:nvSpPr>
          <p:cNvPr id="23" name="TextBox 22"/>
          <p:cNvSpPr txBox="1"/>
          <p:nvPr/>
        </p:nvSpPr>
        <p:spPr>
          <a:xfrm>
            <a:off x="9555480"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03</a:t>
            </a:r>
          </a:p>
        </p:txBody>
      </p:sp>
      <p:sp>
        <p:nvSpPr>
          <p:cNvPr id="24" name="TextBox 23"/>
          <p:cNvSpPr txBox="1"/>
          <p:nvPr/>
        </p:nvSpPr>
        <p:spPr>
          <a:xfrm>
            <a:off x="9646920" y="3291839"/>
            <a:ext cx="3268980" cy="402336"/>
          </a:xfrm>
          <a:prstGeom prst="rect">
            <a:avLst/>
          </a:prstGeom>
          <a:noFill/>
        </p:spPr>
        <p:txBody>
          <a:bodyPr wrap="square" lIns="0" tIns="0" rIns="0" bIns="0" anchor="t">
            <a:spAutoFit/>
          </a:bodyPr>
          <a:lstStyle/>
          <a:p>
            <a:pPr algn="l">
              <a:lnSpc>
                <a:spcPct val="118000"/>
              </a:lnSpc>
            </a:pPr>
            <a:r>
              <a:rPr sz="2000" b="0" i="0">
                <a:solidFill>
                  <a:srgbClr val="FFC629"/>
                </a:solidFill>
                <a:latin typeface="Segoe UI Black"/>
              </a:rPr>
              <a:t>Artifact 5,2 MB</a:t>
            </a:r>
          </a:p>
        </p:txBody>
      </p:sp>
      <p:sp>
        <p:nvSpPr>
          <p:cNvPr id="25" name="TextBox 24"/>
          <p:cNvSpPr txBox="1"/>
          <p:nvPr/>
        </p:nvSpPr>
        <p:spPr>
          <a:xfrm>
            <a:off x="9646920" y="3803904"/>
            <a:ext cx="3268980" cy="1463040"/>
          </a:xfrm>
          <a:prstGeom prst="rect">
            <a:avLst/>
          </a:prstGeom>
          <a:noFill/>
        </p:spPr>
        <p:txBody>
          <a:bodyPr wrap="square" lIns="0" tIns="0" rIns="0" bIns="0" anchor="t">
            <a:spAutoFit/>
          </a:bodyPr>
          <a:lstStyle/>
          <a:p>
            <a:pPr algn="l">
              <a:lnSpc>
                <a:spcPct val="122000"/>
              </a:lnSpc>
            </a:pPr>
            <a:r>
              <a:rPr sz="1400" b="0" i="0">
                <a:solidFill>
                  <a:srgbClr val="FFFFFF"/>
                </a:solidFill>
                <a:latin typeface="Segoe UI"/>
              </a:rPr>
              <a:t>cyberbullying_model.pkl — TF-IDF (1-2 gram, 60.000 fitur) plus SGD Classifier (modified_huber), dilatih pada seluruh korpus bersih, dimuat sekali via joblib.</a:t>
            </a:r>
          </a:p>
        </p:txBody>
      </p:sp>
      <p:sp>
        <p:nvSpPr>
          <p:cNvPr id="26" name="Isosceles Triangle 25"/>
          <p:cNvSpPr/>
          <p:nvPr/>
        </p:nvSpPr>
        <p:spPr>
          <a:xfrm rot="5400000">
            <a:off x="13245084" y="3858768"/>
            <a:ext cx="347472" cy="347472"/>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ounded Rectangle 26"/>
          <p:cNvSpPr/>
          <p:nvPr/>
        </p:nvSpPr>
        <p:spPr>
          <a:xfrm>
            <a:off x="13647420" y="2633472"/>
            <a:ext cx="3817620" cy="27889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8" name="Picture 27" descr="card_header.png"/>
          <p:cNvPicPr>
            <a:picLocks noChangeAspect="1"/>
          </p:cNvPicPr>
          <p:nvPr/>
        </p:nvPicPr>
        <p:blipFill>
          <a:blip r:embed="rId4"/>
          <a:stretch>
            <a:fillRect/>
          </a:stretch>
        </p:blipFill>
        <p:spPr>
          <a:xfrm>
            <a:off x="13647420" y="2644444"/>
            <a:ext cx="3817620" cy="402336"/>
          </a:xfrm>
          <a:prstGeom prst="rect">
            <a:avLst/>
          </a:prstGeom>
        </p:spPr>
      </p:pic>
      <p:sp>
        <p:nvSpPr>
          <p:cNvPr id="29" name="TextBox 28"/>
          <p:cNvSpPr txBox="1"/>
          <p:nvPr/>
        </p:nvSpPr>
        <p:spPr>
          <a:xfrm>
            <a:off x="14122908" y="2724912"/>
            <a:ext cx="319582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HASIL PREDIKSI</a:t>
            </a:r>
          </a:p>
        </p:txBody>
      </p:sp>
      <p:sp>
        <p:nvSpPr>
          <p:cNvPr id="30" name="TextBox 29"/>
          <p:cNvSpPr txBox="1"/>
          <p:nvPr/>
        </p:nvSpPr>
        <p:spPr>
          <a:xfrm>
            <a:off x="13830300" y="2715768"/>
            <a:ext cx="310896" cy="274320"/>
          </a:xfrm>
          <a:prstGeom prst="rect">
            <a:avLst/>
          </a:prstGeom>
          <a:noFill/>
        </p:spPr>
        <p:txBody>
          <a:bodyPr wrap="square" lIns="0" tIns="0" rIns="0" bIns="0" anchor="t">
            <a:spAutoFit/>
          </a:bodyPr>
          <a:lstStyle/>
          <a:p>
            <a:pPr algn="l">
              <a:lnSpc>
                <a:spcPct val="118000"/>
              </a:lnSpc>
            </a:pPr>
            <a:r>
              <a:rPr sz="1400" b="0" i="0">
                <a:solidFill>
                  <a:srgbClr val="FFC629"/>
                </a:solidFill>
                <a:latin typeface="Segoe UI Black"/>
              </a:rPr>
              <a:t>04</a:t>
            </a:r>
          </a:p>
        </p:txBody>
      </p:sp>
      <p:sp>
        <p:nvSpPr>
          <p:cNvPr id="31" name="TextBox 30"/>
          <p:cNvSpPr txBox="1"/>
          <p:nvPr/>
        </p:nvSpPr>
        <p:spPr>
          <a:xfrm>
            <a:off x="13921740" y="3291839"/>
            <a:ext cx="3268980" cy="402336"/>
          </a:xfrm>
          <a:prstGeom prst="rect">
            <a:avLst/>
          </a:prstGeom>
          <a:noFill/>
        </p:spPr>
        <p:txBody>
          <a:bodyPr wrap="square" lIns="0" tIns="0" rIns="0" bIns="0" anchor="t">
            <a:spAutoFit/>
          </a:bodyPr>
          <a:lstStyle/>
          <a:p>
            <a:pPr algn="l">
              <a:lnSpc>
                <a:spcPct val="118000"/>
              </a:lnSpc>
            </a:pPr>
            <a:r>
              <a:rPr sz="2000" b="0" i="0">
                <a:solidFill>
                  <a:srgbClr val="FFC629"/>
                </a:solidFill>
                <a:latin typeface="Segoe UI Black"/>
              </a:rPr>
              <a:t>Kategori + skor</a:t>
            </a:r>
          </a:p>
        </p:txBody>
      </p:sp>
      <p:sp>
        <p:nvSpPr>
          <p:cNvPr id="32" name="TextBox 31"/>
          <p:cNvSpPr txBox="1"/>
          <p:nvPr/>
        </p:nvSpPr>
        <p:spPr>
          <a:xfrm>
            <a:off x="13921740" y="3803904"/>
            <a:ext cx="3268980" cy="1463040"/>
          </a:xfrm>
          <a:prstGeom prst="rect">
            <a:avLst/>
          </a:prstGeom>
          <a:noFill/>
        </p:spPr>
        <p:txBody>
          <a:bodyPr wrap="square" lIns="0" tIns="0" rIns="0" bIns="0" anchor="t">
            <a:spAutoFit/>
          </a:bodyPr>
          <a:lstStyle/>
          <a:p>
            <a:pPr algn="l">
              <a:lnSpc>
                <a:spcPct val="122000"/>
              </a:lnSpc>
            </a:pPr>
            <a:r>
              <a:rPr sz="1400" b="0" i="0">
                <a:solidFill>
                  <a:srgbClr val="FFFFFF"/>
                </a:solidFill>
                <a:latin typeface="Segoe UI"/>
              </a:rPr>
              <a:t>Salah satu dari 6 kategori bahaya beserta skor keyakinan — modified_huber mendukung estimasi probabilitas, sehingga routing berbasis threshold dimungkinkan.</a:t>
            </a:r>
          </a:p>
        </p:txBody>
      </p:sp>
      <p:sp>
        <p:nvSpPr>
          <p:cNvPr id="33" name="Rounded Rectangle 32"/>
          <p:cNvSpPr/>
          <p:nvPr/>
        </p:nvSpPr>
        <p:spPr>
          <a:xfrm>
            <a:off x="822960" y="5788152"/>
            <a:ext cx="10607040" cy="201168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ectangle 33"/>
          <p:cNvSpPr/>
          <p:nvPr/>
        </p:nvSpPr>
        <p:spPr>
          <a:xfrm>
            <a:off x="822960" y="5788152"/>
            <a:ext cx="68580" cy="201168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1152144" y="5989320"/>
            <a:ext cx="5852160" cy="274320"/>
          </a:xfrm>
          <a:prstGeom prst="rect">
            <a:avLst/>
          </a:prstGeom>
          <a:noFill/>
        </p:spPr>
        <p:txBody>
          <a:bodyPr wrap="square" lIns="0" tIns="0" rIns="0" bIns="0" anchor="t">
            <a:spAutoFit/>
          </a:bodyPr>
          <a:lstStyle/>
          <a:p>
            <a:pPr algn="l">
              <a:lnSpc>
                <a:spcPct val="118000"/>
              </a:lnSpc>
            </a:pPr>
            <a:r>
              <a:rPr sz="1400" b="1" i="0">
                <a:solidFill>
                  <a:srgbClr val="FFC629"/>
                </a:solidFill>
                <a:latin typeface="Segoe UI"/>
              </a:rPr>
              <a:t>KESIAPAN DEPLOYMENT</a:t>
            </a:r>
          </a:p>
        </p:txBody>
      </p:sp>
      <p:sp>
        <p:nvSpPr>
          <p:cNvPr id="36" name="Rectangle 35"/>
          <p:cNvSpPr/>
          <p:nvPr/>
        </p:nvSpPr>
        <p:spPr>
          <a:xfrm>
            <a:off x="1152144" y="6469380"/>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1371600" y="6373368"/>
            <a:ext cx="9747504" cy="603250"/>
          </a:xfrm>
          <a:prstGeom prst="rect">
            <a:avLst/>
          </a:prstGeom>
          <a:noFill/>
        </p:spPr>
        <p:txBody>
          <a:bodyPr wrap="square" lIns="0" tIns="0" rIns="0" bIns="0" anchor="t">
            <a:spAutoFit/>
          </a:bodyPr>
          <a:lstStyle/>
          <a:p>
            <a:pPr algn="l">
              <a:lnSpc>
                <a:spcPct val="124000"/>
              </a:lnSpc>
            </a:pPr>
            <a:r>
              <a:rPr sz="1450" b="0" i="0">
                <a:solidFill>
                  <a:srgbClr val="FFFFFF"/>
                </a:solidFill>
                <a:latin typeface="Segoe UI"/>
              </a:rPr>
              <a:t>Pipeline terbungkus utuh: teks mentah masuk, kategori keluar, tanpa langkah preprocessing manual di antara antarmuka dan model.</a:t>
            </a:r>
          </a:p>
        </p:txBody>
      </p:sp>
      <p:sp>
        <p:nvSpPr>
          <p:cNvPr id="38" name="Rectangle 37"/>
          <p:cNvSpPr/>
          <p:nvPr/>
        </p:nvSpPr>
        <p:spPr>
          <a:xfrm>
            <a:off x="1152144" y="721893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1371600" y="7122922"/>
            <a:ext cx="9747504" cy="603250"/>
          </a:xfrm>
          <a:prstGeom prst="rect">
            <a:avLst/>
          </a:prstGeom>
          <a:noFill/>
        </p:spPr>
        <p:txBody>
          <a:bodyPr wrap="square" lIns="0" tIns="0" rIns="0" bIns="0" anchor="t">
            <a:spAutoFit/>
          </a:bodyPr>
          <a:lstStyle/>
          <a:p>
            <a:pPr algn="l">
              <a:lnSpc>
                <a:spcPct val="124000"/>
              </a:lnSpc>
            </a:pPr>
            <a:r>
              <a:rPr sz="1450" b="0" i="0">
                <a:solidFill>
                  <a:srgbClr val="FFFFFF"/>
                </a:solidFill>
                <a:latin typeface="Segoe UI"/>
              </a:rPr>
              <a:t>Artifact berdiri sendiri di 5,2 MB dan dimuat dalam satu panggilan joblib — tidak perlu retraining untuk melayani prediksi.</a:t>
            </a:r>
          </a:p>
        </p:txBody>
      </p:sp>
      <p:sp>
        <p:nvSpPr>
          <p:cNvPr id="40" name="Rounded Rectangle 39"/>
          <p:cNvSpPr/>
          <p:nvPr/>
        </p:nvSpPr>
        <p:spPr>
          <a:xfrm>
            <a:off x="11887200" y="5788152"/>
            <a:ext cx="5577840" cy="201168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ectangle 40"/>
          <p:cNvSpPr/>
          <p:nvPr/>
        </p:nvSpPr>
        <p:spPr>
          <a:xfrm>
            <a:off x="11887200" y="5788152"/>
            <a:ext cx="68580" cy="201168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2216384" y="5989320"/>
            <a:ext cx="4937760" cy="274320"/>
          </a:xfrm>
          <a:prstGeom prst="rect">
            <a:avLst/>
          </a:prstGeom>
          <a:noFill/>
        </p:spPr>
        <p:txBody>
          <a:bodyPr wrap="square" lIns="0" tIns="0" rIns="0" bIns="0" anchor="t">
            <a:spAutoFit/>
          </a:bodyPr>
          <a:lstStyle/>
          <a:p>
            <a:pPr algn="l">
              <a:lnSpc>
                <a:spcPct val="118000"/>
              </a:lnSpc>
            </a:pPr>
            <a:r>
              <a:rPr sz="1400" b="1" i="0">
                <a:solidFill>
                  <a:srgbClr val="4ADE80"/>
                </a:solidFill>
                <a:latin typeface="Segoe UI"/>
              </a:rPr>
              <a:t>APLIKASI SUDAH LIVE</a:t>
            </a:r>
          </a:p>
        </p:txBody>
      </p:sp>
      <p:sp>
        <p:nvSpPr>
          <p:cNvPr id="43" name="TextBox 42"/>
          <p:cNvSpPr txBox="1"/>
          <p:nvPr/>
        </p:nvSpPr>
        <p:spPr>
          <a:xfrm>
            <a:off x="12216384" y="6336792"/>
            <a:ext cx="5120640" cy="603504"/>
          </a:xfrm>
          <a:prstGeom prst="rect">
            <a:avLst/>
          </a:prstGeom>
          <a:noFill/>
        </p:spPr>
        <p:txBody>
          <a:bodyPr wrap="square" lIns="0" tIns="0" rIns="0" bIns="0">
            <a:spAutoFit/>
          </a:bodyPr>
          <a:lstStyle/>
          <a:p>
            <a:r>
              <a:rPr sz="1400" b="1">
                <a:solidFill>
                  <a:srgbClr val="93C5FD"/>
                </a:solidFill>
                <a:latin typeface="Segoe UI"/>
                <a:hlinkClick r:id="rId5"/>
              </a:rPr>
              <a:t>cyberbullying-detector-
thewizardgroup3.streamlit.app</a:t>
            </a:r>
          </a:p>
        </p:txBody>
      </p:sp>
      <p:sp>
        <p:nvSpPr>
          <p:cNvPr id="44" name="TextBox 43"/>
          <p:cNvSpPr txBox="1"/>
          <p:nvPr/>
        </p:nvSpPr>
        <p:spPr>
          <a:xfrm>
            <a:off x="12216384" y="7086600"/>
            <a:ext cx="5120640" cy="603504"/>
          </a:xfrm>
          <a:prstGeom prst="rect">
            <a:avLst/>
          </a:prstGeom>
          <a:noFill/>
        </p:spPr>
        <p:txBody>
          <a:bodyPr wrap="square" lIns="0" tIns="0" rIns="0" bIns="0" anchor="t">
            <a:spAutoFit/>
          </a:bodyPr>
          <a:lstStyle/>
          <a:p>
            <a:pPr algn="l">
              <a:lnSpc>
                <a:spcPct val="120000"/>
              </a:lnSpc>
            </a:pPr>
            <a:r>
              <a:rPr sz="1250" b="0" i="0">
                <a:solidFill>
                  <a:srgbClr val="C7D2EC"/>
                </a:solidFill>
                <a:latin typeface="Segoe UI"/>
              </a:rPr>
              <a:t>Di-hosting di Streamlit Community Cloud. Akses saat ini masih privat — set ke publik sebelum demo.</a:t>
            </a:r>
          </a:p>
        </p:txBody>
      </p:sp>
      <p:sp>
        <p:nvSpPr>
          <p:cNvPr id="45" name="Rectangle 44"/>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Rectangle 45"/>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KESIAPAN</a:t>
            </a:r>
          </a:p>
        </p:txBody>
      </p:sp>
      <p:sp>
        <p:nvSpPr>
          <p:cNvPr id="48" name="TextBox 47"/>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Satu artifact terbungkus, satu panggilan fungsi — dan aplikasinya sudah berjalan di Streamlit Community Cloud.</a:t>
            </a:r>
          </a:p>
        </p:txBody>
      </p:sp>
      <p:sp>
        <p:nvSpPr>
          <p:cNvPr id="49" name="TextBox 48"/>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definisi final pipeline dan artifact model tersimpan (cyberbullying_model.pkl, 5.225.968 byte); aplikasi live di Streamlit Community Cloud.</a:t>
            </a:r>
          </a:p>
        </p:txBody>
      </p:sp>
      <p:sp>
        <p:nvSpPr>
          <p:cNvPr id="50" name="TextBox 49"/>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DEPLOYMENT · DETEKSI REAL-TIME DALAM PRAKTIK</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Aplikasi membuktikan kapabilitas deteksi cyberbullying secara real-time</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ectangle 5"/>
          <p:cNvSpPr/>
          <p:nvPr/>
        </p:nvSpPr>
        <p:spPr>
          <a:xfrm>
            <a:off x="822960" y="2633472"/>
            <a:ext cx="8595360" cy="5029200"/>
          </a:xfrm>
          <a:prstGeom prst="rect">
            <a:avLst/>
          </a:prstGeom>
          <a:solidFill>
            <a:srgbClr val="060A1E"/>
          </a:solidFill>
          <a:ln w="1270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822960" y="4736592"/>
            <a:ext cx="8595360" cy="822960"/>
          </a:xfrm>
          <a:prstGeom prst="rect">
            <a:avLst/>
          </a:prstGeom>
          <a:noFill/>
        </p:spPr>
        <p:txBody>
          <a:bodyPr wrap="square" lIns="0" tIns="0" rIns="0" bIns="0" anchor="t">
            <a:spAutoFit/>
          </a:bodyPr>
          <a:lstStyle/>
          <a:p>
            <a:pPr algn="ctr">
              <a:lnSpc>
                <a:spcPct val="118000"/>
              </a:lnSpc>
            </a:pPr>
            <a:r>
              <a:rPr sz="1900" b="0" i="0">
                <a:solidFill>
                  <a:srgbClr val="FF5A6E"/>
                </a:solidFill>
                <a:latin typeface="Segoe UI Black"/>
              </a:rPr>
              <a:t>MASUKKAN SCREENSHOT STREAMLIT DI SINI</a:t>
            </a:r>
          </a:p>
          <a:p>
            <a:pPr algn="ctr">
              <a:lnSpc>
                <a:spcPct val="118000"/>
              </a:lnSpc>
            </a:pPr>
            <a:r>
              <a:rPr sz="1400" b="0" i="0">
                <a:solidFill>
                  <a:srgbClr val="8A99C4"/>
                </a:solidFill>
                <a:latin typeface="Segoe UI"/>
              </a:rPr>
              <a:t>Buka aplikasi pada tautan di bawah, masukkan satu pesan contoh, lalu ganti frame ini dengan tangkapan layarnya.</a:t>
            </a:r>
          </a:p>
        </p:txBody>
      </p:sp>
      <p:sp>
        <p:nvSpPr>
          <p:cNvPr id="8" name="TextBox 7"/>
          <p:cNvSpPr txBox="1"/>
          <p:nvPr/>
        </p:nvSpPr>
        <p:spPr>
          <a:xfrm>
            <a:off x="822960" y="7772400"/>
            <a:ext cx="1828800" cy="274320"/>
          </a:xfrm>
          <a:prstGeom prst="rect">
            <a:avLst/>
          </a:prstGeom>
          <a:noFill/>
        </p:spPr>
        <p:txBody>
          <a:bodyPr wrap="square" lIns="0" tIns="0" rIns="0" bIns="0" anchor="t">
            <a:spAutoFit/>
          </a:bodyPr>
          <a:lstStyle/>
          <a:p>
            <a:pPr algn="l">
              <a:lnSpc>
                <a:spcPct val="118000"/>
              </a:lnSpc>
            </a:pPr>
            <a:r>
              <a:rPr sz="1300" b="1" i="0">
                <a:solidFill>
                  <a:srgbClr val="8A99C4"/>
                </a:solidFill>
                <a:latin typeface="Segoe UI"/>
              </a:rPr>
              <a:t>Tautan aplikasi:</a:t>
            </a:r>
          </a:p>
        </p:txBody>
      </p:sp>
      <p:sp>
        <p:nvSpPr>
          <p:cNvPr id="9" name="TextBox 8"/>
          <p:cNvSpPr txBox="1"/>
          <p:nvPr/>
        </p:nvSpPr>
        <p:spPr>
          <a:xfrm>
            <a:off x="2240280" y="7772400"/>
            <a:ext cx="7132320" cy="274320"/>
          </a:xfrm>
          <a:prstGeom prst="rect">
            <a:avLst/>
          </a:prstGeom>
          <a:noFill/>
        </p:spPr>
        <p:txBody>
          <a:bodyPr wrap="square" lIns="0" tIns="0" rIns="0" bIns="0">
            <a:spAutoFit/>
          </a:bodyPr>
          <a:lstStyle/>
          <a:p>
            <a:r>
              <a:rPr sz="1300" b="1">
                <a:solidFill>
                  <a:srgbClr val="93C5FD"/>
                </a:solidFill>
                <a:latin typeface="Segoe UI"/>
                <a:hlinkClick r:id="rId4"/>
              </a:rPr>
              <a:t>https://cyberbullying-detector-thewizardgroup3.streamlit.app/</a:t>
            </a:r>
          </a:p>
        </p:txBody>
      </p:sp>
      <p:sp>
        <p:nvSpPr>
          <p:cNvPr id="10" name="TextBox 9"/>
          <p:cNvSpPr txBox="1"/>
          <p:nvPr/>
        </p:nvSpPr>
        <p:spPr>
          <a:xfrm>
            <a:off x="9875520" y="2633472"/>
            <a:ext cx="7589520" cy="548640"/>
          </a:xfrm>
          <a:prstGeom prst="rect">
            <a:avLst/>
          </a:prstGeom>
          <a:noFill/>
        </p:spPr>
        <p:txBody>
          <a:bodyPr wrap="square" lIns="0" tIns="0" rIns="0" bIns="0" anchor="t">
            <a:spAutoFit/>
          </a:bodyPr>
          <a:lstStyle/>
          <a:p>
            <a:pPr algn="l">
              <a:lnSpc>
                <a:spcPct val="116000"/>
              </a:lnSpc>
            </a:pPr>
            <a:r>
              <a:rPr sz="1400" b="1" i="0">
                <a:solidFill>
                  <a:srgbClr val="FFFFFF"/>
                </a:solidFill>
                <a:latin typeface="Segoe UI"/>
              </a:rPr>
              <a:t>Prediksi terverifikasi pada pesan yang belum pernah dilihat</a:t>
            </a:r>
          </a:p>
        </p:txBody>
      </p:sp>
      <p:sp>
        <p:nvSpPr>
          <p:cNvPr id="11" name="Rounded Rectangle 10"/>
          <p:cNvSpPr/>
          <p:nvPr/>
        </p:nvSpPr>
        <p:spPr>
          <a:xfrm>
            <a:off x="9875520" y="3145536"/>
            <a:ext cx="7589520" cy="1060704"/>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9875520" y="3145536"/>
            <a:ext cx="68580" cy="1060704"/>
          </a:xfrm>
          <a:prstGeom prst="rect">
            <a:avLst/>
          </a:prstGeom>
          <a:solidFill>
            <a:srgbClr val="FF5A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10186416" y="3328416"/>
            <a:ext cx="6949440" cy="310896"/>
          </a:xfrm>
          <a:prstGeom prst="rect">
            <a:avLst/>
          </a:prstGeom>
          <a:noFill/>
        </p:spPr>
        <p:txBody>
          <a:bodyPr wrap="square" lIns="0" tIns="0" rIns="0" bIns="0" anchor="t">
            <a:spAutoFit/>
          </a:bodyPr>
          <a:lstStyle/>
          <a:p>
            <a:pPr algn="l">
              <a:lnSpc>
                <a:spcPct val="118000"/>
              </a:lnSpc>
            </a:pPr>
            <a:r>
              <a:rPr sz="1500" b="0" i="1">
                <a:solidFill>
                  <a:srgbClr val="FFFFFF"/>
                </a:solidFill>
                <a:latin typeface="Segoe UI"/>
              </a:rPr>
              <a:t>"You are stupid and nobody likes you"</a:t>
            </a:r>
          </a:p>
        </p:txBody>
      </p:sp>
      <p:sp>
        <p:nvSpPr>
          <p:cNvPr id="14" name="TextBox 13"/>
          <p:cNvSpPr txBox="1"/>
          <p:nvPr/>
        </p:nvSpPr>
        <p:spPr>
          <a:xfrm>
            <a:off x="10186416" y="3749039"/>
            <a:ext cx="2194560" cy="256032"/>
          </a:xfrm>
          <a:prstGeom prst="rect">
            <a:avLst/>
          </a:prstGeom>
          <a:noFill/>
        </p:spPr>
        <p:txBody>
          <a:bodyPr wrap="square" lIns="0" tIns="0" rIns="0" bIns="0" anchor="t">
            <a:spAutoFit/>
          </a:bodyPr>
          <a:lstStyle/>
          <a:p>
            <a:pPr algn="l">
              <a:lnSpc>
                <a:spcPct val="118000"/>
              </a:lnSpc>
            </a:pPr>
            <a:r>
              <a:rPr sz="1100" b="1" i="0">
                <a:solidFill>
                  <a:srgbClr val="8A99C4"/>
                </a:solidFill>
                <a:latin typeface="Segoe UI"/>
              </a:rPr>
              <a:t>PREDIKSI</a:t>
            </a:r>
          </a:p>
        </p:txBody>
      </p:sp>
      <p:sp>
        <p:nvSpPr>
          <p:cNvPr id="15" name="TextBox 14"/>
          <p:cNvSpPr txBox="1"/>
          <p:nvPr/>
        </p:nvSpPr>
        <p:spPr>
          <a:xfrm>
            <a:off x="12161520" y="3712463"/>
            <a:ext cx="4937760" cy="292608"/>
          </a:xfrm>
          <a:prstGeom prst="rect">
            <a:avLst/>
          </a:prstGeom>
          <a:noFill/>
        </p:spPr>
        <p:txBody>
          <a:bodyPr wrap="square" lIns="0" tIns="0" rIns="0" bIns="0" anchor="t">
            <a:spAutoFit/>
          </a:bodyPr>
          <a:lstStyle/>
          <a:p>
            <a:pPr algn="l">
              <a:lnSpc>
                <a:spcPct val="118000"/>
              </a:lnSpc>
            </a:pPr>
            <a:r>
              <a:rPr sz="1600" b="0" i="0">
                <a:solidFill>
                  <a:srgbClr val="FF5A6E"/>
                </a:solidFill>
                <a:latin typeface="Segoe UI Black"/>
              </a:rPr>
              <a:t>other_cyberbullying</a:t>
            </a:r>
          </a:p>
        </p:txBody>
      </p:sp>
      <p:sp>
        <p:nvSpPr>
          <p:cNvPr id="16" name="Rounded Rectangle 15"/>
          <p:cNvSpPr/>
          <p:nvPr/>
        </p:nvSpPr>
        <p:spPr>
          <a:xfrm>
            <a:off x="9875520" y="4389120"/>
            <a:ext cx="7589520" cy="1060704"/>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9875520" y="4389120"/>
            <a:ext cx="68580" cy="1060704"/>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0186416" y="4572000"/>
            <a:ext cx="6949440" cy="310896"/>
          </a:xfrm>
          <a:prstGeom prst="rect">
            <a:avLst/>
          </a:prstGeom>
          <a:noFill/>
        </p:spPr>
        <p:txBody>
          <a:bodyPr wrap="square" lIns="0" tIns="0" rIns="0" bIns="0" anchor="t">
            <a:spAutoFit/>
          </a:bodyPr>
          <a:lstStyle/>
          <a:p>
            <a:pPr algn="l">
              <a:lnSpc>
                <a:spcPct val="118000"/>
              </a:lnSpc>
            </a:pPr>
            <a:r>
              <a:rPr sz="1500" b="0" i="1">
                <a:solidFill>
                  <a:srgbClr val="FFFFFF"/>
                </a:solidFill>
                <a:latin typeface="Segoe UI"/>
              </a:rPr>
              <a:t>"I hope everyone has a great day"</a:t>
            </a:r>
          </a:p>
        </p:txBody>
      </p:sp>
      <p:sp>
        <p:nvSpPr>
          <p:cNvPr id="19" name="TextBox 18"/>
          <p:cNvSpPr txBox="1"/>
          <p:nvPr/>
        </p:nvSpPr>
        <p:spPr>
          <a:xfrm>
            <a:off x="10186416" y="4992624"/>
            <a:ext cx="2194560" cy="256032"/>
          </a:xfrm>
          <a:prstGeom prst="rect">
            <a:avLst/>
          </a:prstGeom>
          <a:noFill/>
        </p:spPr>
        <p:txBody>
          <a:bodyPr wrap="square" lIns="0" tIns="0" rIns="0" bIns="0" anchor="t">
            <a:spAutoFit/>
          </a:bodyPr>
          <a:lstStyle/>
          <a:p>
            <a:pPr algn="l">
              <a:lnSpc>
                <a:spcPct val="118000"/>
              </a:lnSpc>
            </a:pPr>
            <a:r>
              <a:rPr sz="1100" b="1" i="0">
                <a:solidFill>
                  <a:srgbClr val="8A99C4"/>
                </a:solidFill>
                <a:latin typeface="Segoe UI"/>
              </a:rPr>
              <a:t>PREDIKSI</a:t>
            </a:r>
          </a:p>
        </p:txBody>
      </p:sp>
      <p:sp>
        <p:nvSpPr>
          <p:cNvPr id="20" name="TextBox 19"/>
          <p:cNvSpPr txBox="1"/>
          <p:nvPr/>
        </p:nvSpPr>
        <p:spPr>
          <a:xfrm>
            <a:off x="12161520" y="4956048"/>
            <a:ext cx="4937760" cy="292608"/>
          </a:xfrm>
          <a:prstGeom prst="rect">
            <a:avLst/>
          </a:prstGeom>
          <a:noFill/>
        </p:spPr>
        <p:txBody>
          <a:bodyPr wrap="square" lIns="0" tIns="0" rIns="0" bIns="0" anchor="t">
            <a:spAutoFit/>
          </a:bodyPr>
          <a:lstStyle/>
          <a:p>
            <a:pPr algn="l">
              <a:lnSpc>
                <a:spcPct val="118000"/>
              </a:lnSpc>
            </a:pPr>
            <a:r>
              <a:rPr sz="1600" b="0" i="0">
                <a:solidFill>
                  <a:srgbClr val="4ADE80"/>
                </a:solidFill>
                <a:latin typeface="Segoe UI Black"/>
              </a:rPr>
              <a:t>not_cyberbullying</a:t>
            </a:r>
          </a:p>
        </p:txBody>
      </p:sp>
      <p:sp>
        <p:nvSpPr>
          <p:cNvPr id="21" name="Rounded Rectangle 20"/>
          <p:cNvSpPr/>
          <p:nvPr/>
        </p:nvSpPr>
        <p:spPr>
          <a:xfrm>
            <a:off x="9875520" y="5632704"/>
            <a:ext cx="7589520" cy="1060704"/>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9875520" y="5632704"/>
            <a:ext cx="68580" cy="1060704"/>
          </a:xfrm>
          <a:prstGeom prst="rect">
            <a:avLst/>
          </a:prstGeom>
          <a:solidFill>
            <a:srgbClr val="FF5A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10186416" y="5815584"/>
            <a:ext cx="6949440" cy="310896"/>
          </a:xfrm>
          <a:prstGeom prst="rect">
            <a:avLst/>
          </a:prstGeom>
          <a:noFill/>
        </p:spPr>
        <p:txBody>
          <a:bodyPr wrap="square" lIns="0" tIns="0" rIns="0" bIns="0" anchor="t">
            <a:spAutoFit/>
          </a:bodyPr>
          <a:lstStyle/>
          <a:p>
            <a:pPr algn="l">
              <a:lnSpc>
                <a:spcPct val="118000"/>
              </a:lnSpc>
            </a:pPr>
            <a:r>
              <a:rPr sz="1500" b="0" i="1">
                <a:solidFill>
                  <a:srgbClr val="FFFFFF"/>
                </a:solidFill>
                <a:latin typeface="Segoe UI"/>
              </a:rPr>
              <a:t>"Those people from that religion are disgusting"</a:t>
            </a:r>
          </a:p>
        </p:txBody>
      </p:sp>
      <p:sp>
        <p:nvSpPr>
          <p:cNvPr id="24" name="TextBox 23"/>
          <p:cNvSpPr txBox="1"/>
          <p:nvPr/>
        </p:nvSpPr>
        <p:spPr>
          <a:xfrm>
            <a:off x="10186416" y="6236208"/>
            <a:ext cx="2194560" cy="256032"/>
          </a:xfrm>
          <a:prstGeom prst="rect">
            <a:avLst/>
          </a:prstGeom>
          <a:noFill/>
        </p:spPr>
        <p:txBody>
          <a:bodyPr wrap="square" lIns="0" tIns="0" rIns="0" bIns="0" anchor="t">
            <a:spAutoFit/>
          </a:bodyPr>
          <a:lstStyle/>
          <a:p>
            <a:pPr algn="l">
              <a:lnSpc>
                <a:spcPct val="118000"/>
              </a:lnSpc>
            </a:pPr>
            <a:r>
              <a:rPr sz="1100" b="1" i="0">
                <a:solidFill>
                  <a:srgbClr val="8A99C4"/>
                </a:solidFill>
                <a:latin typeface="Segoe UI"/>
              </a:rPr>
              <a:t>PREDIKSI</a:t>
            </a:r>
          </a:p>
        </p:txBody>
      </p:sp>
      <p:sp>
        <p:nvSpPr>
          <p:cNvPr id="25" name="TextBox 24"/>
          <p:cNvSpPr txBox="1"/>
          <p:nvPr/>
        </p:nvSpPr>
        <p:spPr>
          <a:xfrm>
            <a:off x="12161520" y="6199632"/>
            <a:ext cx="4937760" cy="292608"/>
          </a:xfrm>
          <a:prstGeom prst="rect">
            <a:avLst/>
          </a:prstGeom>
          <a:noFill/>
        </p:spPr>
        <p:txBody>
          <a:bodyPr wrap="square" lIns="0" tIns="0" rIns="0" bIns="0" anchor="t">
            <a:spAutoFit/>
          </a:bodyPr>
          <a:lstStyle/>
          <a:p>
            <a:pPr algn="l">
              <a:lnSpc>
                <a:spcPct val="118000"/>
              </a:lnSpc>
            </a:pPr>
            <a:r>
              <a:rPr sz="1600" b="0" i="0">
                <a:solidFill>
                  <a:srgbClr val="FF5A6E"/>
                </a:solidFill>
                <a:latin typeface="Segoe UI Black"/>
              </a:rPr>
              <a:t>other_cyberbullying</a:t>
            </a:r>
          </a:p>
        </p:txBody>
      </p:sp>
      <p:sp>
        <p:nvSpPr>
          <p:cNvPr id="26" name="Rounded Rectangle 25"/>
          <p:cNvSpPr/>
          <p:nvPr/>
        </p:nvSpPr>
        <p:spPr>
          <a:xfrm>
            <a:off x="9875520" y="6986016"/>
            <a:ext cx="7589520" cy="1353312"/>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27" name="Picture 26" descr="card_header.png"/>
          <p:cNvPicPr>
            <a:picLocks noChangeAspect="1"/>
          </p:cNvPicPr>
          <p:nvPr/>
        </p:nvPicPr>
        <p:blipFill>
          <a:blip r:embed="rId5"/>
          <a:stretch>
            <a:fillRect/>
          </a:stretch>
        </p:blipFill>
        <p:spPr>
          <a:xfrm>
            <a:off x="9875520" y="6996988"/>
            <a:ext cx="7589520" cy="402336"/>
          </a:xfrm>
          <a:prstGeom prst="rect">
            <a:avLst/>
          </a:prstGeom>
        </p:spPr>
      </p:pic>
      <p:sp>
        <p:nvSpPr>
          <p:cNvPr id="28" name="TextBox 27"/>
          <p:cNvSpPr txBox="1"/>
          <p:nvPr/>
        </p:nvSpPr>
        <p:spPr>
          <a:xfrm>
            <a:off x="10076688" y="7077456"/>
            <a:ext cx="724204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ALUR PENGGUNA</a:t>
            </a:r>
          </a:p>
        </p:txBody>
      </p:sp>
      <p:sp>
        <p:nvSpPr>
          <p:cNvPr id="29" name="TextBox 28"/>
          <p:cNvSpPr txBox="1"/>
          <p:nvPr/>
        </p:nvSpPr>
        <p:spPr>
          <a:xfrm>
            <a:off x="10168128" y="7552944"/>
            <a:ext cx="7040880" cy="658368"/>
          </a:xfrm>
          <a:prstGeom prst="rect">
            <a:avLst/>
          </a:prstGeom>
          <a:noFill/>
        </p:spPr>
        <p:txBody>
          <a:bodyPr wrap="square" lIns="0" tIns="0" rIns="0" bIns="0" anchor="t">
            <a:spAutoFit/>
          </a:bodyPr>
          <a:lstStyle/>
          <a:p>
            <a:pPr algn="l">
              <a:lnSpc>
                <a:spcPct val="120000"/>
              </a:lnSpc>
            </a:pPr>
            <a:r>
              <a:rPr sz="1400" b="1" i="0">
                <a:solidFill>
                  <a:srgbClr val="93C5FD"/>
                </a:solidFill>
                <a:latin typeface="Segoe UI"/>
              </a:rPr>
              <a:t>Masukkan pesan   →   clean_text() dijalankan   →   model menskor 60.000 fitur   →   kategori dikembalikan</a:t>
            </a:r>
          </a:p>
          <a:p>
            <a:pPr algn="l">
              <a:lnSpc>
                <a:spcPct val="120000"/>
              </a:lnSpc>
              <a:spcBef>
                <a:spcPts val="500"/>
              </a:spcBef>
            </a:pPr>
            <a:r>
              <a:rPr sz="1300" b="0" i="0">
                <a:solidFill>
                  <a:srgbClr val="C7D2EC"/>
                </a:solidFill>
                <a:latin typeface="Segoe UI"/>
              </a:rPr>
              <a:t>Tanpa persiapan manual, dan tanpa analis di tengah alur untuk kasus yang jelas.</a:t>
            </a:r>
          </a:p>
        </p:txBody>
      </p:sp>
      <p:sp>
        <p:nvSpPr>
          <p:cNvPr id="30" name="Rectangle 29"/>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BUKTI</a:t>
            </a:r>
          </a:p>
        </p:txBody>
      </p:sp>
      <p:sp>
        <p:nvSpPr>
          <p:cNvPr id="33" name="TextBox 32"/>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610" b="1" i="0">
                <a:solidFill>
                  <a:srgbClr val="FFFFFF"/>
                </a:solidFill>
                <a:latin typeface="Segoe UI"/>
              </a:rPr>
              <a:t>Pesan yang belum pernah dilihat model saat training diklasifikasikan dengan benar saat input — kapabilitasnya bekerja, bukan teoretis.</a:t>
            </a:r>
          </a:p>
        </p:txBody>
      </p:sp>
      <p:sp>
        <p:nvSpPr>
          <p:cNvPr id="34" name="TextBox 33"/>
          <p:cNvSpPr txBox="1"/>
          <p:nvPr/>
        </p:nvSpPr>
        <p:spPr>
          <a:xfrm>
            <a:off x="822960" y="9427464"/>
            <a:ext cx="14996159" cy="237744"/>
          </a:xfrm>
          <a:prstGeom prst="rect">
            <a:avLst/>
          </a:prstGeom>
          <a:noFill/>
        </p:spPr>
        <p:txBody>
          <a:bodyPr wrap="square" lIns="0" tIns="0" rIns="0" bIns="0" anchor="t">
            <a:spAutoFit/>
          </a:bodyPr>
          <a:lstStyle/>
          <a:p>
            <a:pPr algn="l">
              <a:lnSpc>
                <a:spcPct val="118000"/>
              </a:lnSpc>
            </a:pPr>
            <a:r>
              <a:rPr sz="950" b="0" i="0">
                <a:solidFill>
                  <a:srgbClr val="8A99C4"/>
                </a:solidFill>
                <a:latin typeface="Segoe UI"/>
              </a:rPr>
              <a:t>1. Screenshot masih harus dimasukkan. Akses aplikasi saat ini privat (mengarah ke halaman login) — set ke publik agar bisa dibuka saat demo.</a:t>
            </a:r>
          </a:p>
        </p:txBody>
      </p:sp>
      <p:sp>
        <p:nvSpPr>
          <p:cNvPr id="35" name="TextBox 34"/>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Notebook proyek: uji prediksi langsung pada pipeline tersimpan; aplikasi live di Streamlit Community Cloud.</a:t>
            </a:r>
          </a:p>
        </p:txBody>
      </p:sp>
      <p:sp>
        <p:nvSpPr>
          <p:cNvPr id="36" name="TextBox 35"/>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DAMPAK BISNIS · MODERASI SEBELUM DAN SESUDAH AI</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Kapabilitas AI meningkatkan efisiensi moderasi dan keamanan pengguna</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ectangle 5"/>
          <p:cNvSpPr/>
          <p:nvPr/>
        </p:nvSpPr>
        <p:spPr>
          <a:xfrm>
            <a:off x="5029200" y="2633472"/>
            <a:ext cx="6126480" cy="420624"/>
          </a:xfrm>
          <a:prstGeom prst="rect">
            <a:avLst/>
          </a:prstGeom>
          <a:solidFill>
            <a:srgbClr val="2A1D1D"/>
          </a:soli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5029200" y="2724912"/>
            <a:ext cx="6126480" cy="274320"/>
          </a:xfrm>
          <a:prstGeom prst="rect">
            <a:avLst/>
          </a:prstGeom>
          <a:noFill/>
        </p:spPr>
        <p:txBody>
          <a:bodyPr wrap="square" lIns="0" tIns="0" rIns="0" bIns="0" anchor="t">
            <a:spAutoFit/>
          </a:bodyPr>
          <a:lstStyle/>
          <a:p>
            <a:pPr algn="ctr">
              <a:lnSpc>
                <a:spcPct val="118000"/>
              </a:lnSpc>
            </a:pPr>
            <a:r>
              <a:rPr sz="1300" b="1" i="0">
                <a:solidFill>
                  <a:srgbClr val="FF5A6E"/>
                </a:solidFill>
                <a:latin typeface="Segoe UI"/>
              </a:rPr>
              <a:t>SEBELUM AI</a:t>
            </a:r>
          </a:p>
        </p:txBody>
      </p:sp>
      <p:sp>
        <p:nvSpPr>
          <p:cNvPr id="8" name="Rectangle 7"/>
          <p:cNvSpPr/>
          <p:nvPr/>
        </p:nvSpPr>
        <p:spPr>
          <a:xfrm>
            <a:off x="11338560" y="2633472"/>
            <a:ext cx="6126480" cy="420624"/>
          </a:xfrm>
          <a:prstGeom prst="rect">
            <a:avLst/>
          </a:prstGeom>
          <a:solidFill>
            <a:srgbClr val="12221A"/>
          </a:soli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11338560" y="2724912"/>
            <a:ext cx="6126480" cy="274320"/>
          </a:xfrm>
          <a:prstGeom prst="rect">
            <a:avLst/>
          </a:prstGeom>
          <a:noFill/>
        </p:spPr>
        <p:txBody>
          <a:bodyPr wrap="square" lIns="0" tIns="0" rIns="0" bIns="0" anchor="t">
            <a:spAutoFit/>
          </a:bodyPr>
          <a:lstStyle/>
          <a:p>
            <a:pPr algn="ctr">
              <a:lnSpc>
                <a:spcPct val="118000"/>
              </a:lnSpc>
            </a:pPr>
            <a:r>
              <a:rPr sz="1300" b="1" i="0">
                <a:solidFill>
                  <a:srgbClr val="4ADE80"/>
                </a:solidFill>
                <a:latin typeface="Segoe UI"/>
              </a:rPr>
              <a:t>SESUDAH AI</a:t>
            </a:r>
          </a:p>
        </p:txBody>
      </p:sp>
      <p:sp>
        <p:nvSpPr>
          <p:cNvPr id="10" name="Rectangle 9"/>
          <p:cNvSpPr/>
          <p:nvPr/>
        </p:nvSpPr>
        <p:spPr>
          <a:xfrm>
            <a:off x="822960" y="3127248"/>
            <a:ext cx="4023360" cy="71323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1042416" y="3291840"/>
            <a:ext cx="3657600" cy="438912"/>
          </a:xfrm>
          <a:prstGeom prst="rect">
            <a:avLst/>
          </a:prstGeom>
          <a:noFill/>
        </p:spPr>
        <p:txBody>
          <a:bodyPr wrap="square" lIns="0" tIns="0" rIns="0" bIns="0" anchor="t">
            <a:spAutoFit/>
          </a:bodyPr>
          <a:lstStyle/>
          <a:p>
            <a:pPr algn="l">
              <a:lnSpc>
                <a:spcPct val="115000"/>
              </a:lnSpc>
            </a:pPr>
            <a:r>
              <a:rPr sz="1450" b="1" i="0">
                <a:solidFill>
                  <a:srgbClr val="FFC629"/>
                </a:solidFill>
                <a:latin typeface="Segoe UI"/>
              </a:rPr>
              <a:t>Cakupan</a:t>
            </a:r>
          </a:p>
        </p:txBody>
      </p:sp>
      <p:sp>
        <p:nvSpPr>
          <p:cNvPr id="12" name="Rectangle 11"/>
          <p:cNvSpPr/>
          <p:nvPr/>
        </p:nvSpPr>
        <p:spPr>
          <a:xfrm>
            <a:off x="5029200" y="3127248"/>
            <a:ext cx="6126480" cy="713232"/>
          </a:xfrm>
          <a:prstGeom prst="rect">
            <a:avLst/>
          </a:prstGeom>
          <a:solidFill>
            <a:srgbClr val="140C0E"/>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5248656" y="3255264"/>
            <a:ext cx="5715000" cy="530352"/>
          </a:xfrm>
          <a:prstGeom prst="rect">
            <a:avLst/>
          </a:prstGeom>
          <a:noFill/>
        </p:spPr>
        <p:txBody>
          <a:bodyPr wrap="square" lIns="0" tIns="0" rIns="0" bIns="0" anchor="t">
            <a:spAutoFit/>
          </a:bodyPr>
          <a:lstStyle/>
          <a:p>
            <a:pPr algn="l">
              <a:lnSpc>
                <a:spcPct val="118000"/>
              </a:lnSpc>
            </a:pPr>
            <a:r>
              <a:rPr sz="1350" b="0" i="0">
                <a:solidFill>
                  <a:srgbClr val="C7D2EC"/>
                </a:solidFill>
                <a:latin typeface="Segoe UI"/>
              </a:rPr>
              <a:t>Setiap pesan harus dibaca manusia.</a:t>
            </a:r>
          </a:p>
        </p:txBody>
      </p:sp>
      <p:sp>
        <p:nvSpPr>
          <p:cNvPr id="14" name="Rectangle 13"/>
          <p:cNvSpPr/>
          <p:nvPr/>
        </p:nvSpPr>
        <p:spPr>
          <a:xfrm>
            <a:off x="11338560" y="3127248"/>
            <a:ext cx="6126480" cy="713232"/>
          </a:xfrm>
          <a:prstGeom prst="rect">
            <a:avLst/>
          </a:prstGeom>
          <a:solidFill>
            <a:srgbClr val="0A1611"/>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11558016" y="3255264"/>
            <a:ext cx="5715000" cy="530352"/>
          </a:xfrm>
          <a:prstGeom prst="rect">
            <a:avLst/>
          </a:prstGeom>
          <a:noFill/>
        </p:spPr>
        <p:txBody>
          <a:bodyPr wrap="square" lIns="0" tIns="0" rIns="0" bIns="0" anchor="t">
            <a:spAutoFit/>
          </a:bodyPr>
          <a:lstStyle/>
          <a:p>
            <a:pPr algn="l">
              <a:lnSpc>
                <a:spcPct val="118000"/>
              </a:lnSpc>
            </a:pPr>
            <a:r>
              <a:rPr sz="1350" b="0" i="0">
                <a:solidFill>
                  <a:srgbClr val="FFFFFF"/>
                </a:solidFill>
                <a:latin typeface="Segoe UI"/>
              </a:rPr>
              <a:t>87,49% diklasifikasikan benar tanpa keterlibatan manusia.</a:t>
            </a:r>
          </a:p>
        </p:txBody>
      </p:sp>
      <p:sp>
        <p:nvSpPr>
          <p:cNvPr id="16" name="Rectangle 15"/>
          <p:cNvSpPr/>
          <p:nvPr/>
        </p:nvSpPr>
        <p:spPr>
          <a:xfrm>
            <a:off x="822960" y="3913632"/>
            <a:ext cx="4023360" cy="71323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1042416" y="4078224"/>
            <a:ext cx="3657600" cy="438912"/>
          </a:xfrm>
          <a:prstGeom prst="rect">
            <a:avLst/>
          </a:prstGeom>
          <a:noFill/>
        </p:spPr>
        <p:txBody>
          <a:bodyPr wrap="square" lIns="0" tIns="0" rIns="0" bIns="0" anchor="t">
            <a:spAutoFit/>
          </a:bodyPr>
          <a:lstStyle/>
          <a:p>
            <a:pPr algn="l">
              <a:lnSpc>
                <a:spcPct val="115000"/>
              </a:lnSpc>
            </a:pPr>
            <a:r>
              <a:rPr sz="1450" b="1" i="0">
                <a:solidFill>
                  <a:srgbClr val="FFC629"/>
                </a:solidFill>
                <a:latin typeface="Segoe UI"/>
              </a:rPr>
              <a:t>Konsistensi</a:t>
            </a:r>
          </a:p>
        </p:txBody>
      </p:sp>
      <p:sp>
        <p:nvSpPr>
          <p:cNvPr id="18" name="Rectangle 17"/>
          <p:cNvSpPr/>
          <p:nvPr/>
        </p:nvSpPr>
        <p:spPr>
          <a:xfrm>
            <a:off x="5029200" y="3913632"/>
            <a:ext cx="6126480" cy="713232"/>
          </a:xfrm>
          <a:prstGeom prst="rect">
            <a:avLst/>
          </a:prstGeom>
          <a:solidFill>
            <a:srgbClr val="140C0E"/>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5248656" y="4041648"/>
            <a:ext cx="5715000" cy="530352"/>
          </a:xfrm>
          <a:prstGeom prst="rect">
            <a:avLst/>
          </a:prstGeom>
          <a:noFill/>
        </p:spPr>
        <p:txBody>
          <a:bodyPr wrap="square" lIns="0" tIns="0" rIns="0" bIns="0" anchor="t">
            <a:spAutoFit/>
          </a:bodyPr>
          <a:lstStyle/>
          <a:p>
            <a:pPr algn="l">
              <a:lnSpc>
                <a:spcPct val="118000"/>
              </a:lnSpc>
            </a:pPr>
            <a:r>
              <a:rPr sz="1350" b="0" i="0">
                <a:solidFill>
                  <a:srgbClr val="C7D2EC"/>
                </a:solidFill>
                <a:latin typeface="Segoe UI"/>
              </a:rPr>
              <a:t>Teks identik menerima label berbeda — 3.278 baris terdampak.</a:t>
            </a:r>
          </a:p>
        </p:txBody>
      </p:sp>
      <p:sp>
        <p:nvSpPr>
          <p:cNvPr id="20" name="Rectangle 19"/>
          <p:cNvSpPr/>
          <p:nvPr/>
        </p:nvSpPr>
        <p:spPr>
          <a:xfrm>
            <a:off x="11338560" y="3913632"/>
            <a:ext cx="6126480" cy="713232"/>
          </a:xfrm>
          <a:prstGeom prst="rect">
            <a:avLst/>
          </a:prstGeom>
          <a:solidFill>
            <a:srgbClr val="0A1611"/>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11558016" y="4041648"/>
            <a:ext cx="5715000" cy="530352"/>
          </a:xfrm>
          <a:prstGeom prst="rect">
            <a:avLst/>
          </a:prstGeom>
          <a:noFill/>
        </p:spPr>
        <p:txBody>
          <a:bodyPr wrap="square" lIns="0" tIns="0" rIns="0" bIns="0" anchor="t">
            <a:spAutoFit/>
          </a:bodyPr>
          <a:lstStyle/>
          <a:p>
            <a:pPr algn="l">
              <a:lnSpc>
                <a:spcPct val="118000"/>
              </a:lnSpc>
            </a:pPr>
            <a:r>
              <a:rPr sz="1350" b="0" i="0">
                <a:solidFill>
                  <a:srgbClr val="FFFFFF"/>
                </a:solidFill>
                <a:latin typeface="Segoe UI"/>
              </a:rPr>
              <a:t>Satu aturan deterministik diterapkan sama ke setiap pesan.</a:t>
            </a:r>
          </a:p>
        </p:txBody>
      </p:sp>
      <p:sp>
        <p:nvSpPr>
          <p:cNvPr id="22" name="Rectangle 21"/>
          <p:cNvSpPr/>
          <p:nvPr/>
        </p:nvSpPr>
        <p:spPr>
          <a:xfrm>
            <a:off x="822960" y="4700016"/>
            <a:ext cx="4023360" cy="71323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1042416" y="4864608"/>
            <a:ext cx="3657600" cy="438912"/>
          </a:xfrm>
          <a:prstGeom prst="rect">
            <a:avLst/>
          </a:prstGeom>
          <a:noFill/>
        </p:spPr>
        <p:txBody>
          <a:bodyPr wrap="square" lIns="0" tIns="0" rIns="0" bIns="0" anchor="t">
            <a:spAutoFit/>
          </a:bodyPr>
          <a:lstStyle/>
          <a:p>
            <a:pPr algn="l">
              <a:lnSpc>
                <a:spcPct val="115000"/>
              </a:lnSpc>
            </a:pPr>
            <a:r>
              <a:rPr sz="1450" b="1" i="0">
                <a:solidFill>
                  <a:srgbClr val="FFC629"/>
                </a:solidFill>
                <a:latin typeface="Segoe UI"/>
              </a:rPr>
              <a:t>Prioritisasi</a:t>
            </a:r>
          </a:p>
        </p:txBody>
      </p:sp>
      <p:sp>
        <p:nvSpPr>
          <p:cNvPr id="24" name="Rectangle 23"/>
          <p:cNvSpPr/>
          <p:nvPr/>
        </p:nvSpPr>
        <p:spPr>
          <a:xfrm>
            <a:off x="5029200" y="4700016"/>
            <a:ext cx="6126480" cy="713232"/>
          </a:xfrm>
          <a:prstGeom prst="rect">
            <a:avLst/>
          </a:prstGeom>
          <a:solidFill>
            <a:srgbClr val="140C0E"/>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5248656" y="4828032"/>
            <a:ext cx="5715000" cy="530352"/>
          </a:xfrm>
          <a:prstGeom prst="rect">
            <a:avLst/>
          </a:prstGeom>
          <a:noFill/>
        </p:spPr>
        <p:txBody>
          <a:bodyPr wrap="square" lIns="0" tIns="0" rIns="0" bIns="0" anchor="t">
            <a:spAutoFit/>
          </a:bodyPr>
          <a:lstStyle/>
          <a:p>
            <a:pPr algn="l">
              <a:lnSpc>
                <a:spcPct val="118000"/>
              </a:lnSpc>
            </a:pPr>
            <a:r>
              <a:rPr sz="1350" b="0" i="0">
                <a:solidFill>
                  <a:srgbClr val="C7D2EC"/>
                </a:solidFill>
                <a:latin typeface="Segoe UI"/>
              </a:rPr>
              <a:t>Tanpa triage; semua pesan mengantre setara.</a:t>
            </a:r>
          </a:p>
        </p:txBody>
      </p:sp>
      <p:sp>
        <p:nvSpPr>
          <p:cNvPr id="26" name="Rectangle 25"/>
          <p:cNvSpPr/>
          <p:nvPr/>
        </p:nvSpPr>
        <p:spPr>
          <a:xfrm>
            <a:off x="11338560" y="4700016"/>
            <a:ext cx="6126480" cy="713232"/>
          </a:xfrm>
          <a:prstGeom prst="rect">
            <a:avLst/>
          </a:prstGeom>
          <a:solidFill>
            <a:srgbClr val="0A1611"/>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11558016" y="4828032"/>
            <a:ext cx="5715000" cy="530352"/>
          </a:xfrm>
          <a:prstGeom prst="rect">
            <a:avLst/>
          </a:prstGeom>
          <a:noFill/>
        </p:spPr>
        <p:txBody>
          <a:bodyPr wrap="square" lIns="0" tIns="0" rIns="0" bIns="0" anchor="t">
            <a:spAutoFit/>
          </a:bodyPr>
          <a:lstStyle/>
          <a:p>
            <a:pPr algn="l">
              <a:lnSpc>
                <a:spcPct val="118000"/>
              </a:lnSpc>
            </a:pPr>
            <a:r>
              <a:rPr sz="1350" b="0" i="0">
                <a:solidFill>
                  <a:srgbClr val="FFFFFF"/>
                </a:solidFill>
                <a:latin typeface="Segoe UI"/>
              </a:rPr>
              <a:t>Triage dua tahap: 0,9405 F1 deteksi bahaya, lalu routing sub-kategori 95,43%.</a:t>
            </a:r>
          </a:p>
        </p:txBody>
      </p:sp>
      <p:sp>
        <p:nvSpPr>
          <p:cNvPr id="28" name="Rectangle 27"/>
          <p:cNvSpPr/>
          <p:nvPr/>
        </p:nvSpPr>
        <p:spPr>
          <a:xfrm>
            <a:off x="822960" y="5486400"/>
            <a:ext cx="4023360" cy="71323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1042416" y="5650992"/>
            <a:ext cx="3657600" cy="438912"/>
          </a:xfrm>
          <a:prstGeom prst="rect">
            <a:avLst/>
          </a:prstGeom>
          <a:noFill/>
        </p:spPr>
        <p:txBody>
          <a:bodyPr wrap="square" lIns="0" tIns="0" rIns="0" bIns="0" anchor="t">
            <a:spAutoFit/>
          </a:bodyPr>
          <a:lstStyle/>
          <a:p>
            <a:pPr algn="l">
              <a:lnSpc>
                <a:spcPct val="115000"/>
              </a:lnSpc>
            </a:pPr>
            <a:r>
              <a:rPr sz="1450" b="1" i="0">
                <a:solidFill>
                  <a:srgbClr val="FFC629"/>
                </a:solidFill>
                <a:latin typeface="Segoe UI"/>
              </a:rPr>
              <a:t>Beban manusia</a:t>
            </a:r>
          </a:p>
        </p:txBody>
      </p:sp>
      <p:sp>
        <p:nvSpPr>
          <p:cNvPr id="30" name="Rectangle 29"/>
          <p:cNvSpPr/>
          <p:nvPr/>
        </p:nvSpPr>
        <p:spPr>
          <a:xfrm>
            <a:off x="5029200" y="5486400"/>
            <a:ext cx="6126480" cy="713232"/>
          </a:xfrm>
          <a:prstGeom prst="rect">
            <a:avLst/>
          </a:prstGeom>
          <a:solidFill>
            <a:srgbClr val="140C0E"/>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5248656" y="5614416"/>
            <a:ext cx="5715000" cy="530352"/>
          </a:xfrm>
          <a:prstGeom prst="rect">
            <a:avLst/>
          </a:prstGeom>
          <a:noFill/>
        </p:spPr>
        <p:txBody>
          <a:bodyPr wrap="square" lIns="0" tIns="0" rIns="0" bIns="0" anchor="t">
            <a:spAutoFit/>
          </a:bodyPr>
          <a:lstStyle/>
          <a:p>
            <a:pPr algn="l">
              <a:lnSpc>
                <a:spcPct val="118000"/>
              </a:lnSpc>
            </a:pPr>
            <a:r>
              <a:rPr sz="1350" b="0" i="0">
                <a:solidFill>
                  <a:srgbClr val="C7D2EC"/>
                </a:solidFill>
                <a:latin typeface="Segoe UI"/>
              </a:rPr>
              <a:t>100% volume direview manual.</a:t>
            </a:r>
          </a:p>
        </p:txBody>
      </p:sp>
      <p:sp>
        <p:nvSpPr>
          <p:cNvPr id="32" name="Rectangle 31"/>
          <p:cNvSpPr/>
          <p:nvPr/>
        </p:nvSpPr>
        <p:spPr>
          <a:xfrm>
            <a:off x="11338560" y="5486400"/>
            <a:ext cx="6126480" cy="713232"/>
          </a:xfrm>
          <a:prstGeom prst="rect">
            <a:avLst/>
          </a:prstGeom>
          <a:solidFill>
            <a:srgbClr val="0A1611"/>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11558016" y="5614416"/>
            <a:ext cx="5715000" cy="530352"/>
          </a:xfrm>
          <a:prstGeom prst="rect">
            <a:avLst/>
          </a:prstGeom>
          <a:noFill/>
        </p:spPr>
        <p:txBody>
          <a:bodyPr wrap="square" lIns="0" tIns="0" rIns="0" bIns="0" anchor="t">
            <a:spAutoFit/>
          </a:bodyPr>
          <a:lstStyle/>
          <a:p>
            <a:pPr algn="l">
              <a:lnSpc>
                <a:spcPct val="118000"/>
              </a:lnSpc>
            </a:pPr>
            <a:r>
              <a:rPr sz="1350" b="0" i="0">
                <a:solidFill>
                  <a:srgbClr val="FFFFFF"/>
                </a:solidFill>
                <a:latin typeface="Segoe UI"/>
              </a:rPr>
              <a:t>12,51% diteruskan ke review manusia — kasus yang benar-benar ambigu.</a:t>
            </a:r>
          </a:p>
        </p:txBody>
      </p:sp>
      <p:sp>
        <p:nvSpPr>
          <p:cNvPr id="34" name="Rectangle 33"/>
          <p:cNvSpPr/>
          <p:nvPr/>
        </p:nvSpPr>
        <p:spPr>
          <a:xfrm>
            <a:off x="822960" y="6272784"/>
            <a:ext cx="4023360" cy="71323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1042416" y="6437376"/>
            <a:ext cx="3657600" cy="438912"/>
          </a:xfrm>
          <a:prstGeom prst="rect">
            <a:avLst/>
          </a:prstGeom>
          <a:noFill/>
        </p:spPr>
        <p:txBody>
          <a:bodyPr wrap="square" lIns="0" tIns="0" rIns="0" bIns="0" anchor="t">
            <a:spAutoFit/>
          </a:bodyPr>
          <a:lstStyle/>
          <a:p>
            <a:pPr algn="l">
              <a:lnSpc>
                <a:spcPct val="115000"/>
              </a:lnSpc>
            </a:pPr>
            <a:r>
              <a:rPr sz="1450" b="1" i="0">
                <a:solidFill>
                  <a:srgbClr val="FFC629"/>
                </a:solidFill>
                <a:latin typeface="Segoe UI"/>
              </a:rPr>
              <a:t>Bahaya berbasis identitas</a:t>
            </a:r>
          </a:p>
        </p:txBody>
      </p:sp>
      <p:sp>
        <p:nvSpPr>
          <p:cNvPr id="36" name="Rectangle 35"/>
          <p:cNvSpPr/>
          <p:nvPr/>
        </p:nvSpPr>
        <p:spPr>
          <a:xfrm>
            <a:off x="5029200" y="6272784"/>
            <a:ext cx="6126480" cy="713232"/>
          </a:xfrm>
          <a:prstGeom prst="rect">
            <a:avLst/>
          </a:prstGeom>
          <a:solidFill>
            <a:srgbClr val="140C0E"/>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5248656" y="6400800"/>
            <a:ext cx="5715000" cy="530352"/>
          </a:xfrm>
          <a:prstGeom prst="rect">
            <a:avLst/>
          </a:prstGeom>
          <a:noFill/>
        </p:spPr>
        <p:txBody>
          <a:bodyPr wrap="square" lIns="0" tIns="0" rIns="0" bIns="0" anchor="t">
            <a:spAutoFit/>
          </a:bodyPr>
          <a:lstStyle/>
          <a:p>
            <a:pPr algn="l">
              <a:lnSpc>
                <a:spcPct val="118000"/>
              </a:lnSpc>
            </a:pPr>
            <a:r>
              <a:rPr sz="1350" b="0" i="0">
                <a:solidFill>
                  <a:srgbClr val="C7D2EC"/>
                </a:solidFill>
                <a:latin typeface="Segoe UI"/>
              </a:rPr>
              <a:t>Deteksi bergantung penilaian masing-masing reviewer.</a:t>
            </a:r>
          </a:p>
        </p:txBody>
      </p:sp>
      <p:sp>
        <p:nvSpPr>
          <p:cNvPr id="38" name="Rectangle 37"/>
          <p:cNvSpPr/>
          <p:nvPr/>
        </p:nvSpPr>
        <p:spPr>
          <a:xfrm>
            <a:off x="11338560" y="6272784"/>
            <a:ext cx="6126480" cy="713232"/>
          </a:xfrm>
          <a:prstGeom prst="rect">
            <a:avLst/>
          </a:prstGeom>
          <a:solidFill>
            <a:srgbClr val="0A1611"/>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11558016" y="6400800"/>
            <a:ext cx="5715000" cy="530352"/>
          </a:xfrm>
          <a:prstGeom prst="rect">
            <a:avLst/>
          </a:prstGeom>
          <a:noFill/>
        </p:spPr>
        <p:txBody>
          <a:bodyPr wrap="square" lIns="0" tIns="0" rIns="0" bIns="0" anchor="t">
            <a:spAutoFit/>
          </a:bodyPr>
          <a:lstStyle/>
          <a:p>
            <a:pPr algn="l">
              <a:lnSpc>
                <a:spcPct val="118000"/>
              </a:lnSpc>
            </a:pPr>
            <a:r>
              <a:rPr sz="1350" b="0" i="0">
                <a:solidFill>
                  <a:srgbClr val="FFFFFF"/>
                </a:solidFill>
                <a:latin typeface="Segoe UI"/>
              </a:rPr>
              <a:t>F1 0,8843 sampai 0,9779 untuk gender, religion, age dan ethnicity.</a:t>
            </a:r>
          </a:p>
        </p:txBody>
      </p:sp>
      <p:sp>
        <p:nvSpPr>
          <p:cNvPr id="40" name="Rounded Rectangle 39"/>
          <p:cNvSpPr/>
          <p:nvPr/>
        </p:nvSpPr>
        <p:spPr>
          <a:xfrm>
            <a:off x="822960" y="7205472"/>
            <a:ext cx="16642080" cy="109728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ectangle 40"/>
          <p:cNvSpPr/>
          <p:nvPr/>
        </p:nvSpPr>
        <p:spPr>
          <a:xfrm>
            <a:off x="822960" y="7205472"/>
            <a:ext cx="68580" cy="1097280"/>
          </a:xfrm>
          <a:prstGeom prst="rect">
            <a:avLst/>
          </a:prstGeom>
          <a:solidFill>
            <a:srgbClr val="FF5A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152144" y="7370064"/>
            <a:ext cx="7315200" cy="256032"/>
          </a:xfrm>
          <a:prstGeom prst="rect">
            <a:avLst/>
          </a:prstGeom>
          <a:noFill/>
        </p:spPr>
        <p:txBody>
          <a:bodyPr wrap="square" lIns="0" tIns="0" rIns="0" bIns="0" anchor="t">
            <a:spAutoFit/>
          </a:bodyPr>
          <a:lstStyle/>
          <a:p>
            <a:pPr algn="l">
              <a:lnSpc>
                <a:spcPct val="118000"/>
              </a:lnSpc>
            </a:pPr>
            <a:r>
              <a:rPr sz="1350" b="1" i="0">
                <a:solidFill>
                  <a:srgbClr val="FF5A6E"/>
                </a:solidFill>
                <a:latin typeface="Segoe UI"/>
              </a:rPr>
              <a:t>YANG TIDAK DIKLAIM SLIDE INI</a:t>
            </a:r>
          </a:p>
        </p:txBody>
      </p:sp>
      <p:sp>
        <p:nvSpPr>
          <p:cNvPr id="43" name="TextBox 42"/>
          <p:cNvSpPr txBox="1"/>
          <p:nvPr/>
        </p:nvSpPr>
        <p:spPr>
          <a:xfrm>
            <a:off x="1152144" y="7680960"/>
            <a:ext cx="15910560" cy="548640"/>
          </a:xfrm>
          <a:prstGeom prst="rect">
            <a:avLst/>
          </a:prstGeom>
          <a:noFill/>
        </p:spPr>
        <p:txBody>
          <a:bodyPr wrap="square" lIns="0" tIns="0" rIns="0" bIns="0" anchor="t">
            <a:spAutoFit/>
          </a:bodyPr>
          <a:lstStyle/>
          <a:p>
            <a:pPr algn="l">
              <a:lnSpc>
                <a:spcPct val="120000"/>
              </a:lnSpc>
            </a:pPr>
            <a:r>
              <a:rPr sz="1450" b="0" i="0">
                <a:solidFill>
                  <a:srgbClr val="FFFFFF"/>
                </a:solidFill>
                <a:latin typeface="Segoe UI"/>
              </a:rPr>
              <a:t>Penghematan biaya dan waktu tidak dikuantifikasi. Tidak ada baseline operasional — jumlah reviewer, biaya per review, throughput saat ini — dalam scope proyek ini. Semua angka di atas adalah performa model terukur, bukan proyeksi penghematan.</a:t>
            </a:r>
          </a:p>
        </p:txBody>
      </p:sp>
      <p:sp>
        <p:nvSpPr>
          <p:cNvPr id="44" name="Rectangle 43"/>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DAMPAK BISNIS</a:t>
            </a:r>
          </a:p>
        </p:txBody>
      </p:sp>
      <p:sp>
        <p:nvSpPr>
          <p:cNvPr id="47" name="TextBox 46"/>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Reviewer bergeser dari membaca semuanya menjadi memutuskan hanya 12,51% yang tidak bisa diselesaikan model sendiri.</a:t>
            </a:r>
          </a:p>
        </p:txBody>
      </p:sp>
      <p:sp>
        <p:nvSpPr>
          <p:cNvPr id="48" name="TextBox 47"/>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Metrik model dari notebook proyek; angka dua tahap dari eksperimen klasifikasi bertahap.</a:t>
            </a:r>
          </a:p>
        </p:txBody>
      </p:sp>
      <p:sp>
        <p:nvSpPr>
          <p:cNvPr id="49" name="TextBox 48"/>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REKOMENDASI · MENSKALAKAN KAPABILITAS</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Rekomendasi untuk menskalakan kapabilitas moderasi berbasis AI</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5181600" cy="53949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Rectangle 6"/>
          <p:cNvSpPr/>
          <p:nvPr/>
        </p:nvSpPr>
        <p:spPr>
          <a:xfrm>
            <a:off x="822960" y="2633472"/>
            <a:ext cx="5181600" cy="6858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15568" y="2907791"/>
            <a:ext cx="4596384" cy="310896"/>
          </a:xfrm>
          <a:prstGeom prst="rect">
            <a:avLst/>
          </a:prstGeom>
          <a:noFill/>
        </p:spPr>
        <p:txBody>
          <a:bodyPr wrap="square" lIns="0" tIns="0" rIns="0" bIns="0" anchor="t">
            <a:spAutoFit/>
          </a:bodyPr>
          <a:lstStyle/>
          <a:p>
            <a:pPr algn="l">
              <a:lnSpc>
                <a:spcPct val="118000"/>
              </a:lnSpc>
            </a:pPr>
            <a:r>
              <a:rPr sz="1500" b="1" i="0">
                <a:solidFill>
                  <a:srgbClr val="FFC629"/>
                </a:solidFill>
                <a:latin typeface="Segoe UI"/>
              </a:rPr>
              <a:t>JANGKA PENDEK</a:t>
            </a:r>
          </a:p>
        </p:txBody>
      </p:sp>
      <p:sp>
        <p:nvSpPr>
          <p:cNvPr id="9" name="TextBox 8"/>
          <p:cNvSpPr txBox="1"/>
          <p:nvPr/>
        </p:nvSpPr>
        <p:spPr>
          <a:xfrm>
            <a:off x="1115568" y="3291839"/>
            <a:ext cx="4596384" cy="274320"/>
          </a:xfrm>
          <a:prstGeom prst="rect">
            <a:avLst/>
          </a:prstGeom>
          <a:noFill/>
        </p:spPr>
        <p:txBody>
          <a:bodyPr wrap="square" lIns="0" tIns="0" rIns="0" bIns="0" anchor="t">
            <a:spAutoFit/>
          </a:bodyPr>
          <a:lstStyle/>
          <a:p>
            <a:pPr algn="l">
              <a:lnSpc>
                <a:spcPct val="118000"/>
              </a:lnSpc>
            </a:pPr>
            <a:r>
              <a:rPr sz="1300" b="1" i="0">
                <a:solidFill>
                  <a:srgbClr val="8A99C4"/>
                </a:solidFill>
                <a:latin typeface="Segoe UI"/>
              </a:rPr>
              <a:t>0–3 bulan</a:t>
            </a:r>
          </a:p>
        </p:txBody>
      </p:sp>
      <p:sp>
        <p:nvSpPr>
          <p:cNvPr id="10" name="TextBox 9"/>
          <p:cNvSpPr txBox="1"/>
          <p:nvPr/>
        </p:nvSpPr>
        <p:spPr>
          <a:xfrm>
            <a:off x="1115568" y="3694176"/>
            <a:ext cx="4596384" cy="731520"/>
          </a:xfrm>
          <a:prstGeom prst="rect">
            <a:avLst/>
          </a:prstGeom>
          <a:noFill/>
        </p:spPr>
        <p:txBody>
          <a:bodyPr wrap="square" lIns="0" tIns="0" rIns="0" bIns="0" anchor="t">
            <a:spAutoFit/>
          </a:bodyPr>
          <a:lstStyle/>
          <a:p>
            <a:pPr algn="l">
              <a:lnSpc>
                <a:spcPct val="110000"/>
              </a:lnSpc>
            </a:pPr>
            <a:r>
              <a:rPr sz="2200" b="0" i="0">
                <a:solidFill>
                  <a:srgbClr val="FFFFFF"/>
                </a:solidFill>
                <a:latin typeface="Segoe UI Black"/>
              </a:rPr>
              <a:t>AI moderation assistant</a:t>
            </a:r>
          </a:p>
        </p:txBody>
      </p:sp>
      <p:sp>
        <p:nvSpPr>
          <p:cNvPr id="11" name="Rectangle 10"/>
          <p:cNvSpPr/>
          <p:nvPr/>
        </p:nvSpPr>
        <p:spPr>
          <a:xfrm>
            <a:off x="1115568" y="4517136"/>
            <a:ext cx="4596384"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1115568"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1335024" y="4700016"/>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Terapkan human-in-the-loop pada empat kategori berkeyakinan tinggi (F1 0,8843 sampai 0,9779).</a:t>
            </a:r>
          </a:p>
        </p:txBody>
      </p:sp>
      <p:sp>
        <p:nvSpPr>
          <p:cNvPr id="14" name="Rectangle 13"/>
          <p:cNvSpPr/>
          <p:nvPr/>
        </p:nvSpPr>
        <p:spPr>
          <a:xfrm>
            <a:off x="1115568" y="5565140"/>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1335024" y="5469128"/>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Rutekan otomatis not_cyberbullying dan other_cyberbullying ke review manusia.</a:t>
            </a:r>
          </a:p>
        </p:txBody>
      </p:sp>
      <p:sp>
        <p:nvSpPr>
          <p:cNvPr id="16" name="Rectangle 15"/>
          <p:cNvSpPr/>
          <p:nvPr/>
        </p:nvSpPr>
        <p:spPr>
          <a:xfrm>
            <a:off x="1115568" y="6334252"/>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1335024" y="6238240"/>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Tetapkan threshold keyakinan memakai keluaran probabilitas model.</a:t>
            </a:r>
          </a:p>
        </p:txBody>
      </p:sp>
      <p:sp>
        <p:nvSpPr>
          <p:cNvPr id="18" name="Rectangle 17"/>
          <p:cNvSpPr/>
          <p:nvPr/>
        </p:nvSpPr>
        <p:spPr>
          <a:xfrm>
            <a:off x="1115568" y="710336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1335024" y="7007352"/>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Tidak perlu perubahan platform — artifact-nya sudah terbungkus.</a:t>
            </a:r>
          </a:p>
        </p:txBody>
      </p:sp>
      <p:sp>
        <p:nvSpPr>
          <p:cNvPr id="20" name="Isosceles Triangle 19"/>
          <p:cNvSpPr/>
          <p:nvPr/>
        </p:nvSpPr>
        <p:spPr>
          <a:xfrm rot="5400000">
            <a:off x="6114288" y="5193792"/>
            <a:ext cx="329184" cy="329184"/>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ounded Rectangle 20"/>
          <p:cNvSpPr/>
          <p:nvPr/>
        </p:nvSpPr>
        <p:spPr>
          <a:xfrm>
            <a:off x="6553200" y="2633472"/>
            <a:ext cx="5181600" cy="53949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6553200" y="2633472"/>
            <a:ext cx="5181600" cy="6858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845808" y="2907791"/>
            <a:ext cx="4596384" cy="310896"/>
          </a:xfrm>
          <a:prstGeom prst="rect">
            <a:avLst/>
          </a:prstGeom>
          <a:noFill/>
        </p:spPr>
        <p:txBody>
          <a:bodyPr wrap="square" lIns="0" tIns="0" rIns="0" bIns="0" anchor="t">
            <a:spAutoFit/>
          </a:bodyPr>
          <a:lstStyle/>
          <a:p>
            <a:pPr algn="l">
              <a:lnSpc>
                <a:spcPct val="118000"/>
              </a:lnSpc>
            </a:pPr>
            <a:r>
              <a:rPr sz="1500" b="1" i="0">
                <a:solidFill>
                  <a:srgbClr val="FFC629"/>
                </a:solidFill>
                <a:latin typeface="Segoe UI"/>
              </a:rPr>
              <a:t>JANGKA MENENGAH</a:t>
            </a:r>
          </a:p>
        </p:txBody>
      </p:sp>
      <p:sp>
        <p:nvSpPr>
          <p:cNvPr id="24" name="TextBox 23"/>
          <p:cNvSpPr txBox="1"/>
          <p:nvPr/>
        </p:nvSpPr>
        <p:spPr>
          <a:xfrm>
            <a:off x="6845808" y="3291839"/>
            <a:ext cx="4596384" cy="274320"/>
          </a:xfrm>
          <a:prstGeom prst="rect">
            <a:avLst/>
          </a:prstGeom>
          <a:noFill/>
        </p:spPr>
        <p:txBody>
          <a:bodyPr wrap="square" lIns="0" tIns="0" rIns="0" bIns="0" anchor="t">
            <a:spAutoFit/>
          </a:bodyPr>
          <a:lstStyle/>
          <a:p>
            <a:pPr algn="l">
              <a:lnSpc>
                <a:spcPct val="118000"/>
              </a:lnSpc>
            </a:pPr>
            <a:r>
              <a:rPr sz="1300" b="1" i="0">
                <a:solidFill>
                  <a:srgbClr val="8A99C4"/>
                </a:solidFill>
                <a:latin typeface="Segoe UI"/>
              </a:rPr>
              <a:t>3–9 bulan</a:t>
            </a:r>
          </a:p>
        </p:txBody>
      </p:sp>
      <p:sp>
        <p:nvSpPr>
          <p:cNvPr id="25" name="TextBox 24"/>
          <p:cNvSpPr txBox="1"/>
          <p:nvPr/>
        </p:nvSpPr>
        <p:spPr>
          <a:xfrm>
            <a:off x="6845808" y="3694176"/>
            <a:ext cx="4596384" cy="731520"/>
          </a:xfrm>
          <a:prstGeom prst="rect">
            <a:avLst/>
          </a:prstGeom>
          <a:noFill/>
        </p:spPr>
        <p:txBody>
          <a:bodyPr wrap="square" lIns="0" tIns="0" rIns="0" bIns="0" anchor="t">
            <a:spAutoFit/>
          </a:bodyPr>
          <a:lstStyle/>
          <a:p>
            <a:pPr algn="l">
              <a:lnSpc>
                <a:spcPct val="110000"/>
              </a:lnSpc>
            </a:pPr>
            <a:r>
              <a:rPr sz="2200" b="0" i="0">
                <a:solidFill>
                  <a:srgbClr val="FFFFFF"/>
                </a:solidFill>
                <a:latin typeface="Segoe UI Black"/>
              </a:rPr>
              <a:t>Integrasi platform</a:t>
            </a:r>
          </a:p>
        </p:txBody>
      </p:sp>
      <p:sp>
        <p:nvSpPr>
          <p:cNvPr id="26" name="Rectangle 25"/>
          <p:cNvSpPr/>
          <p:nvPr/>
        </p:nvSpPr>
        <p:spPr>
          <a:xfrm>
            <a:off x="6845808" y="4517136"/>
            <a:ext cx="4596384"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6845808"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7065264" y="4700016"/>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Terapkan arsitektur dua tahap: deteksi bahaya 0,9405 F1, lalu routing sub-kategori 95,43%.</a:t>
            </a:r>
          </a:p>
        </p:txBody>
      </p:sp>
      <p:sp>
        <p:nvSpPr>
          <p:cNvPr id="29" name="Rectangle 28"/>
          <p:cNvSpPr/>
          <p:nvPr/>
        </p:nvSpPr>
        <p:spPr>
          <a:xfrm>
            <a:off x="6845808" y="5565140"/>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7065264" y="5469128"/>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Label ulang 3.278 baris ambigu untuk mengangkat batas terlemah.</a:t>
            </a:r>
          </a:p>
        </p:txBody>
      </p:sp>
      <p:sp>
        <p:nvSpPr>
          <p:cNvPr id="31" name="Rectangle 30"/>
          <p:cNvSpPr/>
          <p:nvPr/>
        </p:nvSpPr>
        <p:spPr>
          <a:xfrm>
            <a:off x="6845808" y="6334252"/>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7065264" y="6238240"/>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Integrasikan ke antrean moderasi live melalui API.</a:t>
            </a:r>
          </a:p>
        </p:txBody>
      </p:sp>
      <p:sp>
        <p:nvSpPr>
          <p:cNvPr id="33" name="Rectangle 32"/>
          <p:cNvSpPr/>
          <p:nvPr/>
        </p:nvSpPr>
        <p:spPr>
          <a:xfrm>
            <a:off x="6845808" y="710336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065264" y="7007352"/>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Rekam override reviewer sebagai sinyal umpan balik.</a:t>
            </a:r>
          </a:p>
        </p:txBody>
      </p:sp>
      <p:sp>
        <p:nvSpPr>
          <p:cNvPr id="35" name="Isosceles Triangle 34"/>
          <p:cNvSpPr/>
          <p:nvPr/>
        </p:nvSpPr>
        <p:spPr>
          <a:xfrm rot="5400000">
            <a:off x="11844528" y="5193792"/>
            <a:ext cx="329184" cy="329184"/>
          </a:xfrm>
          <a:prstGeom prst="triangl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ounded Rectangle 35"/>
          <p:cNvSpPr/>
          <p:nvPr/>
        </p:nvSpPr>
        <p:spPr>
          <a:xfrm>
            <a:off x="12283440" y="2633472"/>
            <a:ext cx="5181600" cy="53949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ectangle 36"/>
          <p:cNvSpPr/>
          <p:nvPr/>
        </p:nvSpPr>
        <p:spPr>
          <a:xfrm>
            <a:off x="12283440" y="2633472"/>
            <a:ext cx="5181600" cy="6858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12576048" y="2907791"/>
            <a:ext cx="4596384" cy="310896"/>
          </a:xfrm>
          <a:prstGeom prst="rect">
            <a:avLst/>
          </a:prstGeom>
          <a:noFill/>
        </p:spPr>
        <p:txBody>
          <a:bodyPr wrap="square" lIns="0" tIns="0" rIns="0" bIns="0" anchor="t">
            <a:spAutoFit/>
          </a:bodyPr>
          <a:lstStyle/>
          <a:p>
            <a:pPr algn="l">
              <a:lnSpc>
                <a:spcPct val="118000"/>
              </a:lnSpc>
            </a:pPr>
            <a:r>
              <a:rPr sz="1500" b="1" i="0">
                <a:solidFill>
                  <a:srgbClr val="FFC629"/>
                </a:solidFill>
                <a:latin typeface="Segoe UI"/>
              </a:rPr>
              <a:t>JANGKA PANJANG</a:t>
            </a:r>
          </a:p>
        </p:txBody>
      </p:sp>
      <p:sp>
        <p:nvSpPr>
          <p:cNvPr id="39" name="TextBox 38"/>
          <p:cNvSpPr txBox="1"/>
          <p:nvPr/>
        </p:nvSpPr>
        <p:spPr>
          <a:xfrm>
            <a:off x="12576048" y="3291839"/>
            <a:ext cx="4596384" cy="274320"/>
          </a:xfrm>
          <a:prstGeom prst="rect">
            <a:avLst/>
          </a:prstGeom>
          <a:noFill/>
        </p:spPr>
        <p:txBody>
          <a:bodyPr wrap="square" lIns="0" tIns="0" rIns="0" bIns="0" anchor="t">
            <a:spAutoFit/>
          </a:bodyPr>
          <a:lstStyle/>
          <a:p>
            <a:pPr algn="l">
              <a:lnSpc>
                <a:spcPct val="118000"/>
              </a:lnSpc>
            </a:pPr>
            <a:r>
              <a:rPr sz="1300" b="1" i="0">
                <a:solidFill>
                  <a:srgbClr val="8A99C4"/>
                </a:solidFill>
                <a:latin typeface="Segoe UI"/>
              </a:rPr>
              <a:t>9+ bulan</a:t>
            </a:r>
          </a:p>
        </p:txBody>
      </p:sp>
      <p:sp>
        <p:nvSpPr>
          <p:cNvPr id="40" name="TextBox 39"/>
          <p:cNvSpPr txBox="1"/>
          <p:nvPr/>
        </p:nvSpPr>
        <p:spPr>
          <a:xfrm>
            <a:off x="12576048" y="3694176"/>
            <a:ext cx="4596384" cy="731520"/>
          </a:xfrm>
          <a:prstGeom prst="rect">
            <a:avLst/>
          </a:prstGeom>
          <a:noFill/>
        </p:spPr>
        <p:txBody>
          <a:bodyPr wrap="square" lIns="0" tIns="0" rIns="0" bIns="0" anchor="t">
            <a:spAutoFit/>
          </a:bodyPr>
          <a:lstStyle/>
          <a:p>
            <a:pPr algn="l">
              <a:lnSpc>
                <a:spcPct val="110000"/>
              </a:lnSpc>
            </a:pPr>
            <a:r>
              <a:rPr sz="2200" b="0" i="0">
                <a:solidFill>
                  <a:srgbClr val="FFFFFF"/>
                </a:solidFill>
                <a:latin typeface="Segoe UI Black"/>
              </a:rPr>
              <a:t>Ekosistem monitoring real-time</a:t>
            </a:r>
          </a:p>
        </p:txBody>
      </p:sp>
      <p:sp>
        <p:nvSpPr>
          <p:cNvPr id="41" name="Rectangle 40"/>
          <p:cNvSpPr/>
          <p:nvPr/>
        </p:nvSpPr>
        <p:spPr>
          <a:xfrm>
            <a:off x="12576048" y="4517136"/>
            <a:ext cx="4596384" cy="10972"/>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12576048" y="4796028"/>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12795504" y="4700016"/>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Monitoring berkelanjutan dengan umpan balik reviewer sebagai data training.</a:t>
            </a:r>
          </a:p>
        </p:txBody>
      </p:sp>
      <p:sp>
        <p:nvSpPr>
          <p:cNvPr id="44" name="Rectangle 43"/>
          <p:cNvSpPr/>
          <p:nvPr/>
        </p:nvSpPr>
        <p:spPr>
          <a:xfrm>
            <a:off x="12576048" y="5565140"/>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12795504" y="5469128"/>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Retraining terjadwal seiring pergeseran slang dan bahasa.</a:t>
            </a:r>
          </a:p>
        </p:txBody>
      </p:sp>
      <p:sp>
        <p:nvSpPr>
          <p:cNvPr id="46" name="Rectangle 45"/>
          <p:cNvSpPr/>
          <p:nvPr/>
        </p:nvSpPr>
        <p:spPr>
          <a:xfrm>
            <a:off x="12576048" y="6334252"/>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2795504" y="6238240"/>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Perluas di luar bahasa Inggris — korpus dan stopword saat ini hanya Inggris.</a:t>
            </a:r>
          </a:p>
        </p:txBody>
      </p:sp>
      <p:sp>
        <p:nvSpPr>
          <p:cNvPr id="48" name="Rectangle 47"/>
          <p:cNvSpPr/>
          <p:nvPr/>
        </p:nvSpPr>
        <p:spPr>
          <a:xfrm>
            <a:off x="12576048" y="7103364"/>
            <a:ext cx="68580" cy="68580"/>
          </a:xfrm>
          <a:prstGeom prst="rect">
            <a:avLst/>
          </a:prstGeom>
          <a:solidFill>
            <a:srgbClr val="FFEC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12795504" y="7007352"/>
            <a:ext cx="4376928" cy="586232"/>
          </a:xfrm>
          <a:prstGeom prst="rect">
            <a:avLst/>
          </a:prstGeom>
          <a:noFill/>
        </p:spPr>
        <p:txBody>
          <a:bodyPr wrap="square" lIns="0" tIns="0" rIns="0" bIns="0" anchor="t">
            <a:spAutoFit/>
          </a:bodyPr>
          <a:lstStyle/>
          <a:p>
            <a:pPr algn="l">
              <a:lnSpc>
                <a:spcPct val="124000"/>
              </a:lnSpc>
            </a:pPr>
            <a:r>
              <a:rPr sz="1400" b="0" i="0">
                <a:solidFill>
                  <a:srgbClr val="FFFFFF"/>
                </a:solidFill>
                <a:latin typeface="Segoe UI"/>
              </a:rPr>
              <a:t>Dashboard per kategori untuk pelaporan legal dan trust &amp; safety.</a:t>
            </a:r>
          </a:p>
        </p:txBody>
      </p:sp>
      <p:sp>
        <p:nvSpPr>
          <p:cNvPr id="50" name="Rectangle 49"/>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ectangle 50"/>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PRIORITAS</a:t>
            </a:r>
          </a:p>
        </p:txBody>
      </p:sp>
      <p:sp>
        <p:nvSpPr>
          <p:cNvPr id="53" name="TextBox 52"/>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660" b="1" i="0">
                <a:solidFill>
                  <a:srgbClr val="FFFFFF"/>
                </a:solidFill>
                <a:latin typeface="Segoe UI"/>
              </a:rPr>
              <a:t>Mulai dari titik model sudah kuat, dan belanjakan siklus perbaikan pertama pada kualitas pelabelan, bukan pada kompleksitas model.</a:t>
            </a:r>
          </a:p>
        </p:txBody>
      </p:sp>
      <p:sp>
        <p:nvSpPr>
          <p:cNvPr id="54" name="TextBox 53"/>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Rekomendasi diturunkan dari performa per kategori dan analisis error terukur di notebook proyek.</a:t>
            </a:r>
          </a:p>
        </p:txBody>
      </p:sp>
      <p:sp>
        <p:nvSpPr>
          <p:cNvPr id="55" name="TextBox 54"/>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KESIMPULAN</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300" b="0" i="0">
                <a:solidFill>
                  <a:srgbClr val="FFFFFF"/>
                </a:solidFill>
                <a:latin typeface="Segoe UI Black"/>
              </a:rPr>
              <a:t>AI menyediakan fondasi yang scalable untuk komunitas digital yang lebih aman</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ounded Rectangle 5"/>
          <p:cNvSpPr/>
          <p:nvPr/>
        </p:nvSpPr>
        <p:spPr>
          <a:xfrm>
            <a:off x="822960" y="2633472"/>
            <a:ext cx="16642080" cy="1572768"/>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Rectangle 6"/>
          <p:cNvSpPr/>
          <p:nvPr/>
        </p:nvSpPr>
        <p:spPr>
          <a:xfrm>
            <a:off x="822960" y="2633472"/>
            <a:ext cx="68580" cy="1572768"/>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207008" y="2944368"/>
            <a:ext cx="1188720" cy="822960"/>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01</a:t>
            </a:r>
          </a:p>
        </p:txBody>
      </p:sp>
      <p:sp>
        <p:nvSpPr>
          <p:cNvPr id="9" name="TextBox 8"/>
          <p:cNvSpPr txBox="1"/>
          <p:nvPr/>
        </p:nvSpPr>
        <p:spPr>
          <a:xfrm>
            <a:off x="2743200" y="2907791"/>
            <a:ext cx="14264640" cy="457200"/>
          </a:xfrm>
          <a:prstGeom prst="rect">
            <a:avLst/>
          </a:prstGeom>
          <a:noFill/>
        </p:spPr>
        <p:txBody>
          <a:bodyPr wrap="square" lIns="0" tIns="0" rIns="0" bIns="0" anchor="t">
            <a:spAutoFit/>
          </a:bodyPr>
          <a:lstStyle/>
          <a:p>
            <a:pPr algn="l">
              <a:lnSpc>
                <a:spcPct val="118000"/>
              </a:lnSpc>
            </a:pPr>
            <a:r>
              <a:rPr sz="2400" b="0" i="0">
                <a:solidFill>
                  <a:srgbClr val="FFFFFF"/>
                </a:solidFill>
                <a:latin typeface="Segoe UI Black"/>
              </a:rPr>
              <a:t>Data mengungkap sinyal cyberbullying yang terukur.</a:t>
            </a:r>
          </a:p>
        </p:txBody>
      </p:sp>
      <p:sp>
        <p:nvSpPr>
          <p:cNvPr id="10" name="TextBox 9"/>
          <p:cNvSpPr txBox="1"/>
          <p:nvPr/>
        </p:nvSpPr>
        <p:spPr>
          <a:xfrm>
            <a:off x="2743200" y="3474720"/>
            <a:ext cx="14264640" cy="603504"/>
          </a:xfrm>
          <a:prstGeom prst="rect">
            <a:avLst/>
          </a:prstGeom>
          <a:noFill/>
        </p:spPr>
        <p:txBody>
          <a:bodyPr wrap="square" lIns="0" tIns="0" rIns="0" bIns="0" anchor="t">
            <a:spAutoFit/>
          </a:bodyPr>
          <a:lstStyle/>
          <a:p>
            <a:pPr algn="l">
              <a:lnSpc>
                <a:spcPct val="122000"/>
              </a:lnSpc>
            </a:pPr>
            <a:r>
              <a:rPr sz="1550" b="0" i="0">
                <a:solidFill>
                  <a:srgbClr val="C7D2EC"/>
                </a:solidFill>
                <a:latin typeface="Segoe UI"/>
              </a:rPr>
              <a:t>Enam kategori bahaya terpisah berdasarkan panjang dan kosakata. Bahaya berbasis identitas 2,4x lebih panjang dari konten netral — 198 karakter berbanding 83.</a:t>
            </a:r>
          </a:p>
        </p:txBody>
      </p:sp>
      <p:sp>
        <p:nvSpPr>
          <p:cNvPr id="11" name="Rounded Rectangle 10"/>
          <p:cNvSpPr/>
          <p:nvPr/>
        </p:nvSpPr>
        <p:spPr>
          <a:xfrm>
            <a:off x="822960" y="4590288"/>
            <a:ext cx="16642080" cy="1572768"/>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822960" y="4590288"/>
            <a:ext cx="68580" cy="1572768"/>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1207008" y="4901183"/>
            <a:ext cx="1188720" cy="822960"/>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02</a:t>
            </a:r>
          </a:p>
        </p:txBody>
      </p:sp>
      <p:sp>
        <p:nvSpPr>
          <p:cNvPr id="14" name="TextBox 13"/>
          <p:cNvSpPr txBox="1"/>
          <p:nvPr/>
        </p:nvSpPr>
        <p:spPr>
          <a:xfrm>
            <a:off x="2743200" y="4864607"/>
            <a:ext cx="14264640" cy="457200"/>
          </a:xfrm>
          <a:prstGeom prst="rect">
            <a:avLst/>
          </a:prstGeom>
          <a:noFill/>
        </p:spPr>
        <p:txBody>
          <a:bodyPr wrap="square" lIns="0" tIns="0" rIns="0" bIns="0" anchor="t">
            <a:spAutoFit/>
          </a:bodyPr>
          <a:lstStyle/>
          <a:p>
            <a:pPr algn="l">
              <a:lnSpc>
                <a:spcPct val="118000"/>
              </a:lnSpc>
            </a:pPr>
            <a:r>
              <a:rPr sz="2400" b="0" i="0">
                <a:solidFill>
                  <a:srgbClr val="FFFFFF"/>
                </a:solidFill>
                <a:latin typeface="Segoe UI Black"/>
              </a:rPr>
              <a:t>Machine learning memungkinkan deteksi otomatis.</a:t>
            </a:r>
          </a:p>
        </p:txBody>
      </p:sp>
      <p:sp>
        <p:nvSpPr>
          <p:cNvPr id="15" name="TextBox 14"/>
          <p:cNvSpPr txBox="1"/>
          <p:nvPr/>
        </p:nvSpPr>
        <p:spPr>
          <a:xfrm>
            <a:off x="2743200" y="5431536"/>
            <a:ext cx="14264640" cy="603504"/>
          </a:xfrm>
          <a:prstGeom prst="rect">
            <a:avLst/>
          </a:prstGeom>
          <a:noFill/>
        </p:spPr>
        <p:txBody>
          <a:bodyPr wrap="square" lIns="0" tIns="0" rIns="0" bIns="0" anchor="t">
            <a:spAutoFit/>
          </a:bodyPr>
          <a:lstStyle/>
          <a:p>
            <a:pPr algn="l">
              <a:lnSpc>
                <a:spcPct val="122000"/>
              </a:lnSpc>
            </a:pPr>
            <a:r>
              <a:rPr sz="1550" b="0" i="0">
                <a:solidFill>
                  <a:srgbClr val="C7D2EC"/>
                </a:solidFill>
                <a:latin typeface="Segoe UI"/>
              </a:rPr>
              <a:t>Macro F1 0,8604 dan akurasi 87,49% pada 8.716 pesan baru, stabil dalam ±0,004 sepanjang 5 fold cross-validation.</a:t>
            </a:r>
          </a:p>
        </p:txBody>
      </p:sp>
      <p:sp>
        <p:nvSpPr>
          <p:cNvPr id="16" name="Rounded Rectangle 15"/>
          <p:cNvSpPr/>
          <p:nvPr/>
        </p:nvSpPr>
        <p:spPr>
          <a:xfrm>
            <a:off x="822960" y="6547104"/>
            <a:ext cx="16642080" cy="1572768"/>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822960" y="6547104"/>
            <a:ext cx="68580" cy="1572768"/>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207008" y="6858000"/>
            <a:ext cx="1188720" cy="822960"/>
          </a:xfrm>
          <a:prstGeom prst="rect">
            <a:avLst/>
          </a:prstGeom>
          <a:noFill/>
        </p:spPr>
        <p:txBody>
          <a:bodyPr wrap="square" lIns="0" tIns="0" rIns="0" bIns="0" anchor="t">
            <a:spAutoFit/>
          </a:bodyPr>
          <a:lstStyle/>
          <a:p>
            <a:pPr algn="l">
              <a:lnSpc>
                <a:spcPct val="118000"/>
              </a:lnSpc>
            </a:pPr>
            <a:r>
              <a:rPr sz="4400" b="0" i="0">
                <a:solidFill>
                  <a:srgbClr val="FFC629"/>
                </a:solidFill>
                <a:latin typeface="Segoe UI Black"/>
              </a:rPr>
              <a:t>03</a:t>
            </a:r>
          </a:p>
        </p:txBody>
      </p:sp>
      <p:sp>
        <p:nvSpPr>
          <p:cNvPr id="19" name="TextBox 18"/>
          <p:cNvSpPr txBox="1"/>
          <p:nvPr/>
        </p:nvSpPr>
        <p:spPr>
          <a:xfrm>
            <a:off x="2743200" y="6821424"/>
            <a:ext cx="14264640" cy="457200"/>
          </a:xfrm>
          <a:prstGeom prst="rect">
            <a:avLst/>
          </a:prstGeom>
          <a:noFill/>
        </p:spPr>
        <p:txBody>
          <a:bodyPr wrap="square" lIns="0" tIns="0" rIns="0" bIns="0" anchor="t">
            <a:spAutoFit/>
          </a:bodyPr>
          <a:lstStyle/>
          <a:p>
            <a:pPr algn="l">
              <a:lnSpc>
                <a:spcPct val="118000"/>
              </a:lnSpc>
            </a:pPr>
            <a:r>
              <a:rPr sz="2400" b="0" i="0">
                <a:solidFill>
                  <a:srgbClr val="FFFFFF"/>
                </a:solidFill>
                <a:latin typeface="Segoe UI Black"/>
              </a:rPr>
              <a:t>Deployment menciptakan nilai operasional.</a:t>
            </a:r>
          </a:p>
        </p:txBody>
      </p:sp>
      <p:sp>
        <p:nvSpPr>
          <p:cNvPr id="20" name="TextBox 19"/>
          <p:cNvSpPr txBox="1"/>
          <p:nvPr/>
        </p:nvSpPr>
        <p:spPr>
          <a:xfrm>
            <a:off x="2743200" y="7388352"/>
            <a:ext cx="14264640" cy="603504"/>
          </a:xfrm>
          <a:prstGeom prst="rect">
            <a:avLst/>
          </a:prstGeom>
          <a:noFill/>
        </p:spPr>
        <p:txBody>
          <a:bodyPr wrap="square" lIns="0" tIns="0" rIns="0" bIns="0" anchor="t">
            <a:spAutoFit/>
          </a:bodyPr>
          <a:lstStyle/>
          <a:p>
            <a:pPr algn="l">
              <a:lnSpc>
                <a:spcPct val="122000"/>
              </a:lnSpc>
            </a:pPr>
            <a:r>
              <a:rPr sz="1550" b="0" i="0">
                <a:solidFill>
                  <a:srgbClr val="C7D2EC"/>
                </a:solidFill>
                <a:latin typeface="Segoe UI"/>
              </a:rPr>
              <a:t>Satu artifact 5,2 MB mengubah analisis menjadi layanan. Manusia hanya memutuskan 12,51% yang benar-benar ambigu.</a:t>
            </a:r>
          </a:p>
        </p:txBody>
      </p:sp>
      <p:sp>
        <p:nvSpPr>
          <p:cNvPr id="21" name="Rectangle 20"/>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PERMINTAAN KAMI</a:t>
            </a:r>
          </a:p>
        </p:txBody>
      </p:sp>
      <p:sp>
        <p:nvSpPr>
          <p:cNvPr id="24" name="TextBox 23"/>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Setujui pilot human-in-the-loop pada empat kategori berkeyakinan tinggi, dan biayai satu siklus perbaikan kualitas pelabelan.</a:t>
            </a:r>
          </a:p>
        </p:txBody>
      </p:sp>
      <p:sp>
        <p:nvSpPr>
          <p:cNvPr id="25" name="TextBox 24"/>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Seluruh angka terukur pada dataset proyek dan test set; tidak ada estimasi atau proyeksi.</a:t>
            </a:r>
          </a:p>
        </p:txBody>
      </p:sp>
      <p:sp>
        <p:nvSpPr>
          <p:cNvPr id="26" name="TextBox 25"/>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swoosh.png"/>
          <p:cNvPicPr>
            <a:picLocks noChangeAspect="1"/>
          </p:cNvPicPr>
          <p:nvPr/>
        </p:nvPicPr>
        <p:blipFill>
          <a:blip r:embed="rId3"/>
          <a:stretch>
            <a:fillRect/>
          </a:stretch>
        </p:blipFill>
        <p:spPr>
          <a:xfrm>
            <a:off x="12527280" y="-4562856"/>
            <a:ext cx="16230600" cy="7854696"/>
          </a:xfrm>
          <a:prstGeom prst="rect">
            <a:avLst/>
          </a:prstGeom>
        </p:spPr>
      </p:pic>
      <p:sp>
        <p:nvSpPr>
          <p:cNvPr id="3" name="TextBox 2"/>
          <p:cNvSpPr txBox="1"/>
          <p:nvPr/>
        </p:nvSpPr>
        <p:spPr>
          <a:xfrm>
            <a:off x="822960" y="530352"/>
            <a:ext cx="14630400" cy="310896"/>
          </a:xfrm>
          <a:prstGeom prst="rect">
            <a:avLst/>
          </a:prstGeom>
          <a:noFill/>
        </p:spPr>
        <p:txBody>
          <a:bodyPr wrap="square" lIns="0" tIns="0" rIns="0" bIns="0" anchor="t">
            <a:spAutoFit/>
          </a:bodyPr>
          <a:lstStyle/>
          <a:p>
            <a:pPr algn="l">
              <a:lnSpc>
                <a:spcPct val="118000"/>
              </a:lnSpc>
            </a:pPr>
            <a:r>
              <a:rPr sz="1350" b="1" i="0">
                <a:solidFill>
                  <a:srgbClr val="C7D2EC"/>
                </a:solidFill>
                <a:latin typeface="Segoe UI"/>
              </a:rPr>
              <a:t>◆   LAMPIRAN · KONTRIBUSI TIM</a:t>
            </a:r>
          </a:p>
        </p:txBody>
      </p:sp>
      <p:sp>
        <p:nvSpPr>
          <p:cNvPr id="4" name="TextBox 3"/>
          <p:cNvSpPr txBox="1"/>
          <p:nvPr/>
        </p:nvSpPr>
        <p:spPr>
          <a:xfrm>
            <a:off x="822960" y="932688"/>
            <a:ext cx="16367759" cy="1371600"/>
          </a:xfrm>
          <a:prstGeom prst="rect">
            <a:avLst/>
          </a:prstGeom>
          <a:noFill/>
        </p:spPr>
        <p:txBody>
          <a:bodyPr wrap="square" lIns="0" tIns="0" rIns="0" bIns="0" anchor="t">
            <a:spAutoFit/>
          </a:bodyPr>
          <a:lstStyle/>
          <a:p>
            <a:pPr algn="l">
              <a:lnSpc>
                <a:spcPct val="112000"/>
              </a:lnSpc>
            </a:pPr>
            <a:r>
              <a:rPr sz="3800" b="0" i="0">
                <a:solidFill>
                  <a:srgbClr val="FFFFFF"/>
                </a:solidFill>
                <a:latin typeface="Segoe UI Black"/>
              </a:rPr>
              <a:t>Kontribusi tim</a:t>
            </a:r>
          </a:p>
        </p:txBody>
      </p:sp>
      <p:sp>
        <p:nvSpPr>
          <p:cNvPr id="5" name="Rectangle 4"/>
          <p:cNvSpPr/>
          <p:nvPr/>
        </p:nvSpPr>
        <p:spPr>
          <a:xfrm>
            <a:off x="822960" y="2377440"/>
            <a:ext cx="16642080" cy="12801"/>
          </a:xfrm>
          <a:prstGeom prst="rect">
            <a:avLst/>
          </a:prstGeom>
          <a:solidFill>
            <a:srgbClr val="3440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 name="Rectangle 5"/>
          <p:cNvSpPr/>
          <p:nvPr/>
        </p:nvSpPr>
        <p:spPr>
          <a:xfrm>
            <a:off x="822960" y="2633472"/>
            <a:ext cx="16642080" cy="475488"/>
          </a:xfrm>
          <a:prstGeom prst="rect">
            <a:avLst/>
          </a:prstGeom>
          <a:gradFill rotWithShape="1">
            <a:gsLst>
              <a:gs pos="0">
                <a:srgbClr val="1B255A"/>
              </a:gs>
              <a:gs pos="100000">
                <a:srgbClr val="2C3986"/>
              </a:gs>
            </a:gsLst>
            <a:lin ang="0" scaled="0"/>
          </a:gradFill>
          <a:ln w="762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969264" y="2752344"/>
            <a:ext cx="3847795" cy="237744"/>
          </a:xfrm>
          <a:prstGeom prst="rect">
            <a:avLst/>
          </a:prstGeom>
          <a:noFill/>
        </p:spPr>
        <p:txBody>
          <a:bodyPr wrap="square" lIns="0" tIns="0" rIns="0" bIns="0" anchor="t">
            <a:spAutoFit/>
          </a:bodyPr>
          <a:lstStyle/>
          <a:p>
            <a:pPr algn="l">
              <a:lnSpc>
                <a:spcPct val="118000"/>
              </a:lnSpc>
            </a:pPr>
            <a:r>
              <a:rPr sz="1200" b="1" i="0">
                <a:solidFill>
                  <a:srgbClr val="FFFFFF"/>
                </a:solidFill>
                <a:latin typeface="Segoe UI"/>
              </a:rPr>
              <a:t>ANGGOTA</a:t>
            </a:r>
          </a:p>
        </p:txBody>
      </p:sp>
      <p:sp>
        <p:nvSpPr>
          <p:cNvPr id="8" name="TextBox 7"/>
          <p:cNvSpPr txBox="1"/>
          <p:nvPr/>
        </p:nvSpPr>
        <p:spPr>
          <a:xfrm>
            <a:off x="4963363" y="2752344"/>
            <a:ext cx="5512003" cy="237744"/>
          </a:xfrm>
          <a:prstGeom prst="rect">
            <a:avLst/>
          </a:prstGeom>
          <a:noFill/>
        </p:spPr>
        <p:txBody>
          <a:bodyPr wrap="square" lIns="0" tIns="0" rIns="0" bIns="0" anchor="t">
            <a:spAutoFit/>
          </a:bodyPr>
          <a:lstStyle/>
          <a:p>
            <a:pPr algn="l">
              <a:lnSpc>
                <a:spcPct val="118000"/>
              </a:lnSpc>
            </a:pPr>
            <a:r>
              <a:rPr sz="1200" b="1" i="0">
                <a:solidFill>
                  <a:srgbClr val="FFFFFF"/>
                </a:solidFill>
                <a:latin typeface="Segoe UI"/>
              </a:rPr>
              <a:t>TANGGUNG JAWAB</a:t>
            </a:r>
          </a:p>
        </p:txBody>
      </p:sp>
      <p:sp>
        <p:nvSpPr>
          <p:cNvPr id="9" name="TextBox 8"/>
          <p:cNvSpPr txBox="1"/>
          <p:nvPr/>
        </p:nvSpPr>
        <p:spPr>
          <a:xfrm>
            <a:off x="10621670" y="2752344"/>
            <a:ext cx="6843369" cy="237744"/>
          </a:xfrm>
          <a:prstGeom prst="rect">
            <a:avLst/>
          </a:prstGeom>
          <a:noFill/>
        </p:spPr>
        <p:txBody>
          <a:bodyPr wrap="square" lIns="0" tIns="0" rIns="0" bIns="0" anchor="t">
            <a:spAutoFit/>
          </a:bodyPr>
          <a:lstStyle/>
          <a:p>
            <a:pPr algn="l">
              <a:lnSpc>
                <a:spcPct val="118000"/>
              </a:lnSpc>
            </a:pPr>
            <a:r>
              <a:rPr sz="1200" b="1" i="0">
                <a:solidFill>
                  <a:srgbClr val="FFFFFF"/>
                </a:solidFill>
                <a:latin typeface="Segoe UI"/>
              </a:rPr>
              <a:t>KONTRIBUSI</a:t>
            </a:r>
          </a:p>
        </p:txBody>
      </p:sp>
      <p:sp>
        <p:nvSpPr>
          <p:cNvPr id="10" name="Rectangle 9"/>
          <p:cNvSpPr/>
          <p:nvPr/>
        </p:nvSpPr>
        <p:spPr>
          <a:xfrm>
            <a:off x="822960" y="3108960"/>
            <a:ext cx="16642080" cy="53035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969264" y="3246120"/>
            <a:ext cx="3847795" cy="256032"/>
          </a:xfrm>
          <a:prstGeom prst="rect">
            <a:avLst/>
          </a:prstGeom>
          <a:noFill/>
        </p:spPr>
        <p:txBody>
          <a:bodyPr wrap="square" lIns="0" tIns="0" rIns="0" bIns="0" anchor="t">
            <a:spAutoFit/>
          </a:bodyPr>
          <a:lstStyle/>
          <a:p>
            <a:pPr algn="l">
              <a:lnSpc>
                <a:spcPct val="118000"/>
              </a:lnSpc>
            </a:pPr>
            <a:r>
              <a:rPr sz="1400" b="1" i="0">
                <a:solidFill>
                  <a:srgbClr val="FFFFFF"/>
                </a:solidFill>
                <a:latin typeface="Segoe UI"/>
              </a:rPr>
              <a:t>[Anggota 1]</a:t>
            </a:r>
          </a:p>
        </p:txBody>
      </p:sp>
      <p:sp>
        <p:nvSpPr>
          <p:cNvPr id="12" name="TextBox 11"/>
          <p:cNvSpPr txBox="1"/>
          <p:nvPr/>
        </p:nvSpPr>
        <p:spPr>
          <a:xfrm>
            <a:off x="4963363" y="3246120"/>
            <a:ext cx="5512003"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[Tanggung jawab]</a:t>
            </a:r>
          </a:p>
        </p:txBody>
      </p:sp>
      <p:sp>
        <p:nvSpPr>
          <p:cNvPr id="13" name="TextBox 12"/>
          <p:cNvSpPr txBox="1"/>
          <p:nvPr/>
        </p:nvSpPr>
        <p:spPr>
          <a:xfrm>
            <a:off x="10621670" y="3246120"/>
            <a:ext cx="6843369"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[Kontribusi]</a:t>
            </a:r>
          </a:p>
        </p:txBody>
      </p:sp>
      <p:sp>
        <p:nvSpPr>
          <p:cNvPr id="14" name="Rectangle 13"/>
          <p:cNvSpPr/>
          <p:nvPr/>
        </p:nvSpPr>
        <p:spPr>
          <a:xfrm>
            <a:off x="822960" y="3639312"/>
            <a:ext cx="16642080" cy="53035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969264" y="3776472"/>
            <a:ext cx="3847795" cy="256032"/>
          </a:xfrm>
          <a:prstGeom prst="rect">
            <a:avLst/>
          </a:prstGeom>
          <a:noFill/>
        </p:spPr>
        <p:txBody>
          <a:bodyPr wrap="square" lIns="0" tIns="0" rIns="0" bIns="0" anchor="t">
            <a:spAutoFit/>
          </a:bodyPr>
          <a:lstStyle/>
          <a:p>
            <a:pPr algn="l">
              <a:lnSpc>
                <a:spcPct val="118000"/>
              </a:lnSpc>
            </a:pPr>
            <a:r>
              <a:rPr sz="1400" b="1" i="0">
                <a:solidFill>
                  <a:srgbClr val="FFFFFF"/>
                </a:solidFill>
                <a:latin typeface="Segoe UI"/>
              </a:rPr>
              <a:t>[Anggota 2]</a:t>
            </a:r>
          </a:p>
        </p:txBody>
      </p:sp>
      <p:sp>
        <p:nvSpPr>
          <p:cNvPr id="16" name="TextBox 15"/>
          <p:cNvSpPr txBox="1"/>
          <p:nvPr/>
        </p:nvSpPr>
        <p:spPr>
          <a:xfrm>
            <a:off x="4963363" y="3776472"/>
            <a:ext cx="5512003"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[Tanggung jawab]</a:t>
            </a:r>
          </a:p>
        </p:txBody>
      </p:sp>
      <p:sp>
        <p:nvSpPr>
          <p:cNvPr id="17" name="TextBox 16"/>
          <p:cNvSpPr txBox="1"/>
          <p:nvPr/>
        </p:nvSpPr>
        <p:spPr>
          <a:xfrm>
            <a:off x="10621670" y="3776472"/>
            <a:ext cx="6843369"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[Kontribusi]</a:t>
            </a:r>
          </a:p>
        </p:txBody>
      </p:sp>
      <p:sp>
        <p:nvSpPr>
          <p:cNvPr id="18" name="Rectangle 17"/>
          <p:cNvSpPr/>
          <p:nvPr/>
        </p:nvSpPr>
        <p:spPr>
          <a:xfrm>
            <a:off x="822960" y="4169663"/>
            <a:ext cx="16642080" cy="53035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969264" y="4306824"/>
            <a:ext cx="3847795" cy="256032"/>
          </a:xfrm>
          <a:prstGeom prst="rect">
            <a:avLst/>
          </a:prstGeom>
          <a:noFill/>
        </p:spPr>
        <p:txBody>
          <a:bodyPr wrap="square" lIns="0" tIns="0" rIns="0" bIns="0" anchor="t">
            <a:spAutoFit/>
          </a:bodyPr>
          <a:lstStyle/>
          <a:p>
            <a:pPr algn="l">
              <a:lnSpc>
                <a:spcPct val="118000"/>
              </a:lnSpc>
            </a:pPr>
            <a:r>
              <a:rPr sz="1400" b="1" i="0">
                <a:solidFill>
                  <a:srgbClr val="FFFFFF"/>
                </a:solidFill>
                <a:latin typeface="Segoe UI"/>
              </a:rPr>
              <a:t>[Anggota 3]</a:t>
            </a:r>
          </a:p>
        </p:txBody>
      </p:sp>
      <p:sp>
        <p:nvSpPr>
          <p:cNvPr id="20" name="TextBox 19"/>
          <p:cNvSpPr txBox="1"/>
          <p:nvPr/>
        </p:nvSpPr>
        <p:spPr>
          <a:xfrm>
            <a:off x="4963363" y="4306824"/>
            <a:ext cx="5512003"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[Tanggung jawab]</a:t>
            </a:r>
          </a:p>
        </p:txBody>
      </p:sp>
      <p:sp>
        <p:nvSpPr>
          <p:cNvPr id="21" name="TextBox 20"/>
          <p:cNvSpPr txBox="1"/>
          <p:nvPr/>
        </p:nvSpPr>
        <p:spPr>
          <a:xfrm>
            <a:off x="10621670" y="4306824"/>
            <a:ext cx="6843369"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[Kontribusi]</a:t>
            </a:r>
          </a:p>
        </p:txBody>
      </p:sp>
      <p:sp>
        <p:nvSpPr>
          <p:cNvPr id="22" name="Rectangle 21"/>
          <p:cNvSpPr/>
          <p:nvPr/>
        </p:nvSpPr>
        <p:spPr>
          <a:xfrm>
            <a:off x="822960" y="4700016"/>
            <a:ext cx="16642080" cy="53035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969264" y="4837176"/>
            <a:ext cx="3847795" cy="256032"/>
          </a:xfrm>
          <a:prstGeom prst="rect">
            <a:avLst/>
          </a:prstGeom>
          <a:noFill/>
        </p:spPr>
        <p:txBody>
          <a:bodyPr wrap="square" lIns="0" tIns="0" rIns="0" bIns="0" anchor="t">
            <a:spAutoFit/>
          </a:bodyPr>
          <a:lstStyle/>
          <a:p>
            <a:pPr algn="l">
              <a:lnSpc>
                <a:spcPct val="118000"/>
              </a:lnSpc>
            </a:pPr>
            <a:r>
              <a:rPr sz="1400" b="1" i="0">
                <a:solidFill>
                  <a:srgbClr val="FFFFFF"/>
                </a:solidFill>
                <a:latin typeface="Segoe UI"/>
              </a:rPr>
              <a:t>[Anggota 4]</a:t>
            </a:r>
          </a:p>
        </p:txBody>
      </p:sp>
      <p:sp>
        <p:nvSpPr>
          <p:cNvPr id="24" name="TextBox 23"/>
          <p:cNvSpPr txBox="1"/>
          <p:nvPr/>
        </p:nvSpPr>
        <p:spPr>
          <a:xfrm>
            <a:off x="4963363" y="4837176"/>
            <a:ext cx="5512003"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[Tanggung jawab]</a:t>
            </a:r>
          </a:p>
        </p:txBody>
      </p:sp>
      <p:sp>
        <p:nvSpPr>
          <p:cNvPr id="25" name="TextBox 24"/>
          <p:cNvSpPr txBox="1"/>
          <p:nvPr/>
        </p:nvSpPr>
        <p:spPr>
          <a:xfrm>
            <a:off x="10621670" y="4837176"/>
            <a:ext cx="6843369"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[Kontribusi]</a:t>
            </a:r>
          </a:p>
        </p:txBody>
      </p:sp>
      <p:sp>
        <p:nvSpPr>
          <p:cNvPr id="26" name="Rectangle 25"/>
          <p:cNvSpPr/>
          <p:nvPr/>
        </p:nvSpPr>
        <p:spPr>
          <a:xfrm>
            <a:off x="822960" y="5230368"/>
            <a:ext cx="16642080" cy="530352"/>
          </a:xfrm>
          <a:prstGeom prst="rect">
            <a:avLst/>
          </a:prstGeom>
          <a:solidFill>
            <a:srgbClr val="0C112C"/>
          </a:solidFill>
          <a:ln w="5080">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969264" y="5367528"/>
            <a:ext cx="3847795" cy="256032"/>
          </a:xfrm>
          <a:prstGeom prst="rect">
            <a:avLst/>
          </a:prstGeom>
          <a:noFill/>
        </p:spPr>
        <p:txBody>
          <a:bodyPr wrap="square" lIns="0" tIns="0" rIns="0" bIns="0" anchor="t">
            <a:spAutoFit/>
          </a:bodyPr>
          <a:lstStyle/>
          <a:p>
            <a:pPr algn="l">
              <a:lnSpc>
                <a:spcPct val="118000"/>
              </a:lnSpc>
            </a:pPr>
            <a:r>
              <a:rPr sz="1400" b="1" i="0">
                <a:solidFill>
                  <a:srgbClr val="FFFFFF"/>
                </a:solidFill>
                <a:latin typeface="Segoe UI"/>
              </a:rPr>
              <a:t>[Anggota 5]</a:t>
            </a:r>
          </a:p>
        </p:txBody>
      </p:sp>
      <p:sp>
        <p:nvSpPr>
          <p:cNvPr id="28" name="TextBox 27"/>
          <p:cNvSpPr txBox="1"/>
          <p:nvPr/>
        </p:nvSpPr>
        <p:spPr>
          <a:xfrm>
            <a:off x="4963363" y="5367528"/>
            <a:ext cx="5512003"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[Tanggung jawab]</a:t>
            </a:r>
          </a:p>
        </p:txBody>
      </p:sp>
      <p:sp>
        <p:nvSpPr>
          <p:cNvPr id="29" name="TextBox 28"/>
          <p:cNvSpPr txBox="1"/>
          <p:nvPr/>
        </p:nvSpPr>
        <p:spPr>
          <a:xfrm>
            <a:off x="10621670" y="5367528"/>
            <a:ext cx="6843369" cy="256032"/>
          </a:xfrm>
          <a:prstGeom prst="rect">
            <a:avLst/>
          </a:prstGeom>
          <a:noFill/>
        </p:spPr>
        <p:txBody>
          <a:bodyPr wrap="square" lIns="0" tIns="0" rIns="0" bIns="0" anchor="t">
            <a:spAutoFit/>
          </a:bodyPr>
          <a:lstStyle/>
          <a:p>
            <a:pPr algn="l">
              <a:lnSpc>
                <a:spcPct val="118000"/>
              </a:lnSpc>
            </a:pPr>
            <a:r>
              <a:rPr sz="1400" b="0" i="0">
                <a:solidFill>
                  <a:srgbClr val="C7D2EC"/>
                </a:solidFill>
                <a:latin typeface="Segoe UI"/>
              </a:rPr>
              <a:t>[Kontribusi]</a:t>
            </a:r>
          </a:p>
        </p:txBody>
      </p:sp>
      <p:sp>
        <p:nvSpPr>
          <p:cNvPr id="30" name="Rounded Rectangle 29"/>
          <p:cNvSpPr/>
          <p:nvPr/>
        </p:nvSpPr>
        <p:spPr>
          <a:xfrm>
            <a:off x="822960" y="6071616"/>
            <a:ext cx="16642080" cy="96012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822960" y="6071616"/>
            <a:ext cx="68580" cy="960120"/>
          </a:xfrm>
          <a:prstGeom prst="rect">
            <a:avLst/>
          </a:prstGeom>
          <a:solidFill>
            <a:srgbClr val="FF5A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152144" y="6236207"/>
            <a:ext cx="6400800" cy="256032"/>
          </a:xfrm>
          <a:prstGeom prst="rect">
            <a:avLst/>
          </a:prstGeom>
          <a:noFill/>
        </p:spPr>
        <p:txBody>
          <a:bodyPr wrap="square" lIns="0" tIns="0" rIns="0" bIns="0" anchor="t">
            <a:spAutoFit/>
          </a:bodyPr>
          <a:lstStyle/>
          <a:p>
            <a:pPr algn="l">
              <a:lnSpc>
                <a:spcPct val="118000"/>
              </a:lnSpc>
            </a:pPr>
            <a:r>
              <a:rPr sz="1350" b="1" i="0">
                <a:solidFill>
                  <a:srgbClr val="FF5A6E"/>
                </a:solidFill>
                <a:latin typeface="Segoe UI"/>
              </a:rPr>
              <a:t>BELUM DILENGKAPI</a:t>
            </a:r>
          </a:p>
        </p:txBody>
      </p:sp>
      <p:sp>
        <p:nvSpPr>
          <p:cNvPr id="33" name="TextBox 32"/>
          <p:cNvSpPr txBox="1"/>
          <p:nvPr/>
        </p:nvSpPr>
        <p:spPr>
          <a:xfrm>
            <a:off x="1152144" y="6547104"/>
            <a:ext cx="15910560" cy="402336"/>
          </a:xfrm>
          <a:prstGeom prst="rect">
            <a:avLst/>
          </a:prstGeom>
          <a:noFill/>
        </p:spPr>
        <p:txBody>
          <a:bodyPr wrap="square" lIns="0" tIns="0" rIns="0" bIns="0" anchor="t">
            <a:spAutoFit/>
          </a:bodyPr>
          <a:lstStyle/>
          <a:p>
            <a:pPr algn="l">
              <a:lnSpc>
                <a:spcPct val="120000"/>
              </a:lnSpc>
            </a:pPr>
            <a:r>
              <a:rPr sz="1450" b="0" i="0">
                <a:solidFill>
                  <a:srgbClr val="FFFFFF"/>
                </a:solidFill>
                <a:latin typeface="Segoe UI"/>
              </a:rPr>
              <a:t>Ganti nama, tanggung jawab dan kontribusi placeholder sebelum presentasi. Komposisi tim tidak tercatat di notebook proyek.</a:t>
            </a:r>
          </a:p>
        </p:txBody>
      </p:sp>
      <p:sp>
        <p:nvSpPr>
          <p:cNvPr id="34" name="Rounded Rectangle 33"/>
          <p:cNvSpPr/>
          <p:nvPr/>
        </p:nvSpPr>
        <p:spPr>
          <a:xfrm>
            <a:off x="822960" y="7278624"/>
            <a:ext cx="16642080" cy="1280160"/>
          </a:xfrm>
          <a:prstGeom prst="roundRect">
            <a:avLst>
              <a:gd name="adj" fmla="val 4500"/>
            </a:avLst>
          </a:prstGeom>
          <a:gradFill rotWithShape="1">
            <a:gsLst>
              <a:gs pos="0">
                <a:srgbClr val="11183A"/>
              </a:gs>
              <a:gs pos="100000">
                <a:srgbClr val="1E275C"/>
              </a:gs>
            </a:gsLst>
            <a:lin ang="1890000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35" name="Picture 34" descr="card_header.png"/>
          <p:cNvPicPr>
            <a:picLocks noChangeAspect="1"/>
          </p:cNvPicPr>
          <p:nvPr/>
        </p:nvPicPr>
        <p:blipFill>
          <a:blip r:embed="rId4"/>
          <a:stretch>
            <a:fillRect/>
          </a:stretch>
        </p:blipFill>
        <p:spPr>
          <a:xfrm>
            <a:off x="822960" y="7289596"/>
            <a:ext cx="16642080" cy="402336"/>
          </a:xfrm>
          <a:prstGeom prst="rect">
            <a:avLst/>
          </a:prstGeom>
        </p:spPr>
      </p:pic>
      <p:sp>
        <p:nvSpPr>
          <p:cNvPr id="36" name="TextBox 35"/>
          <p:cNvSpPr txBox="1"/>
          <p:nvPr/>
        </p:nvSpPr>
        <p:spPr>
          <a:xfrm>
            <a:off x="1024128" y="7370064"/>
            <a:ext cx="16294608" cy="256032"/>
          </a:xfrm>
          <a:prstGeom prst="rect">
            <a:avLst/>
          </a:prstGeom>
          <a:noFill/>
        </p:spPr>
        <p:txBody>
          <a:bodyPr wrap="square" lIns="0" tIns="0" rIns="0" bIns="0" anchor="t">
            <a:spAutoFit/>
          </a:bodyPr>
          <a:lstStyle/>
          <a:p>
            <a:pPr algn="l">
              <a:lnSpc>
                <a:spcPct val="118000"/>
              </a:lnSpc>
            </a:pPr>
            <a:r>
              <a:rPr sz="1350" b="1" i="0">
                <a:solidFill>
                  <a:srgbClr val="FFFFFF"/>
                </a:solidFill>
                <a:latin typeface="Segoe UI"/>
              </a:rPr>
              <a:t>ARTIFACT PROYEK</a:t>
            </a:r>
          </a:p>
        </p:txBody>
      </p:sp>
      <p:sp>
        <p:nvSpPr>
          <p:cNvPr id="37" name="TextBox 36"/>
          <p:cNvSpPr txBox="1"/>
          <p:nvPr/>
        </p:nvSpPr>
        <p:spPr>
          <a:xfrm>
            <a:off x="1115568" y="7827264"/>
            <a:ext cx="5303520" cy="219456"/>
          </a:xfrm>
          <a:prstGeom prst="rect">
            <a:avLst/>
          </a:prstGeom>
          <a:noFill/>
        </p:spPr>
        <p:txBody>
          <a:bodyPr wrap="square" lIns="0" tIns="0" rIns="0" bIns="0" anchor="t">
            <a:spAutoFit/>
          </a:bodyPr>
          <a:lstStyle/>
          <a:p>
            <a:pPr algn="l">
              <a:lnSpc>
                <a:spcPct val="118000"/>
              </a:lnSpc>
            </a:pPr>
            <a:r>
              <a:rPr sz="1100" b="1" i="0">
                <a:solidFill>
                  <a:srgbClr val="FFC629"/>
                </a:solidFill>
                <a:latin typeface="Segoe UI"/>
              </a:rPr>
              <a:t>NOTEBOOK</a:t>
            </a:r>
          </a:p>
        </p:txBody>
      </p:sp>
      <p:sp>
        <p:nvSpPr>
          <p:cNvPr id="38" name="TextBox 37"/>
          <p:cNvSpPr txBox="1"/>
          <p:nvPr/>
        </p:nvSpPr>
        <p:spPr>
          <a:xfrm>
            <a:off x="1115568" y="8065008"/>
            <a:ext cx="5303520" cy="438912"/>
          </a:xfrm>
          <a:prstGeom prst="rect">
            <a:avLst/>
          </a:prstGeom>
          <a:noFill/>
        </p:spPr>
        <p:txBody>
          <a:bodyPr wrap="square" lIns="0" tIns="0" rIns="0" bIns="0" anchor="t">
            <a:spAutoFit/>
          </a:bodyPr>
          <a:lstStyle/>
          <a:p>
            <a:pPr algn="l">
              <a:lnSpc>
                <a:spcPct val="116000"/>
              </a:lnSpc>
            </a:pPr>
            <a:r>
              <a:rPr sz="1250" b="0" i="0">
                <a:solidFill>
                  <a:srgbClr val="FFFFFF"/>
                </a:solidFill>
                <a:latin typeface="Segoe UI"/>
              </a:rPr>
              <a:t>Salinan_dari_Final_Project_Group_3_</a:t>
            </a:r>
          </a:p>
          <a:p>
            <a:pPr algn="l">
              <a:lnSpc>
                <a:spcPct val="116000"/>
              </a:lnSpc>
            </a:pPr>
            <a:r>
              <a:rPr sz="1250" b="0" i="0">
                <a:solidFill>
                  <a:srgbClr val="FFFFFF"/>
                </a:solidFill>
                <a:latin typeface="Segoe UI"/>
              </a:rPr>
              <a:t>Cyberbullying_Classification.ipynb</a:t>
            </a:r>
          </a:p>
        </p:txBody>
      </p:sp>
      <p:sp>
        <p:nvSpPr>
          <p:cNvPr id="39" name="TextBox 38"/>
          <p:cNvSpPr txBox="1"/>
          <p:nvPr/>
        </p:nvSpPr>
        <p:spPr>
          <a:xfrm>
            <a:off x="6601968" y="7827264"/>
            <a:ext cx="5303520" cy="219456"/>
          </a:xfrm>
          <a:prstGeom prst="rect">
            <a:avLst/>
          </a:prstGeom>
          <a:noFill/>
        </p:spPr>
        <p:txBody>
          <a:bodyPr wrap="square" lIns="0" tIns="0" rIns="0" bIns="0" anchor="t">
            <a:spAutoFit/>
          </a:bodyPr>
          <a:lstStyle/>
          <a:p>
            <a:pPr algn="l">
              <a:lnSpc>
                <a:spcPct val="118000"/>
              </a:lnSpc>
            </a:pPr>
            <a:r>
              <a:rPr sz="1100" b="1" i="0">
                <a:solidFill>
                  <a:srgbClr val="FFC629"/>
                </a:solidFill>
                <a:latin typeface="Segoe UI"/>
              </a:rPr>
              <a:t>DATASET</a:t>
            </a:r>
          </a:p>
        </p:txBody>
      </p:sp>
      <p:sp>
        <p:nvSpPr>
          <p:cNvPr id="40" name="TextBox 39"/>
          <p:cNvSpPr txBox="1"/>
          <p:nvPr/>
        </p:nvSpPr>
        <p:spPr>
          <a:xfrm>
            <a:off x="6601968" y="8065008"/>
            <a:ext cx="5303520" cy="438912"/>
          </a:xfrm>
          <a:prstGeom prst="rect">
            <a:avLst/>
          </a:prstGeom>
          <a:noFill/>
        </p:spPr>
        <p:txBody>
          <a:bodyPr wrap="square" lIns="0" tIns="0" rIns="0" bIns="0" anchor="t">
            <a:spAutoFit/>
          </a:bodyPr>
          <a:lstStyle/>
          <a:p>
            <a:pPr algn="l">
              <a:lnSpc>
                <a:spcPct val="116000"/>
              </a:lnSpc>
            </a:pPr>
            <a:r>
              <a:rPr sz="1250" b="0" i="0">
                <a:solidFill>
                  <a:srgbClr val="FFFFFF"/>
                </a:solidFill>
                <a:latin typeface="Segoe UI"/>
              </a:rPr>
              <a:t>cyberbullying_tweets.csv</a:t>
            </a:r>
          </a:p>
          <a:p>
            <a:pPr algn="l">
              <a:lnSpc>
                <a:spcPct val="116000"/>
              </a:lnSpc>
            </a:pPr>
            <a:r>
              <a:rPr sz="1250" b="0" i="0">
                <a:solidFill>
                  <a:srgbClr val="FFFFFF"/>
                </a:solidFill>
                <a:latin typeface="Segoe UI"/>
              </a:rPr>
              <a:t>47.692 pesan, 6 kategori</a:t>
            </a:r>
          </a:p>
        </p:txBody>
      </p:sp>
      <p:sp>
        <p:nvSpPr>
          <p:cNvPr id="41" name="TextBox 40"/>
          <p:cNvSpPr txBox="1"/>
          <p:nvPr/>
        </p:nvSpPr>
        <p:spPr>
          <a:xfrm>
            <a:off x="12088367" y="7827264"/>
            <a:ext cx="5303520" cy="219456"/>
          </a:xfrm>
          <a:prstGeom prst="rect">
            <a:avLst/>
          </a:prstGeom>
          <a:noFill/>
        </p:spPr>
        <p:txBody>
          <a:bodyPr wrap="square" lIns="0" tIns="0" rIns="0" bIns="0" anchor="t">
            <a:spAutoFit/>
          </a:bodyPr>
          <a:lstStyle/>
          <a:p>
            <a:pPr algn="l">
              <a:lnSpc>
                <a:spcPct val="118000"/>
              </a:lnSpc>
            </a:pPr>
            <a:r>
              <a:rPr sz="1100" b="1" i="0">
                <a:solidFill>
                  <a:srgbClr val="FFC629"/>
                </a:solidFill>
                <a:latin typeface="Segoe UI"/>
              </a:rPr>
              <a:t>MODEL</a:t>
            </a:r>
          </a:p>
        </p:txBody>
      </p:sp>
      <p:sp>
        <p:nvSpPr>
          <p:cNvPr id="42" name="TextBox 41"/>
          <p:cNvSpPr txBox="1"/>
          <p:nvPr/>
        </p:nvSpPr>
        <p:spPr>
          <a:xfrm>
            <a:off x="12088367" y="8065008"/>
            <a:ext cx="5303520" cy="438912"/>
          </a:xfrm>
          <a:prstGeom prst="rect">
            <a:avLst/>
          </a:prstGeom>
          <a:noFill/>
        </p:spPr>
        <p:txBody>
          <a:bodyPr wrap="square" lIns="0" tIns="0" rIns="0" bIns="0" anchor="t">
            <a:spAutoFit/>
          </a:bodyPr>
          <a:lstStyle/>
          <a:p>
            <a:pPr algn="l">
              <a:lnSpc>
                <a:spcPct val="116000"/>
              </a:lnSpc>
            </a:pPr>
            <a:r>
              <a:rPr sz="1250" b="0" i="0">
                <a:solidFill>
                  <a:srgbClr val="FFFFFF"/>
                </a:solidFill>
                <a:latin typeface="Segoe UI"/>
              </a:rPr>
              <a:t>cyberbullying_model.pkl</a:t>
            </a:r>
          </a:p>
          <a:p>
            <a:pPr algn="l">
              <a:lnSpc>
                <a:spcPct val="116000"/>
              </a:lnSpc>
            </a:pPr>
            <a:r>
              <a:rPr sz="1250" b="0" i="0">
                <a:solidFill>
                  <a:srgbClr val="FFFFFF"/>
                </a:solidFill>
                <a:latin typeface="Segoe UI"/>
              </a:rPr>
              <a:t>TF-IDF + SGD Classifier, 5,2 MB</a:t>
            </a:r>
          </a:p>
        </p:txBody>
      </p:sp>
      <p:sp>
        <p:nvSpPr>
          <p:cNvPr id="43" name="Rectangle 42"/>
          <p:cNvSpPr/>
          <p:nvPr/>
        </p:nvSpPr>
        <p:spPr>
          <a:xfrm>
            <a:off x="822960" y="8613648"/>
            <a:ext cx="16642080" cy="731520"/>
          </a:xfrm>
          <a:prstGeom prst="rect">
            <a:avLst/>
          </a:prstGeom>
          <a:gradFill rotWithShape="1">
            <a:gsLst>
              <a:gs pos="0">
                <a:srgbClr val="141C46"/>
              </a:gs>
              <a:gs pos="100000">
                <a:srgbClr val="253074"/>
              </a:gs>
            </a:gsLst>
            <a:lin ang="0" scaled="0"/>
          </a:gradFill>
          <a:ln w="9525">
            <a:solidFill>
              <a:srgbClr val="3440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ectangle 43"/>
          <p:cNvSpPr/>
          <p:nvPr/>
        </p:nvSpPr>
        <p:spPr>
          <a:xfrm>
            <a:off x="822960" y="8613648"/>
            <a:ext cx="68580" cy="731520"/>
          </a:xfrm>
          <a:prstGeom prst="rect">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1133856" y="8732520"/>
            <a:ext cx="3566160" cy="237744"/>
          </a:xfrm>
          <a:prstGeom prst="rect">
            <a:avLst/>
          </a:prstGeom>
          <a:noFill/>
        </p:spPr>
        <p:txBody>
          <a:bodyPr wrap="square" lIns="0" tIns="0" rIns="0" bIns="0" anchor="t">
            <a:spAutoFit/>
          </a:bodyPr>
          <a:lstStyle/>
          <a:p>
            <a:pPr algn="l">
              <a:lnSpc>
                <a:spcPct val="118000"/>
              </a:lnSpc>
            </a:pPr>
            <a:r>
              <a:rPr sz="1250" b="1" i="0">
                <a:solidFill>
                  <a:srgbClr val="FFC629"/>
                </a:solidFill>
                <a:latin typeface="Segoe UI"/>
              </a:rPr>
              <a:t>REPRODUSIBILITAS</a:t>
            </a:r>
          </a:p>
        </p:txBody>
      </p:sp>
      <p:sp>
        <p:nvSpPr>
          <p:cNvPr id="46" name="TextBox 45"/>
          <p:cNvSpPr txBox="1"/>
          <p:nvPr/>
        </p:nvSpPr>
        <p:spPr>
          <a:xfrm>
            <a:off x="1133856" y="8961120"/>
            <a:ext cx="15910560" cy="310896"/>
          </a:xfrm>
          <a:prstGeom prst="rect">
            <a:avLst/>
          </a:prstGeom>
          <a:noFill/>
        </p:spPr>
        <p:txBody>
          <a:bodyPr wrap="square" lIns="0" tIns="0" rIns="0" bIns="0" anchor="t">
            <a:spAutoFit/>
          </a:bodyPr>
          <a:lstStyle/>
          <a:p>
            <a:pPr algn="l">
              <a:lnSpc>
                <a:spcPct val="118000"/>
              </a:lnSpc>
            </a:pPr>
            <a:r>
              <a:rPr sz="1700" b="1" i="0">
                <a:solidFill>
                  <a:srgbClr val="FFFFFF"/>
                </a:solidFill>
                <a:latin typeface="Segoe UI"/>
              </a:rPr>
              <a:t>Setiap angka dalam deck ini tertelusur ke sel bernomor di notebook proyek dan bisa dijalankan ulang dari awal sampai akhir.</a:t>
            </a:r>
          </a:p>
        </p:txBody>
      </p:sp>
      <p:sp>
        <p:nvSpPr>
          <p:cNvPr id="47" name="TextBox 46"/>
          <p:cNvSpPr txBox="1"/>
          <p:nvPr/>
        </p:nvSpPr>
        <p:spPr>
          <a:xfrm>
            <a:off x="822960" y="9692640"/>
            <a:ext cx="14996159" cy="274320"/>
          </a:xfrm>
          <a:prstGeom prst="rect">
            <a:avLst/>
          </a:prstGeom>
          <a:noFill/>
        </p:spPr>
        <p:txBody>
          <a:bodyPr wrap="square" lIns="0" tIns="0" rIns="0" bIns="0" anchor="t">
            <a:spAutoFit/>
          </a:bodyPr>
          <a:lstStyle/>
          <a:p>
            <a:pPr algn="l">
              <a:lnSpc>
                <a:spcPct val="118000"/>
              </a:lnSpc>
            </a:pPr>
            <a:r>
              <a:rPr sz="1050" b="0" i="0">
                <a:solidFill>
                  <a:srgbClr val="8A99C4"/>
                </a:solidFill>
                <a:latin typeface="Segoe UI"/>
              </a:rPr>
              <a:t>Sumber: Repositori proyek, Final Project Data Science Batch 62.</a:t>
            </a:r>
          </a:p>
        </p:txBody>
      </p:sp>
      <p:sp>
        <p:nvSpPr>
          <p:cNvPr id="48" name="TextBox 47"/>
          <p:cNvSpPr txBox="1"/>
          <p:nvPr/>
        </p:nvSpPr>
        <p:spPr>
          <a:xfrm>
            <a:off x="16367760" y="9692640"/>
            <a:ext cx="1097280" cy="274320"/>
          </a:xfrm>
          <a:prstGeom prst="rect">
            <a:avLst/>
          </a:prstGeom>
          <a:noFill/>
        </p:spPr>
        <p:txBody>
          <a:bodyPr wrap="square" lIns="0" tIns="0" rIns="0" bIns="0" anchor="t">
            <a:spAutoFit/>
          </a:bodyPr>
          <a:lstStyle/>
          <a:p>
            <a:pPr algn="r">
              <a:lnSpc>
                <a:spcPct val="118000"/>
              </a:lnSpc>
            </a:pPr>
            <a:r>
              <a:rPr sz="1200" b="1" i="0">
                <a:solidFill>
                  <a:srgbClr val="8A99C4"/>
                </a:solidFill>
                <a:latin typeface="Segoe U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3C5FD"/>
      </a:hlink>
      <a:folHlink>
        <a:srgbClr val="93C5F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4560</Words>
  <Application>Microsoft Office PowerPoint</Application>
  <PresentationFormat>Custom</PresentationFormat>
  <Paragraphs>571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Gasa Gradianto</cp:lastModifiedBy>
  <cp:revision>2</cp:revision>
  <dcterms:created xsi:type="dcterms:W3CDTF">2013-01-27T09:14:16Z</dcterms:created>
  <dcterms:modified xsi:type="dcterms:W3CDTF">2026-09-10T16:36:17Z</dcterms:modified>
  <cp:category/>
</cp:coreProperties>
</file>